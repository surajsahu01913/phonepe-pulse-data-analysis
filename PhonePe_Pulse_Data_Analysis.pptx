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4.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5.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6.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7.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D91"/>
                </a:solidFill>
                <a:latin typeface="Arial"/>
              </a:defRPr>
            </a:pPr>
            <a:r>
              <a:rPr sz="1300" b="0" i="0" u="none" strike="noStrike">
                <a:solidFill>
                  <a:srgbClr val="0B3D91"/>
                </a:solidFill>
                <a:latin typeface="Arial"/>
              </a:rPr>
              <a:t>App Opens by Region</a:t>
            </a:r>
          </a:p>
        </c:rich>
      </c:tx>
      <c:layout/>
      <c:overlay val="0"/>
    </c:title>
    <c:autoTitleDeleted val="0"/>
    <c:plotArea>
      <c:layout/>
      <c:barChart>
        <c:barDir val="bar"/>
        <c:grouping val="clustered"/>
        <c:varyColors val="0"/>
        <c:ser>
          <c:idx val="0"/>
          <c:order val="0"/>
          <c:tx>
            <c:strRef>
              <c:f>Sheet1!$B$1</c:f>
              <c:strCache>
                <c:ptCount val="1"/>
                <c:pt idx="0">
                  <c:v>App Opens</c:v>
                </c:pt>
              </c:strCache>
            </c:strRef>
          </c:tx>
          <c:spPr>
            <a:solidFill>
              <a:srgbClr val="0B3D9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Southern</c:v>
                  </c:pt>
                  <c:pt idx="1">
                    <c:v>Western</c:v>
                  </c:pt>
                  <c:pt idx="2">
                    <c:v>Central</c:v>
                  </c:pt>
                  <c:pt idx="3">
                    <c:v>Eastern</c:v>
                  </c:pt>
                  <c:pt idx="4">
                    <c:v>Northern</c:v>
                  </c:pt>
                  <c:pt idx="5">
                    <c:v>North-East</c:v>
                  </c:pt>
                </c:lvl>
              </c:multiLvlStrCache>
            </c:multiLvlStrRef>
          </c:cat>
          <c:val>
            <c:numRef>
              <c:f>Sheet1!$B$2:$B$7</c:f>
              <c:numCache>
                <c:formatCode>General</c:formatCode>
                <c:ptCount val="6"/>
                <c:pt idx="0">
                  <c:v>18446186244750</c:v>
                </c:pt>
                <c:pt idx="1">
                  <c:v>13223916156110</c:v>
                </c:pt>
                <c:pt idx="2">
                  <c:v>8149575863000</c:v>
                </c:pt>
                <c:pt idx="3">
                  <c:v>6472443369150</c:v>
                </c:pt>
                <c:pt idx="4">
                  <c:v>3793193886515</c:v>
                </c:pt>
                <c:pt idx="5">
                  <c:v>739850529000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0,,&quot;B&quot;"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D91"/>
                </a:solidFill>
                <a:latin typeface="Arial"/>
              </a:defRPr>
            </a:pPr>
            <a:r>
              <a:rPr sz="1300" b="0" i="0" u="none" strike="noStrike">
                <a:solidFill>
                  <a:srgbClr val="0B3D91"/>
                </a:solidFill>
                <a:latin typeface="Arial"/>
              </a:rPr>
              <a:t>Registered Users Share by Region</a:t>
            </a:r>
          </a:p>
        </c:rich>
      </c:tx>
      <c:layout/>
      <c:overlay val="0"/>
    </c:title>
    <c:autoTitleDeleted val="0"/>
    <c:plotArea>
      <c:layout/>
      <c:doughnutChart>
        <c:varyColors val="1"/>
        <c:ser>
          <c:idx val="0"/>
          <c:order val="0"/>
          <c:tx>
            <c:strRef>
              <c:f>Sheet1!$B$1</c:f>
              <c:strCache>
                <c:ptCount val="1"/>
                <c:pt idx="0">
                  <c:v>Registered Users</c:v>
                </c:pt>
              </c:strCache>
            </c:strRef>
          </c:tx>
          <c:spPr>
            <a:solidFill>
              <a:schemeClr val="accent1"/>
            </a:solidFill>
            <a:ln w="9525" cap="flat">
              <a:solidFill>
                <a:srgbClr val="F9F9F9"/>
              </a:solidFill>
              <a:prstDash val="solid"/>
              <a:round/>
            </a:ln>
            <a:effectLst/>
          </c:spPr>
          <c:dPt>
            <c:idx val="0"/>
            <c:bubble3D val="0"/>
            <c:spPr>
              <a:solidFill>
                <a:srgbClr val="0B3D91"/>
              </a:solidFill>
              <a:effectLst/>
            </c:spPr>
          </c:dPt>
          <c:dPt>
            <c:idx val="1"/>
            <c:bubble3D val="0"/>
            <c:spPr>
              <a:solidFill>
                <a:srgbClr val="1859C4"/>
              </a:solidFill>
              <a:effectLst/>
            </c:spPr>
          </c:dPt>
          <c:dPt>
            <c:idx val="2"/>
            <c:bubble3D val="0"/>
            <c:spPr>
              <a:solidFill>
                <a:srgbClr val="00B4D8"/>
              </a:solidFill>
              <a:effectLst/>
            </c:spPr>
          </c:dPt>
          <c:dPt>
            <c:idx val="3"/>
            <c:bubble3D val="0"/>
            <c:spPr>
              <a:solidFill>
                <a:srgbClr val="6FA8DC"/>
              </a:solidFill>
              <a:effectLst/>
            </c:spPr>
          </c:dPt>
          <c:dPt>
            <c:idx val="4"/>
            <c:bubble3D val="0"/>
            <c:spPr>
              <a:solidFill>
                <a:srgbClr val="A9C4E8"/>
              </a:solidFill>
              <a:effectLst/>
            </c:spPr>
          </c:dPt>
          <c:dPt>
            <c:idx val="5"/>
            <c:bubble3D val="0"/>
            <c:spPr>
              <a:solidFill>
                <a:srgbClr val="D6E3F5"/>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Southern</c:v>
                </c:pt>
                <c:pt idx="1">
                  <c:v>Western</c:v>
                </c:pt>
                <c:pt idx="2">
                  <c:v>Central</c:v>
                </c:pt>
                <c:pt idx="3">
                  <c:v>Eastern</c:v>
                </c:pt>
                <c:pt idx="4">
                  <c:v>Northern</c:v>
                </c:pt>
                <c:pt idx="5">
                  <c:v>North-East</c:v>
                </c:pt>
              </c:strCache>
            </c:strRef>
          </c:cat>
          <c:val>
            <c:numRef>
              <c:f>Sheet1!$B$2:$B$7</c:f>
              <c:numCache>
                <c:ptCount val="6"/>
                <c:pt idx="0">
                  <c:v>555820840278</c:v>
                </c:pt>
                <c:pt idx="1">
                  <c:v>468577325755</c:v>
                </c:pt>
                <c:pt idx="2">
                  <c:v>324922946150</c:v>
                </c:pt>
                <c:pt idx="3">
                  <c:v>304914204650</c:v>
                </c:pt>
                <c:pt idx="4">
                  <c:v>217713152195</c:v>
                </c:pt>
                <c:pt idx="5">
                  <c:v>31003370750</c:v>
                </c:pt>
              </c:numCache>
            </c:numRef>
          </c:val>
        </c:ser>
        <c:firstSliceAng val="0"/>
        <c:holeSize val="50"/>
      </c:doughnutChart>
      <c:spPr>
        <a:noFill/>
        <a:ln>
          <a:noFill/>
        </a:ln>
        <a:effectLst/>
      </c:spPr>
    </c:plotArea>
    <c:legend>
      <c:legendPos val="b"/>
      <c:overlay val="0"/>
      <c:txPr>
        <a:bodyPr/>
        <a:lstStyle/>
        <a:p>
          <a:pPr>
            <a:defRPr sz="1100">
              <a:solidFill>
                <a:srgbClr val="42506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Transaction Amount (₹ Quadrillion)</c:v>
                </c:pt>
              </c:strCache>
            </c:strRef>
          </c:tx>
          <c:spPr>
            <a:solidFill>
              <a:srgbClr val="0B3D91"/>
            </a:solidFill>
            <a:effectLst/>
          </c:spPr>
          <c:invertIfNegative val="0"/>
          <c:dLbls>
            <c:numFmt formatCode="#,##0" sourceLinked="0"/>
            <c:txPr>
              <a:bodyPr/>
              <a:lstStyle/>
              <a:p>
                <a:pPr>
                  <a:defRPr b="0" i="0" strike="noStrike" sz="1200" u="none">
                    <a:solidFill>
                      <a:srgbClr val="0B3D91"/>
                    </a:solidFill>
                    <a:latin typeface="Arial"/>
                  </a:defRPr>
                </a:pPr>
              </a:p>
            </c:txPr>
            <c:showLegendKey val="0"/>
            <c:showVal val="1"/>
            <c:showCatName val="0"/>
            <c:showSerName val="0"/>
            <c:showPercent val="0"/>
            <c:showBubbleSize val="0"/>
            <c:showLeaderLines val="0"/>
          </c:dLbls>
          <c:cat>
            <c:multiLvlStrRef>
              <c:f>Sheet1!$A$2:$A$6</c:f>
              <c:multiLvlStrCache>
                <c:ptCount val="5"/>
                <c:lvl>
                  <c:pt idx="0">
                    <c:v>Uttar Pradesh</c:v>
                  </c:pt>
                  <c:pt idx="1">
                    <c:v>Maharashtra</c:v>
                  </c:pt>
                  <c:pt idx="2">
                    <c:v>Telangana</c:v>
                  </c:pt>
                  <c:pt idx="3">
                    <c:v>Karnataka</c:v>
                  </c:pt>
                  <c:pt idx="4">
                    <c:v>Madhya Pradesh</c:v>
                  </c:pt>
                </c:lvl>
              </c:multiLvlStrCache>
            </c:multiLvlStrRef>
          </c:cat>
          <c:val>
            <c:numRef>
              <c:f>Sheet1!$B$2:$B$6</c:f>
              <c:numCache>
                <c:formatCode>General</c:formatCode>
                <c:ptCount val="5"/>
                <c:pt idx="0">
                  <c:v>38.06</c:v>
                </c:pt>
                <c:pt idx="1">
                  <c:v>34.08</c:v>
                </c:pt>
                <c:pt idx="2">
                  <c:v>32.26</c:v>
                </c:pt>
                <c:pt idx="3">
                  <c:v>27.84</c:v>
                </c:pt>
                <c:pt idx="4">
                  <c:v>21.87</c:v>
                </c:pt>
              </c:numCache>
            </c:numRef>
          </c:val>
        </c:ser>
        <c:dLbls>
          <c:numFmt formatCode="#,##0" sourceLinked="0"/>
          <c:txPr>
            <a:bodyPr/>
            <a:lstStyle/>
            <a:p>
              <a:pPr>
                <a:defRPr b="0" i="0" strike="noStrike" sz="1200" u="none">
                  <a:solidFill>
                    <a:srgbClr val="0B3D9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Transaction Amount (₹ Trillion)</c:v>
                </c:pt>
              </c:strCache>
            </c:strRef>
          </c:tx>
          <c:spPr>
            <a:solidFill>
              <a:schemeClr val="accent1"/>
            </a:solidFill>
            <a:ln w="9525" cap="flat">
              <a:solidFill>
                <a:srgbClr val="F9F9F9"/>
              </a:solidFill>
              <a:prstDash val="solid"/>
              <a:round/>
            </a:ln>
            <a:effectLst/>
          </c:spPr>
          <c:dPt>
            <c:idx val="0"/>
            <c:bubble3D val="0"/>
            <c:spPr>
              <a:solidFill>
                <a:srgbClr val="0B3D91"/>
              </a:solidFill>
              <a:effectLst/>
            </c:spPr>
          </c:dPt>
          <c:dPt>
            <c:idx val="1"/>
            <c:bubble3D val="0"/>
            <c:spPr>
              <a:solidFill>
                <a:srgbClr val="1859C4"/>
              </a:solidFill>
              <a:effectLst/>
            </c:spPr>
          </c:dPt>
          <c:dPt>
            <c:idx val="2"/>
            <c:bubble3D val="0"/>
            <c:spPr>
              <a:solidFill>
                <a:srgbClr val="00B4D8"/>
              </a:solidFill>
              <a:effectLst/>
            </c:spPr>
          </c:dPt>
          <c:dPt>
            <c:idx val="3"/>
            <c:bubble3D val="0"/>
            <c:spPr>
              <a:solidFill>
                <a:srgbClr val="A9C4E8"/>
              </a:solidFill>
              <a:effectLst/>
            </c:spPr>
          </c:dPt>
          <c:dPt>
            <c:idx val="4"/>
            <c:bubble3D val="0"/>
            <c:spPr>
              <a:solidFill>
                <a:srgbClr val="D6E3F5"/>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Peer-to-Peer</c:v>
                </c:pt>
                <c:pt idx="1">
                  <c:v>Merchant Payments</c:v>
                </c:pt>
                <c:pt idx="2">
                  <c:v>Recharge &amp; Bills</c:v>
                </c:pt>
                <c:pt idx="3">
                  <c:v>Others</c:v>
                </c:pt>
                <c:pt idx="4">
                  <c:v>Financial Services</c:v>
                </c:pt>
              </c:strCache>
            </c:strRef>
          </c:cat>
          <c:val>
            <c:numRef>
              <c:f>Sheet1!$B$2:$B$6</c:f>
              <c:numCache>
                <c:ptCount val="5"/>
                <c:pt idx="0">
                  <c:v>205.3</c:v>
                </c:pt>
                <c:pt idx="1">
                  <c:v>34.7</c:v>
                </c:pt>
                <c:pt idx="2">
                  <c:v>10.65</c:v>
                </c:pt>
                <c:pt idx="3">
                  <c:v>0.34</c:v>
                </c:pt>
                <c:pt idx="4">
                  <c:v>0.13</c:v>
                </c:pt>
              </c:numCache>
            </c:numRef>
          </c:val>
        </c:ser>
        <c:firstSliceAng val="0"/>
      </c:pieChart>
      <c:spPr>
        <a:noFill/>
        <a:ln>
          <a:noFill/>
        </a:ln>
        <a:effectLst/>
      </c:spPr>
    </c:plotArea>
    <c:legend>
      <c:legendPos val="b"/>
      <c:overlay val="0"/>
      <c:txPr>
        <a:bodyPr/>
        <a:lstStyle/>
        <a:p>
          <a:pPr>
            <a:defRPr sz="1050">
              <a:solidFill>
                <a:srgbClr val="42506B"/>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App Opens (₹ Trillion)</c:v>
                </c:pt>
              </c:strCache>
            </c:strRef>
          </c:tx>
          <c:spPr>
            <a:solidFill>
              <a:srgbClr val="1859C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Southern</c:v>
                  </c:pt>
                  <c:pt idx="1">
                    <c:v>Western</c:v>
                  </c:pt>
                  <c:pt idx="2">
                    <c:v>Central</c:v>
                  </c:pt>
                  <c:pt idx="3">
                    <c:v>Eastern</c:v>
                  </c:pt>
                  <c:pt idx="4">
                    <c:v>Northern</c:v>
                  </c:pt>
                  <c:pt idx="5">
                    <c:v>North-East</c:v>
                  </c:pt>
                </c:lvl>
              </c:multiLvlStrCache>
            </c:multiLvlStrRef>
          </c:cat>
          <c:val>
            <c:numRef>
              <c:f>Sheet1!$B$2:$B$7</c:f>
              <c:numCache>
                <c:formatCode>General</c:formatCode>
                <c:ptCount val="6"/>
                <c:pt idx="0">
                  <c:v>18.45</c:v>
                </c:pt>
                <c:pt idx="1">
                  <c:v>13.22</c:v>
                </c:pt>
                <c:pt idx="2">
                  <c:v>8.15</c:v>
                </c:pt>
                <c:pt idx="3">
                  <c:v>6.47</c:v>
                </c:pt>
                <c:pt idx="4">
                  <c:v>3.79</c:v>
                </c:pt>
                <c:pt idx="5">
                  <c:v>0.74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Total (%)</c:v>
                </c:pt>
              </c:strCache>
            </c:strRef>
          </c:tx>
          <c:spPr>
            <a:solidFill>
              <a:srgbClr val="0B3D91"/>
            </a:solidFill>
            <a:effectLst/>
          </c:spPr>
          <c:invertIfNegative val="0"/>
          <c:dLbls>
            <c:numFmt formatCode="#,##0" sourceLinked="0"/>
            <c:txPr>
              <a:bodyPr/>
              <a:lstStyle/>
              <a:p>
                <a:pPr>
                  <a:defRPr b="0" i="0" strike="noStrike" sz="900" u="none">
                    <a:solidFill>
                      <a:srgbClr val="0B3D91"/>
                    </a:solidFill>
                    <a:latin typeface="Arial"/>
                  </a:defRPr>
                </a:pPr>
              </a:p>
            </c:txPr>
            <c:showLegendKey val="0"/>
            <c:showVal val="1"/>
            <c:showCatName val="0"/>
            <c:showSerName val="0"/>
            <c:showPercent val="0"/>
            <c:showBubbleSize val="0"/>
            <c:showLeaderLines val="0"/>
          </c:dLbls>
          <c:cat>
            <c:multiLvlStrRef>
              <c:f>Sheet1!$A$2:$A$11</c:f>
              <c:multiLvlStrCache>
                <c:ptCount val="10"/>
                <c:lvl>
                  <c:pt idx="0">
                    <c:v>Uttar Pradesh</c:v>
                  </c:pt>
                  <c:pt idx="1">
                    <c:v>Maharashtra</c:v>
                  </c:pt>
                  <c:pt idx="2">
                    <c:v>Telangana</c:v>
                  </c:pt>
                  <c:pt idx="3">
                    <c:v>Karnataka</c:v>
                  </c:pt>
                  <c:pt idx="4">
                    <c:v>Madhya Pradesh</c:v>
                  </c:pt>
                  <c:pt idx="5">
                    <c:v>Rajasthan</c:v>
                  </c:pt>
                  <c:pt idx="6">
                    <c:v>Bihar</c:v>
                  </c:pt>
                  <c:pt idx="7">
                    <c:v>Tamil Nadu</c:v>
                  </c:pt>
                  <c:pt idx="8">
                    <c:v>Andhra Pradesh</c:v>
                  </c:pt>
                  <c:pt idx="9">
                    <c:v>Odisha</c:v>
                  </c:pt>
                </c:lvl>
              </c:multiLvlStrCache>
            </c:multiLvlStrRef>
          </c:cat>
          <c:val>
            <c:numRef>
              <c:f>Sheet1!$B$2:$B$11</c:f>
              <c:numCache>
                <c:formatCode>General</c:formatCode>
                <c:ptCount val="10"/>
                <c:pt idx="0">
                  <c:v>15.16</c:v>
                </c:pt>
                <c:pt idx="1">
                  <c:v>13.57</c:v>
                </c:pt>
                <c:pt idx="2">
                  <c:v>12.85</c:v>
                </c:pt>
                <c:pt idx="3">
                  <c:v>11.09</c:v>
                </c:pt>
                <c:pt idx="4">
                  <c:v>8.71</c:v>
                </c:pt>
                <c:pt idx="5">
                  <c:v>7.61</c:v>
                </c:pt>
                <c:pt idx="6">
                  <c:v>5.27</c:v>
                </c:pt>
                <c:pt idx="7">
                  <c:v>4.54</c:v>
                </c:pt>
                <c:pt idx="8">
                  <c:v>4.15</c:v>
                </c:pt>
                <c:pt idx="9">
                  <c:v>3.1</c:v>
                </c:pt>
              </c:numCache>
            </c:numRef>
          </c:val>
        </c:ser>
        <c:dLbls>
          <c:numFmt formatCode="#,##0" sourceLinked="0"/>
          <c:txPr>
            <a:bodyPr/>
            <a:lstStyle/>
            <a:p>
              <a:pPr>
                <a:defRPr b="0" i="0" strike="noStrike" sz="900" u="none">
                  <a:solidFill>
                    <a:srgbClr val="0B3D9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6B7A99"/>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YoY Growth (%)</c:v>
                </c:pt>
              </c:strCache>
            </c:strRef>
          </c:tx>
          <c:spPr>
            <a:solidFill>
              <a:srgbClr val="1859C4"/>
            </a:solidFill>
            <a:effectLst/>
          </c:spPr>
          <c:invertIfNegative val="0"/>
          <c:dLbls>
            <c:numFmt formatCode="#,##0" sourceLinked="0"/>
            <c:txPr>
              <a:bodyPr/>
              <a:lstStyle/>
              <a:p>
                <a:pPr>
                  <a:defRPr b="0" i="0" strike="noStrike" sz="1200" u="none">
                    <a:solidFill>
                      <a:srgbClr val="0B3D91"/>
                    </a:solidFill>
                    <a:latin typeface="Arial"/>
                  </a:defRPr>
                </a:pPr>
              </a:p>
            </c:txPr>
            <c:showLegendKey val="0"/>
            <c:showVal val="1"/>
            <c:showCatName val="0"/>
            <c:showSerName val="0"/>
            <c:showPercent val="0"/>
            <c:showBubbleSize val="0"/>
            <c:showLeaderLines val="0"/>
          </c:dLbls>
          <c:cat>
            <c:multiLvlStrRef>
              <c:f>Sheet1!$A$2:$A$5</c:f>
              <c:multiLvlStrCache>
                <c:ptCount val="4"/>
                <c:lvl>
                  <c:pt idx="0">
                    <c:v>2019</c:v>
                  </c:pt>
                  <c:pt idx="1">
                    <c:v>2020</c:v>
                  </c:pt>
                  <c:pt idx="2">
                    <c:v>2021</c:v>
                  </c:pt>
                  <c:pt idx="3">
                    <c:v>2022</c:v>
                  </c:pt>
                </c:lvl>
              </c:multiLvlStrCache>
            </c:multiLvlStrRef>
          </c:cat>
          <c:val>
            <c:numRef>
              <c:f>Sheet1!$B$2:$B$5</c:f>
              <c:numCache>
                <c:formatCode>General</c:formatCode>
                <c:ptCount val="4"/>
                <c:pt idx="0">
                  <c:v>283.26</c:v>
                </c:pt>
                <c:pt idx="1">
                  <c:v>132.03</c:v>
                </c:pt>
                <c:pt idx="2">
                  <c:v>138.56</c:v>
                </c:pt>
                <c:pt idx="3">
                  <c:v>-61.37</c:v>
                </c:pt>
              </c:numCache>
            </c:numRef>
          </c:val>
        </c:ser>
        <c:dLbls>
          <c:numFmt formatCode="#,##0" sourceLinked="0"/>
          <c:txPr>
            <a:bodyPr/>
            <a:lstStyle/>
            <a:p>
              <a:pPr>
                <a:defRPr b="0" i="0" strike="noStrike" sz="1200" u="none">
                  <a:solidFill>
                    <a:srgbClr val="0B3D9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project as an end-to-end Python data analytics project built on the official PhonePe Pulse dataset, covering transactions, users, and insurance data across India from 2018 to 2022. Mention this presentation summarizes the full Jupyter Notebook analysis for submission and portfolio purposes.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payments have transformed India's financial landscape by making transactions faster, safer, and more accessible. The PhonePe Pulse dataset provides comprehensive information on transactions, registered users, insurance, mobile brands, districts, and pincodes across India. This project analyzes that dataset to identify payment trends, customer behavior, regional performance, and yearly growth using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two layers of objectives: technical goals (analyzing transactions, trends, users) and business objectives (mobile brand popularity, insurance comparison, high-performing pincodes) that translate the analysis into actionable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spans 2018 to 2022 across 36 states/UTs and 727 districts, organized into seven categories: aggregate transaction, aggregate user, aggregate insurance, map transaction, map user, top transaction, and top user data. Ten key features were used for analysis, including state, district, pincode, transaction amount and count, registered users, app opens, and mobile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Python as the core language with Pandas and NumPy for data manipulation, Matplotlib for static charts, Plotly for interactive visuals, and Squarify for treemap plots — all developed inside Jupyter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follows a structured seven-step workflow: collecting the raw PhonePe Pulse CSV files, cleaning the data, preprocessing and merging datasets, performing exploratory data analysis, building visualizations, extracting business insights, and concluding with a summary of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cleaning began by checking for missing values — found in the Brand, Transaction_count_user and Percentage columns — which were removed using dropna(), reducing the dataset from about 6.94 million to 6.83 million clean rows across 16 columns. No duplicate rows were found. Transaction Amount was converted from a formatted string to a numeric type. Seven separate PhonePe Pulse CSV files were merged step by step into a single unified dataframe called 'phonepe' using common keys such as State, Year, Quarter, and District.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in this project spans six major areas: transaction analysis, user analysis, mobile brand analysis, district analysis, pincode analysis, and region analysis. Each area uses grouping and visualization to surface patterns behind India's digital payment activity. The next several slides walk through each analysis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transaction amount by state shows Uttar Pradesh at the top, followed by Maharashtra, Telangana, Karnataka, and Madhya Pradesh. This bar chart visualizes total transaction amount across all states, highlighting the sharp concentration of activity in the top-performing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top 20 districts ranked by registered users. Bengaluru Urban tops the list at roughly 69.3 billion, ahead of Pune (44.4B), Jaipur (28.0B), Thane (27.1B), and Mumbai Suburban (26.7B) — confirming that urban tech and metro districts drive the platform's user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percentage share by brand shows Xiaomi leading at 26.25%, followed by Samsung at 19.14%, Vivo at 16.85%, Oppo at 11.71%, and Others at 9.26%. This confirms that affordable Android smartphones are the primary devices used to access PhonePe.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heatmap plots app opens by state (rows) and year (columns), excluding 2018 for cleaner comparison. Maharashtra, Karnataka, and Andhra Pradesh show consistently high engagement, and most states show a rising trend year after year, indicating growing user stickiness.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app opens by region shows the Southern Region on top with about 18.45 trillion opens, followed by the Western Region (13.22 trillion), Central Region (8.15 trillion), Eastern Region (6.47 trillion), Northern Region (3.79 trillion), and the North-Eastern Region lowest at 740 billion.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pie chart of transaction count by type shows peer-to-peer payments and merchant payments as the two largest categories, consistent with the transaction-amount breakdown: peer-to-peer payments led with about 205.3 trillion, merchant payments at 34.7 trillion, recharge &amp; bill payments at 10.7 trillion, and financial services / others much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boxplot of transaction amount reveals a right-skewed distribution: the bulk of transactions are modest in value, while a handful of very large transactions form outliers stretching the axis, with the average transaction amount at about 36.7 billion and a maximum of roughly 1.37 trillion.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interactive Plotly treemap was built in the notebook to visualize registered users by region, sized and colored by user count. Southern Region leads at approximately 555.8 billion registered users, followed by Western Region (468.6B), Central Region (324.9B), Eastern Region (304.9B), Northern Region (217.7B), and North-Eastern Region (31.0B). This slide recreates that proportion as a donut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10 states by registered users are led by Maharashtra (248.6B), Uttar Pradesh (195.8B), Karnataka (160.3B), Andhra Pradesh (124.0B), Rajasthan (118.6B), Telangana (116.5B), West Bengal (113.4B), Tamil Nadu (106.5B), Gujarat (99.4B) and Madhya Pradesh (99.4B).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transaction amount by year: 2018 (5.82 trillion), 2019 (22.31 trillion), 2020 (51.77 trillion), 2021 (123.49 trillion — the peak), and 2022 (47.71 trillion, but this reflects only Q1 data in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combined bar-and-line chart shows quarterly transaction amount for each year from 2018 to 2022. Every year follows the same pattern: transaction amount increases from Q1 to Q4, with Q4 being the strongest quarter, and the year-over-year gap widening, reflecting the platform's expanding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Year-over-year percentage growth in transaction amount: 2019 saw the highest growth at 283.3%, followed by 132.0% in 2020 and 138.6% in 2021. The apparent -61.4% figure for 2022 is a data artifact caused by comparing a full year (2021) against only one quarter of data for 2022, not a genuine decline.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phonepe.groupby('State')['Transaction_amount'].sum().sort_values(ascending=False) shows Uttar Pradesh on top, followed by Maharashtra, Telangana, Karnataka, and Madhya Pradesh.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phonepe.groupby('District')['Registered_users'].sum().sort_values(ascending=False).head(10) places Bengaluru Urban first, ahead of Pune, Jaipur, Thane, and Mumbai Suburban.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phonepe.groupby('Transaction_type')['Transaction_amount'].sum().sort_values(ascending=False) — peer-to-peer payments lead, followed by merchant payments, recharge &amp; bill payments, others, and financial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phonepe.groupby('Region')['App_opens'].sum().sort_values(ascending=False) confirms the Southern Region leads, followed by Western, Central, Eastern, Northern, and North-Eastern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 phonepe.groupby(['Year','State'])['Registered_users'].sum().reset_index(); growth['Growth_%'] = growth.groupby('State')['Registered_users'].pct_change()*100 — Nagaland, Arunachal Pradesh, Meghalaya, and Mizoram show the highest percentage growth in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 phonepe[['Registered_users','App_opens']].corr() returns a correlation coefficient of approximately 0.803, indicating a strong positive relationship between the two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 (state/state.sum())*100 computed on state-wise transaction amount — Uttar Pradesh contributes 15.16%, Maharashtra 13.57%, Telangana 12.85%, Karnataka 11.09%, and Madhya Pradesh 8.71% of the national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phonepe.groupby('Brand')['Percentage'].mean() sorted in descending order shows Xiaomi leading at 26.25%, followed by Samsung, Vivo, Oppo, and the Others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phonepe.groupby(['State','Pincode'])['Registered_users'].sum().sort_values(ascending=False).head(20) shows Maharashtra pincodes 411033, 411057, and 411014 at the top, followed by Uttar Pradesh's NCR-region pincodes.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phonepe.groupby('State')['App_opens'].sum().idxmax() returns 'Maharashtra' as the state with the highest total app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phonepe.groupby('District')['Transaction_amount'].sum().sort_values(ascending=False).head() shows Aurangabad on top, followed by Pratapgarh, Jagtial, Hyderabad, and Adilabad — a different ranking than the registered-users leaderboard.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yearly.pct_change()*100 on transaction amount by year gives 283.26% (2019), 132.03% (2020), 138.56% (2021), and -61.37% (2022, partial-year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Summarizing the analysis: total transaction value grew from ₹5.8 trillion in 2018 to a peak of ₹123.5 trillion in 2021. Uttar Pradesh is the top state by transaction amount, while Bengaluru Urban leads all districts in registered users. Xiaomi is the most popular device brand at 26.25% average share. Registered users and app opens are strongly correlated at 0.80. The Southern Region leads India in both engagement and registrations, and Q4 is consistently the strongest quarter every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findings, six practical recommendations emerge: prioritize the top transaction-generating states, invest early in fast-growing smaller states, optimize the app for leading device brands, plan campaigns around the consistent Q4 seasonal peak, target expansion in the under-served North-Eastern Region, and leverage the strong correlation between user registration and engagement when designing acquisition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successfully analyzed the PhonePe Pulse dataset using Python. The analysis demonstrates significant growth in digital payments across India and identifies the states, districts, and pincodes contributing the highest transaction volumes. It also demonstrates practical, portfolio-ready skills in Python, Pandas, NumPy, and data visualization.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can be enhanced further by developing an interactive Power BI dashboard, creating a Tableau dashboard, building a Streamlit web application, applying machine learning for transaction forecasting, integrating real-time data through APIs, and automating report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demonstrates a full range of practical data analytics skills: Python programming, Pandas and NumPy for data manipulation, data cleaning, data visualization, exploratory data analysis, business analytics, and problem solving — the core competencies expected of a working data analyst.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for reviewing the project. Reiterate that it demonstrates practical applications of Python in data analytics — including data preprocessing, exploratory data analysis, and business insight generation — using the PhonePe Pulse dataset, and invite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chart" Target="/ppt/charts/chart3.xml"/><Relationship Id="rId1" Type="http://schemas.openxmlformats.org/officeDocument/2006/relationships/image" Target="../media/image-21-1.png"/><Relationship Id="rId2" Type="http://schemas.openxmlformats.org/officeDocument/2006/relationships/image" Target="../media/image-21-2.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chart" Target="/ppt/charts/chart4.xml"/><Relationship Id="rId1" Type="http://schemas.openxmlformats.org/officeDocument/2006/relationships/image" Target="../media/image-23-1.png"/><Relationship Id="rId2" Type="http://schemas.openxmlformats.org/officeDocument/2006/relationships/image" Target="../media/image-23-2.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chart" Target="/ppt/charts/chart5.xml"/><Relationship Id="rId1" Type="http://schemas.openxmlformats.org/officeDocument/2006/relationships/image" Target="../media/image-24-1.png"/><Relationship Id="rId2" Type="http://schemas.openxmlformats.org/officeDocument/2006/relationships/image" Target="../media/image-24-2.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chart" Target="/ppt/charts/chart6.xml"/><Relationship Id="rId1" Type="http://schemas.openxmlformats.org/officeDocument/2006/relationships/image" Target="../media/image-27-1.png"/><Relationship Id="rId2" Type="http://schemas.openxmlformats.org/officeDocument/2006/relationships/image" Target="../media/image-27-2.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chart" Target="/ppt/charts/chart7.xml"/><Relationship Id="rId1" Type="http://schemas.openxmlformats.org/officeDocument/2006/relationships/image" Target="../media/image-32-1.png"/><Relationship Id="rId2" Type="http://schemas.openxmlformats.org/officeDocument/2006/relationships/image" Target="../media/image-32-2.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slideLayout" Target="../slideLayouts/slideLayout1.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91"/>
        </a:solidFill>
      </p:bgPr>
    </p:bg>
    <p:spTree>
      <p:nvGrpSpPr>
        <p:cNvPr id="1" name=""/>
        <p:cNvGrpSpPr/>
        <p:nvPr/>
      </p:nvGrpSpPr>
      <p:grpSpPr>
        <a:xfrm>
          <a:off x="0" y="0"/>
          <a:ext cx="0" cy="0"/>
          <a:chOff x="0" y="0"/>
          <a:chExt cx="0" cy="0"/>
        </a:xfrm>
      </p:grpSpPr>
      <p:sp>
        <p:nvSpPr>
          <p:cNvPr id="2" name="Shape 0"/>
          <p:cNvSpPr/>
          <p:nvPr/>
        </p:nvSpPr>
        <p:spPr>
          <a:xfrm>
            <a:off x="9692640" y="-1645920"/>
            <a:ext cx="4754880" cy="4754880"/>
          </a:xfrm>
          <a:prstGeom prst="ellipse">
            <a:avLst/>
          </a:prstGeom>
          <a:solidFill>
            <a:srgbClr val="1859C4">
              <a:alpha val="30000"/>
            </a:srgbClr>
          </a:solidFill>
          <a:ln/>
        </p:spPr>
      </p:sp>
      <p:sp>
        <p:nvSpPr>
          <p:cNvPr id="3" name="Shape 1"/>
          <p:cNvSpPr/>
          <p:nvPr/>
        </p:nvSpPr>
        <p:spPr>
          <a:xfrm>
            <a:off x="-1463040" y="4206240"/>
            <a:ext cx="4023360" cy="4023360"/>
          </a:xfrm>
          <a:prstGeom prst="ellipse">
            <a:avLst/>
          </a:prstGeom>
          <a:solidFill>
            <a:srgbClr val="00B4D8">
              <a:alpha val="18000"/>
            </a:srgbClr>
          </a:solidFill>
          <a:ln/>
        </p:spPr>
      </p:sp>
      <p:sp>
        <p:nvSpPr>
          <p:cNvPr id="4" name="Shape 2"/>
          <p:cNvSpPr/>
          <p:nvPr/>
        </p:nvSpPr>
        <p:spPr>
          <a:xfrm>
            <a:off x="822960" y="685800"/>
            <a:ext cx="777240" cy="777240"/>
          </a:xfrm>
          <a:prstGeom prst="ellipse">
            <a:avLst/>
          </a:prstGeom>
          <a:solidFill>
            <a:srgbClr val="1859C4"/>
          </a:solidFill>
          <a:ln/>
        </p:spPr>
      </p:sp>
      <p:pic>
        <p:nvPicPr>
          <p:cNvPr id="5" name="Image 0" descr="icons/mobile_w.png">    </p:cNvPr>
          <p:cNvPicPr>
            <a:picLocks noChangeAspect="1"/>
          </p:cNvPicPr>
          <p:nvPr/>
        </p:nvPicPr>
        <p:blipFill>
          <a:blip r:embed="rId1"/>
          <a:stretch>
            <a:fillRect/>
          </a:stretch>
        </p:blipFill>
        <p:spPr>
          <a:xfrm>
            <a:off x="1009498" y="872338"/>
            <a:ext cx="404165" cy="404165"/>
          </a:xfrm>
          <a:prstGeom prst="rect">
            <a:avLst/>
          </a:prstGeom>
        </p:spPr>
      </p:pic>
      <p:sp>
        <p:nvSpPr>
          <p:cNvPr id="6" name="Text 3"/>
          <p:cNvSpPr/>
          <p:nvPr/>
        </p:nvSpPr>
        <p:spPr>
          <a:xfrm>
            <a:off x="822960" y="2606040"/>
            <a:ext cx="9144000" cy="365760"/>
          </a:xfrm>
          <a:prstGeom prst="rect">
            <a:avLst/>
          </a:prstGeom>
          <a:noFill/>
          <a:ln/>
        </p:spPr>
        <p:txBody>
          <a:bodyPr wrap="square" lIns="0" tIns="0" rIns="0" bIns="0" rtlCol="0" anchor="ctr"/>
          <a:lstStyle/>
          <a:p>
            <a:pPr indent="0" marL="0">
              <a:buNone/>
            </a:pPr>
            <a:r>
              <a:rPr lang="en-US" sz="1500" b="1" spc="300" kern="0" dirty="0">
                <a:solidFill>
                  <a:srgbClr val="00B4D8"/>
                </a:solidFill>
                <a:latin typeface="Calibri" pitchFamily="34" charset="0"/>
                <a:ea typeface="Calibri" pitchFamily="34" charset="-122"/>
                <a:cs typeface="Calibri" pitchFamily="34" charset="-120"/>
              </a:rPr>
              <a:t>PYTHON DATA ANALYTICS PROJECT</a:t>
            </a:r>
            <a:endParaRPr lang="en-US" sz="1500" dirty="0"/>
          </a:p>
        </p:txBody>
      </p:sp>
      <p:sp>
        <p:nvSpPr>
          <p:cNvPr id="7" name="Text 4"/>
          <p:cNvSpPr/>
          <p:nvPr/>
        </p:nvSpPr>
        <p:spPr>
          <a:xfrm>
            <a:off x="777240" y="2971800"/>
            <a:ext cx="10515600" cy="13716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PhonePe Pulse Data Analysis</a:t>
            </a:r>
            <a:endParaRPr lang="en-US" sz="5200" dirty="0"/>
          </a:p>
        </p:txBody>
      </p:sp>
      <p:sp>
        <p:nvSpPr>
          <p:cNvPr id="8" name="Text 5"/>
          <p:cNvSpPr/>
          <p:nvPr/>
        </p:nvSpPr>
        <p:spPr>
          <a:xfrm>
            <a:off x="822960" y="4160520"/>
            <a:ext cx="9601200" cy="457200"/>
          </a:xfrm>
          <a:prstGeom prst="rect">
            <a:avLst/>
          </a:prstGeom>
          <a:noFill/>
          <a:ln/>
        </p:spPr>
        <p:txBody>
          <a:bodyPr wrap="square" lIns="0" tIns="0" rIns="0" bIns="0" rtlCol="0" anchor="ctr"/>
          <a:lstStyle/>
          <a:p>
            <a:pPr indent="0" marL="0">
              <a:buNone/>
            </a:pPr>
            <a:r>
              <a:rPr lang="en-US" sz="1600" i="1" dirty="0">
                <a:solidFill>
                  <a:srgbClr val="CBDCF5"/>
                </a:solidFill>
                <a:latin typeface="Calibri" pitchFamily="34" charset="0"/>
                <a:ea typeface="Calibri" pitchFamily="34" charset="-122"/>
                <a:cs typeface="Calibri" pitchFamily="34" charset="-120"/>
              </a:rPr>
              <a:t>Decoding India's Digital Payment Revolution Through Data</a:t>
            </a:r>
            <a:endParaRPr lang="en-US" sz="1600" dirty="0"/>
          </a:p>
        </p:txBody>
      </p:sp>
      <p:sp>
        <p:nvSpPr>
          <p:cNvPr id="9" name="Text 6"/>
          <p:cNvSpPr/>
          <p:nvPr/>
        </p:nvSpPr>
        <p:spPr>
          <a:xfrm>
            <a:off x="822960" y="5806440"/>
            <a:ext cx="5486400" cy="365760"/>
          </a:xfrm>
          <a:prstGeom prst="rect">
            <a:avLst/>
          </a:prstGeom>
          <a:noFill/>
          <a:ln/>
        </p:spPr>
        <p:txBody>
          <a:bodyPr wrap="square" lIns="0" tIns="0" rIns="0" bIns="0" rtlCol="0" anchor="ctr"/>
          <a:lstStyle/>
          <a:p>
            <a:pPr indent="0" marL="0">
              <a:buNone/>
            </a:pPr>
            <a:r>
              <a:rPr lang="en-US" sz="1300" dirty="0">
                <a:solidFill>
                  <a:srgbClr val="CBDCF5"/>
                </a:solidFill>
                <a:latin typeface="Calibri" pitchFamily="34" charset="0"/>
                <a:ea typeface="Calibri" pitchFamily="34" charset="-122"/>
                <a:cs typeface="Calibri" pitchFamily="34" charset="-120"/>
              </a:rPr>
              <a:t>Developed By  </a:t>
            </a:r>
            <a:pPr indent="0" marL="0">
              <a:buNone/>
            </a:pPr>
            <a:r>
              <a:rPr lang="en-US" sz="1500" b="1" dirty="0">
                <a:solidFill>
                  <a:srgbClr val="FFFFFF"/>
                </a:solidFill>
                <a:latin typeface="Calibri" pitchFamily="34" charset="0"/>
                <a:ea typeface="Calibri" pitchFamily="34" charset="-122"/>
                <a:cs typeface="Calibri" pitchFamily="34" charset="-120"/>
              </a:rPr>
              <a:t>Suraj Sahu</a:t>
            </a:r>
            <a:endParaRPr lang="en-US" sz="1300" dirty="0"/>
          </a:p>
        </p:txBody>
      </p:sp>
      <p:sp>
        <p:nvSpPr>
          <p:cNvPr id="10" name="Text 7"/>
          <p:cNvSpPr/>
          <p:nvPr/>
        </p:nvSpPr>
        <p:spPr>
          <a:xfrm>
            <a:off x="822960" y="6199632"/>
            <a:ext cx="8229600" cy="320040"/>
          </a:xfrm>
          <a:prstGeom prst="rect">
            <a:avLst/>
          </a:prstGeom>
          <a:noFill/>
          <a:ln/>
        </p:spPr>
        <p:txBody>
          <a:bodyPr wrap="square" lIns="0" tIns="0" rIns="0" bIns="0" rtlCol="0" anchor="ctr"/>
          <a:lstStyle/>
          <a:p>
            <a:pPr indent="0" marL="0">
              <a:buNone/>
            </a:pPr>
            <a:r>
              <a:rPr lang="en-US" sz="1100" dirty="0">
                <a:solidFill>
                  <a:srgbClr val="8FA3C7"/>
                </a:solidFill>
                <a:latin typeface="Calibri" pitchFamily="34" charset="0"/>
                <a:ea typeface="Calibri" pitchFamily="34" charset="-122"/>
                <a:cs typeface="Calibri" pitchFamily="34" charset="-120"/>
              </a:rPr>
              <a:t>Python  •  Pandas  •  NumPy  •  Matplotlib  •  Plotly  •  Squarify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THE BIG PICTURE</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Project Overview</a:t>
            </a:r>
            <a:endParaRPr lang="en-US" sz="3000" dirty="0"/>
          </a:p>
        </p:txBody>
      </p:sp>
      <p:sp>
        <p:nvSpPr>
          <p:cNvPr id="4" name="Shape 2"/>
          <p:cNvSpPr/>
          <p:nvPr/>
        </p:nvSpPr>
        <p:spPr>
          <a:xfrm>
            <a:off x="548640" y="1554480"/>
            <a:ext cx="3483864" cy="4480560"/>
          </a:xfrm>
          <a:prstGeom prst="roundRect">
            <a:avLst>
              <a:gd name="adj" fmla="val 2100"/>
            </a:avLst>
          </a:prstGeom>
          <a:solidFill>
            <a:srgbClr val="F4F8FE"/>
          </a:solidFill>
          <a:ln/>
          <a:effectLst>
            <a:outerShdw sx="100000" sy="100000" kx="0" ky="0" algn="bl" rotWithShape="0" blurRad="88900" dist="25400" dir="5400000">
              <a:srgbClr val="1B2A4A">
                <a:alpha val="10000"/>
              </a:srgbClr>
            </a:outerShdw>
          </a:effectLst>
        </p:spPr>
      </p:sp>
      <p:sp>
        <p:nvSpPr>
          <p:cNvPr id="5" name="Shape 3"/>
          <p:cNvSpPr/>
          <p:nvPr/>
        </p:nvSpPr>
        <p:spPr>
          <a:xfrm>
            <a:off x="1947672" y="1920240"/>
            <a:ext cx="685800" cy="685800"/>
          </a:xfrm>
          <a:prstGeom prst="ellipse">
            <a:avLst/>
          </a:prstGeom>
          <a:solidFill>
            <a:srgbClr val="0B3D91"/>
          </a:solidFill>
          <a:ln/>
        </p:spPr>
      </p:sp>
      <p:pic>
        <p:nvPicPr>
          <p:cNvPr id="6" name="Image 0" descr="icons/lightbulb_w.png">    </p:cNvPr>
          <p:cNvPicPr>
            <a:picLocks noChangeAspect="1"/>
          </p:cNvPicPr>
          <p:nvPr/>
        </p:nvPicPr>
        <p:blipFill>
          <a:blip r:embed="rId1"/>
          <a:stretch>
            <a:fillRect/>
          </a:stretch>
        </p:blipFill>
        <p:spPr>
          <a:xfrm>
            <a:off x="2112264" y="2084832"/>
            <a:ext cx="356616" cy="356616"/>
          </a:xfrm>
          <a:prstGeom prst="rect">
            <a:avLst/>
          </a:prstGeom>
        </p:spPr>
      </p:pic>
      <p:sp>
        <p:nvSpPr>
          <p:cNvPr id="7" name="Text 4"/>
          <p:cNvSpPr/>
          <p:nvPr/>
        </p:nvSpPr>
        <p:spPr>
          <a:xfrm>
            <a:off x="731520" y="2788920"/>
            <a:ext cx="3118104" cy="457200"/>
          </a:xfrm>
          <a:prstGeom prst="rect">
            <a:avLst/>
          </a:prstGeom>
          <a:noFill/>
          <a:ln/>
        </p:spPr>
        <p:txBody>
          <a:bodyPr wrap="square" lIns="0" tIns="0" rIns="0" bIns="0" rtlCol="0" anchor="ctr"/>
          <a:lstStyle/>
          <a:p>
            <a:pPr algn="ctr" indent="0" marL="0">
              <a:buNone/>
            </a:pPr>
            <a:r>
              <a:rPr lang="en-US" sz="1600" b="1" dirty="0">
                <a:solidFill>
                  <a:srgbClr val="0B3D91"/>
                </a:solidFill>
                <a:latin typeface="Cambria" pitchFamily="34" charset="0"/>
                <a:ea typeface="Cambria" pitchFamily="34" charset="-122"/>
                <a:cs typeface="Cambria" pitchFamily="34" charset="-120"/>
              </a:rPr>
              <a:t>Introduction</a:t>
            </a:r>
            <a:endParaRPr lang="en-US" sz="1600" dirty="0"/>
          </a:p>
        </p:txBody>
      </p:sp>
      <p:sp>
        <p:nvSpPr>
          <p:cNvPr id="8" name="Text 5"/>
          <p:cNvSpPr/>
          <p:nvPr/>
        </p:nvSpPr>
        <p:spPr>
          <a:xfrm>
            <a:off x="868680" y="3337560"/>
            <a:ext cx="2843784" cy="2468880"/>
          </a:xfrm>
          <a:prstGeom prst="rect">
            <a:avLst/>
          </a:prstGeom>
          <a:noFill/>
          <a:ln/>
        </p:spPr>
        <p:txBody>
          <a:bodyPr wrap="square" lIns="0" tIns="0" rIns="0" bIns="0" rtlCol="0" anchor="t"/>
          <a:lstStyle/>
          <a:p>
            <a:pPr algn="ctr" indent="0" marL="0">
              <a:buNone/>
            </a:pPr>
            <a:r>
              <a:rPr lang="en-US" sz="1200" dirty="0">
                <a:solidFill>
                  <a:srgbClr val="42506B"/>
                </a:solidFill>
                <a:latin typeface="Calibri" pitchFamily="34" charset="0"/>
                <a:ea typeface="Calibri" pitchFamily="34" charset="-122"/>
                <a:cs typeface="Calibri" pitchFamily="34" charset="-120"/>
              </a:rPr>
              <a:t>Digital payment platforms like PhonePe have transformed how India transacts — making payments faster, safer, and accessible to everyone.</a:t>
            </a:r>
            <a:endParaRPr lang="en-US" sz="1200" dirty="0"/>
          </a:p>
        </p:txBody>
      </p:sp>
      <p:sp>
        <p:nvSpPr>
          <p:cNvPr id="9" name="Shape 6"/>
          <p:cNvSpPr/>
          <p:nvPr/>
        </p:nvSpPr>
        <p:spPr>
          <a:xfrm>
            <a:off x="4352544" y="1554480"/>
            <a:ext cx="3483864" cy="4480560"/>
          </a:xfrm>
          <a:prstGeom prst="roundRect">
            <a:avLst>
              <a:gd name="adj" fmla="val 2100"/>
            </a:avLst>
          </a:prstGeom>
          <a:solidFill>
            <a:srgbClr val="F4F8FE"/>
          </a:solidFill>
          <a:ln/>
          <a:effectLst>
            <a:outerShdw sx="100000" sy="100000" kx="0" ky="0" algn="bl" rotWithShape="0" blurRad="88900" dist="25400" dir="5400000">
              <a:srgbClr val="1B2A4A">
                <a:alpha val="10000"/>
              </a:srgbClr>
            </a:outerShdw>
          </a:effectLst>
        </p:spPr>
      </p:sp>
      <p:sp>
        <p:nvSpPr>
          <p:cNvPr id="10" name="Shape 7"/>
          <p:cNvSpPr/>
          <p:nvPr/>
        </p:nvSpPr>
        <p:spPr>
          <a:xfrm>
            <a:off x="5751576" y="1920240"/>
            <a:ext cx="685800" cy="685800"/>
          </a:xfrm>
          <a:prstGeom prst="ellipse">
            <a:avLst/>
          </a:prstGeom>
          <a:solidFill>
            <a:srgbClr val="0B3D91"/>
          </a:solidFill>
          <a:ln/>
        </p:spPr>
      </p:sp>
      <p:pic>
        <p:nvPicPr>
          <p:cNvPr id="11" name="Image 1" descr="icons/question_w.png">    </p:cNvPr>
          <p:cNvPicPr>
            <a:picLocks noChangeAspect="1"/>
          </p:cNvPicPr>
          <p:nvPr/>
        </p:nvPicPr>
        <p:blipFill>
          <a:blip r:embed="rId2"/>
          <a:stretch>
            <a:fillRect/>
          </a:stretch>
        </p:blipFill>
        <p:spPr>
          <a:xfrm>
            <a:off x="5916168" y="2084832"/>
            <a:ext cx="356616" cy="356616"/>
          </a:xfrm>
          <a:prstGeom prst="rect">
            <a:avLst/>
          </a:prstGeom>
        </p:spPr>
      </p:pic>
      <p:sp>
        <p:nvSpPr>
          <p:cNvPr id="12" name="Text 8"/>
          <p:cNvSpPr/>
          <p:nvPr/>
        </p:nvSpPr>
        <p:spPr>
          <a:xfrm>
            <a:off x="4535424" y="2788920"/>
            <a:ext cx="3118104" cy="457200"/>
          </a:xfrm>
          <a:prstGeom prst="rect">
            <a:avLst/>
          </a:prstGeom>
          <a:noFill/>
          <a:ln/>
        </p:spPr>
        <p:txBody>
          <a:bodyPr wrap="square" lIns="0" tIns="0" rIns="0" bIns="0" rtlCol="0" anchor="ctr"/>
          <a:lstStyle/>
          <a:p>
            <a:pPr algn="ctr" indent="0" marL="0">
              <a:buNone/>
            </a:pPr>
            <a:r>
              <a:rPr lang="en-US" sz="1600" b="1" dirty="0">
                <a:solidFill>
                  <a:srgbClr val="0B3D91"/>
                </a:solidFill>
                <a:latin typeface="Cambria" pitchFamily="34" charset="0"/>
                <a:ea typeface="Cambria" pitchFamily="34" charset="-122"/>
                <a:cs typeface="Cambria" pitchFamily="34" charset="-120"/>
              </a:rPr>
              <a:t>Problem Statement</a:t>
            </a:r>
            <a:endParaRPr lang="en-US" sz="1600" dirty="0"/>
          </a:p>
        </p:txBody>
      </p:sp>
      <p:sp>
        <p:nvSpPr>
          <p:cNvPr id="13" name="Text 9"/>
          <p:cNvSpPr/>
          <p:nvPr/>
        </p:nvSpPr>
        <p:spPr>
          <a:xfrm>
            <a:off x="4672584" y="3337560"/>
            <a:ext cx="2843784" cy="2468880"/>
          </a:xfrm>
          <a:prstGeom prst="rect">
            <a:avLst/>
          </a:prstGeom>
          <a:noFill/>
          <a:ln/>
        </p:spPr>
        <p:txBody>
          <a:bodyPr wrap="square" lIns="0" tIns="0" rIns="0" bIns="0" rtlCol="0" anchor="t"/>
          <a:lstStyle/>
          <a:p>
            <a:pPr algn="ctr" indent="0" marL="0">
              <a:buNone/>
            </a:pPr>
            <a:r>
              <a:rPr lang="en-US" sz="1200" dirty="0">
                <a:solidFill>
                  <a:srgbClr val="42506B"/>
                </a:solidFill>
                <a:latin typeface="Calibri" pitchFamily="34" charset="0"/>
                <a:ea typeface="Calibri" pitchFamily="34" charset="-122"/>
                <a:cs typeface="Calibri" pitchFamily="34" charset="-120"/>
              </a:rPr>
              <a:t>Raw transaction, user, and insurance data across states and years needs to be cleaned and analyzed to reveal usable business patterns.</a:t>
            </a:r>
            <a:endParaRPr lang="en-US" sz="1200" dirty="0"/>
          </a:p>
        </p:txBody>
      </p:sp>
      <p:sp>
        <p:nvSpPr>
          <p:cNvPr id="14" name="Shape 10"/>
          <p:cNvSpPr/>
          <p:nvPr/>
        </p:nvSpPr>
        <p:spPr>
          <a:xfrm>
            <a:off x="8156448" y="1554480"/>
            <a:ext cx="3483864" cy="4480560"/>
          </a:xfrm>
          <a:prstGeom prst="roundRect">
            <a:avLst>
              <a:gd name="adj" fmla="val 2100"/>
            </a:avLst>
          </a:prstGeom>
          <a:solidFill>
            <a:srgbClr val="F4F8FE"/>
          </a:solidFill>
          <a:ln/>
          <a:effectLst>
            <a:outerShdw sx="100000" sy="100000" kx="0" ky="0" algn="bl" rotWithShape="0" blurRad="88900" dist="25400" dir="5400000">
              <a:srgbClr val="1B2A4A">
                <a:alpha val="10000"/>
              </a:srgbClr>
            </a:outerShdw>
          </a:effectLst>
        </p:spPr>
      </p:sp>
      <p:sp>
        <p:nvSpPr>
          <p:cNvPr id="15" name="Shape 11"/>
          <p:cNvSpPr/>
          <p:nvPr/>
        </p:nvSpPr>
        <p:spPr>
          <a:xfrm>
            <a:off x="9555480" y="1920240"/>
            <a:ext cx="685800" cy="685800"/>
          </a:xfrm>
          <a:prstGeom prst="ellipse">
            <a:avLst/>
          </a:prstGeom>
          <a:solidFill>
            <a:srgbClr val="0B3D91"/>
          </a:solidFill>
          <a:ln/>
        </p:spPr>
      </p:sp>
      <p:pic>
        <p:nvPicPr>
          <p:cNvPr id="16" name="Image 2" descr="icons/trend_up_w.png">    </p:cNvPr>
          <p:cNvPicPr>
            <a:picLocks noChangeAspect="1"/>
          </p:cNvPicPr>
          <p:nvPr/>
        </p:nvPicPr>
        <p:blipFill>
          <a:blip r:embed="rId3"/>
          <a:stretch>
            <a:fillRect/>
          </a:stretch>
        </p:blipFill>
        <p:spPr>
          <a:xfrm>
            <a:off x="9720072" y="2084832"/>
            <a:ext cx="356616" cy="356616"/>
          </a:xfrm>
          <a:prstGeom prst="rect">
            <a:avLst/>
          </a:prstGeom>
        </p:spPr>
      </p:pic>
      <p:sp>
        <p:nvSpPr>
          <p:cNvPr id="17" name="Text 12"/>
          <p:cNvSpPr/>
          <p:nvPr/>
        </p:nvSpPr>
        <p:spPr>
          <a:xfrm>
            <a:off x="8339328" y="2788920"/>
            <a:ext cx="3118104" cy="457200"/>
          </a:xfrm>
          <a:prstGeom prst="rect">
            <a:avLst/>
          </a:prstGeom>
          <a:noFill/>
          <a:ln/>
        </p:spPr>
        <p:txBody>
          <a:bodyPr wrap="square" lIns="0" tIns="0" rIns="0" bIns="0" rtlCol="0" anchor="ctr"/>
          <a:lstStyle/>
          <a:p>
            <a:pPr algn="ctr" indent="0" marL="0">
              <a:buNone/>
            </a:pPr>
            <a:r>
              <a:rPr lang="en-US" sz="1600" b="1" dirty="0">
                <a:solidFill>
                  <a:srgbClr val="0B3D91"/>
                </a:solidFill>
                <a:latin typeface="Cambria" pitchFamily="34" charset="0"/>
                <a:ea typeface="Cambria" pitchFamily="34" charset="-122"/>
                <a:cs typeface="Cambria" pitchFamily="34" charset="-120"/>
              </a:rPr>
              <a:t>Why It Matters</a:t>
            </a:r>
            <a:endParaRPr lang="en-US" sz="1600" dirty="0"/>
          </a:p>
        </p:txBody>
      </p:sp>
      <p:sp>
        <p:nvSpPr>
          <p:cNvPr id="18" name="Text 13"/>
          <p:cNvSpPr/>
          <p:nvPr/>
        </p:nvSpPr>
        <p:spPr>
          <a:xfrm>
            <a:off x="8476488" y="3337560"/>
            <a:ext cx="2843784" cy="2468880"/>
          </a:xfrm>
          <a:prstGeom prst="rect">
            <a:avLst/>
          </a:prstGeom>
          <a:noFill/>
          <a:ln/>
        </p:spPr>
        <p:txBody>
          <a:bodyPr wrap="square" lIns="0" tIns="0" rIns="0" bIns="0" rtlCol="0" anchor="t"/>
          <a:lstStyle/>
          <a:p>
            <a:pPr algn="ctr" indent="0" marL="0">
              <a:buNone/>
            </a:pPr>
            <a:r>
              <a:rPr lang="en-US" sz="1200" dirty="0">
                <a:solidFill>
                  <a:srgbClr val="42506B"/>
                </a:solidFill>
                <a:latin typeface="Calibri" pitchFamily="34" charset="0"/>
                <a:ea typeface="Calibri" pitchFamily="34" charset="-122"/>
                <a:cs typeface="Calibri" pitchFamily="34" charset="-120"/>
              </a:rPr>
              <a:t>Understanding digital payment behavior helps businesses, regulators, and fintech players make smarter, data-driven decisions.</a:t>
            </a:r>
            <a:endParaRPr lang="en-US" sz="1200" dirty="0"/>
          </a:p>
        </p:txBody>
      </p:sp>
      <p:sp>
        <p:nvSpPr>
          <p:cNvPr id="19" name="Text 14"/>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20" name="Text 15"/>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WHAT WE SET OUT TO DO</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48640" y="1600200"/>
            <a:ext cx="5257800" cy="4480560"/>
          </a:xfrm>
          <a:prstGeom prst="roundRect">
            <a:avLst>
              <a:gd name="adj" fmla="val 1633"/>
            </a:avLst>
          </a:prstGeom>
          <a:solidFill>
            <a:srgbClr val="F4F8FE"/>
          </a:solidFill>
          <a:ln/>
          <a:effectLst>
            <a:outerShdw sx="100000" sy="100000" kx="0" ky="0" algn="bl" rotWithShape="0" blurRad="88900" dist="25400" dir="5400000">
              <a:srgbClr val="1B2A4A">
                <a:alpha val="10000"/>
              </a:srgbClr>
            </a:outerShdw>
          </a:effectLst>
        </p:spPr>
      </p:sp>
      <p:sp>
        <p:nvSpPr>
          <p:cNvPr id="5" name="Shape 3"/>
          <p:cNvSpPr/>
          <p:nvPr/>
        </p:nvSpPr>
        <p:spPr>
          <a:xfrm>
            <a:off x="868680" y="1920240"/>
            <a:ext cx="594360" cy="594360"/>
          </a:xfrm>
          <a:prstGeom prst="ellipse">
            <a:avLst/>
          </a:prstGeom>
          <a:solidFill>
            <a:srgbClr val="0B3D91"/>
          </a:solidFill>
          <a:ln/>
        </p:spPr>
      </p:sp>
      <p:pic>
        <p:nvPicPr>
          <p:cNvPr id="6" name="Image 0" descr="icons/target_w.png">    </p:cNvPr>
          <p:cNvPicPr>
            <a:picLocks noChangeAspect="1"/>
          </p:cNvPicPr>
          <p:nvPr/>
        </p:nvPicPr>
        <p:blipFill>
          <a:blip r:embed="rId1"/>
          <a:stretch>
            <a:fillRect/>
          </a:stretch>
        </p:blipFill>
        <p:spPr>
          <a:xfrm>
            <a:off x="1011326" y="2062886"/>
            <a:ext cx="309067" cy="309067"/>
          </a:xfrm>
          <a:prstGeom prst="rect">
            <a:avLst/>
          </a:prstGeom>
        </p:spPr>
      </p:pic>
      <p:sp>
        <p:nvSpPr>
          <p:cNvPr id="7" name="Text 4"/>
          <p:cNvSpPr/>
          <p:nvPr/>
        </p:nvSpPr>
        <p:spPr>
          <a:xfrm>
            <a:off x="1600200" y="2011680"/>
            <a:ext cx="3657600" cy="457200"/>
          </a:xfrm>
          <a:prstGeom prst="rect">
            <a:avLst/>
          </a:prstGeom>
          <a:noFill/>
          <a:ln/>
        </p:spPr>
        <p:txBody>
          <a:bodyPr wrap="square" lIns="0" tIns="0" rIns="0" bIns="0" rtlCol="0" anchor="ctr"/>
          <a:lstStyle/>
          <a:p>
            <a:pPr indent="0" marL="0">
              <a:buNone/>
            </a:pPr>
            <a:r>
              <a:rPr lang="en-US" sz="1800" b="1" dirty="0">
                <a:solidFill>
                  <a:srgbClr val="0B3D91"/>
                </a:solidFill>
                <a:latin typeface="Cambria" pitchFamily="34" charset="0"/>
                <a:ea typeface="Cambria" pitchFamily="34" charset="-122"/>
                <a:cs typeface="Cambria" pitchFamily="34" charset="-120"/>
              </a:rPr>
              <a:t>Project Goals</a:t>
            </a:r>
            <a:endParaRPr lang="en-US" sz="1800" dirty="0"/>
          </a:p>
        </p:txBody>
      </p:sp>
      <p:sp>
        <p:nvSpPr>
          <p:cNvPr id="8" name="Text 5"/>
          <p:cNvSpPr/>
          <p:nvPr/>
        </p:nvSpPr>
        <p:spPr>
          <a:xfrm>
            <a:off x="914400" y="2788920"/>
            <a:ext cx="4526280" cy="3017520"/>
          </a:xfrm>
          <a:prstGeom prst="rect">
            <a:avLst/>
          </a:prstGeom>
          <a:noFill/>
          <a:ln/>
        </p:spPr>
        <p:txBody>
          <a:bodyPr wrap="square" lIns="0" tIns="0" rIns="0" bIns="0" rtlCol="0" anchor="t"/>
          <a:lstStyle/>
          <a:p>
            <a:pPr marL="342900" indent="-342900">
              <a:spcAft>
                <a:spcPts val="1400"/>
              </a:spcAft>
              <a:buSzPct val="100000"/>
              <a:buChar char="•"/>
            </a:pPr>
            <a:r>
              <a:rPr lang="en-US" sz="1350" dirty="0">
                <a:solidFill>
                  <a:srgbClr val="42506B"/>
                </a:solidFill>
                <a:latin typeface="Calibri" pitchFamily="34" charset="0"/>
                <a:ea typeface="Calibri" pitchFamily="34" charset="-122"/>
                <a:cs typeface="Calibri" pitchFamily="34" charset="-120"/>
              </a:rPr>
              <a:t>Analyze transaction amounts across India</a:t>
            </a:r>
            <a:endParaRPr lang="en-US" sz="1350" dirty="0"/>
          </a:p>
          <a:p>
            <a:pPr marL="342900" indent="-342900">
              <a:spcAft>
                <a:spcPts val="1400"/>
              </a:spcAft>
              <a:buSzPct val="100000"/>
              <a:buChar char="•"/>
            </a:pPr>
            <a:r>
              <a:rPr lang="en-US" sz="1350" dirty="0">
                <a:solidFill>
                  <a:srgbClr val="42506B"/>
                </a:solidFill>
                <a:latin typeface="Calibri" pitchFamily="34" charset="0"/>
                <a:ea typeface="Calibri" pitchFamily="34" charset="-122"/>
                <a:cs typeface="Calibri" pitchFamily="34" charset="-120"/>
              </a:rPr>
              <a:t>Study yearly and quarterly transaction trends</a:t>
            </a:r>
            <a:endParaRPr lang="en-US" sz="1350" dirty="0"/>
          </a:p>
          <a:p>
            <a:pPr marL="342900" indent="-342900">
              <a:spcAft>
                <a:spcPts val="1400"/>
              </a:spcAft>
              <a:buSzPct val="100000"/>
              <a:buChar char="•"/>
            </a:pPr>
            <a:r>
              <a:rPr lang="en-US" sz="1350" dirty="0">
                <a:solidFill>
                  <a:srgbClr val="42506B"/>
                </a:solidFill>
                <a:latin typeface="Calibri" pitchFamily="34" charset="0"/>
                <a:ea typeface="Calibri" pitchFamily="34" charset="-122"/>
                <a:cs typeface="Calibri" pitchFamily="34" charset="-120"/>
              </a:rPr>
              <a:t>Identify top-performing states and districts</a:t>
            </a:r>
            <a:endParaRPr lang="en-US" sz="1350" dirty="0"/>
          </a:p>
          <a:p>
            <a:pPr marL="342900" indent="-342900">
              <a:spcAft>
                <a:spcPts val="1400"/>
              </a:spcAft>
              <a:buSzPct val="100000"/>
              <a:buChar char="•"/>
            </a:pPr>
            <a:r>
              <a:rPr lang="en-US" sz="1350" dirty="0">
                <a:solidFill>
                  <a:srgbClr val="42506B"/>
                </a:solidFill>
                <a:latin typeface="Calibri" pitchFamily="34" charset="0"/>
                <a:ea typeface="Calibri" pitchFamily="34" charset="-122"/>
                <a:cs typeface="Calibri" pitchFamily="34" charset="-120"/>
              </a:rPr>
              <a:t>Analyze registered users and app opens</a:t>
            </a:r>
            <a:endParaRPr lang="en-US" sz="1350" dirty="0"/>
          </a:p>
        </p:txBody>
      </p:sp>
      <p:sp>
        <p:nvSpPr>
          <p:cNvPr id="9" name="Shape 6"/>
          <p:cNvSpPr/>
          <p:nvPr/>
        </p:nvSpPr>
        <p:spPr>
          <a:xfrm>
            <a:off x="6355080" y="1600200"/>
            <a:ext cx="5257800" cy="4480560"/>
          </a:xfrm>
          <a:prstGeom prst="roundRect">
            <a:avLst>
              <a:gd name="adj" fmla="val 1633"/>
            </a:avLst>
          </a:prstGeom>
          <a:solidFill>
            <a:srgbClr val="F4F8FE"/>
          </a:solidFill>
          <a:ln/>
          <a:effectLst>
            <a:outerShdw sx="100000" sy="100000" kx="0" ky="0" algn="bl" rotWithShape="0" blurRad="88900" dist="25400" dir="5400000">
              <a:srgbClr val="1B2A4A">
                <a:alpha val="10000"/>
              </a:srgbClr>
            </a:outerShdw>
          </a:effectLst>
        </p:spPr>
      </p:sp>
      <p:sp>
        <p:nvSpPr>
          <p:cNvPr id="10" name="Shape 7"/>
          <p:cNvSpPr/>
          <p:nvPr/>
        </p:nvSpPr>
        <p:spPr>
          <a:xfrm>
            <a:off x="6675120" y="1920240"/>
            <a:ext cx="594360" cy="594360"/>
          </a:xfrm>
          <a:prstGeom prst="ellipse">
            <a:avLst/>
          </a:prstGeom>
          <a:solidFill>
            <a:srgbClr val="1859C4"/>
          </a:solidFill>
          <a:ln/>
        </p:spPr>
      </p:sp>
      <p:pic>
        <p:nvPicPr>
          <p:cNvPr id="11" name="Image 1" descr="icons/handshake_w.png">    </p:cNvPr>
          <p:cNvPicPr>
            <a:picLocks noChangeAspect="1"/>
          </p:cNvPicPr>
          <p:nvPr/>
        </p:nvPicPr>
        <p:blipFill>
          <a:blip r:embed="rId2"/>
          <a:stretch>
            <a:fillRect/>
          </a:stretch>
        </p:blipFill>
        <p:spPr>
          <a:xfrm>
            <a:off x="6817766" y="2062886"/>
            <a:ext cx="309067" cy="309067"/>
          </a:xfrm>
          <a:prstGeom prst="rect">
            <a:avLst/>
          </a:prstGeom>
        </p:spPr>
      </p:pic>
      <p:sp>
        <p:nvSpPr>
          <p:cNvPr id="12" name="Text 8"/>
          <p:cNvSpPr/>
          <p:nvPr/>
        </p:nvSpPr>
        <p:spPr>
          <a:xfrm>
            <a:off x="7406640" y="2011680"/>
            <a:ext cx="4023360" cy="457200"/>
          </a:xfrm>
          <a:prstGeom prst="rect">
            <a:avLst/>
          </a:prstGeom>
          <a:noFill/>
          <a:ln/>
        </p:spPr>
        <p:txBody>
          <a:bodyPr wrap="square" lIns="0" tIns="0" rIns="0" bIns="0" rtlCol="0" anchor="ctr"/>
          <a:lstStyle/>
          <a:p>
            <a:pPr indent="0" marL="0">
              <a:buNone/>
            </a:pPr>
            <a:r>
              <a:rPr lang="en-US" sz="1800" b="1" dirty="0">
                <a:solidFill>
                  <a:srgbClr val="0B3D91"/>
                </a:solidFill>
                <a:latin typeface="Cambria" pitchFamily="34" charset="0"/>
                <a:ea typeface="Cambria" pitchFamily="34" charset="-122"/>
                <a:cs typeface="Cambria" pitchFamily="34" charset="-120"/>
              </a:rPr>
              <a:t>Business Objectives</a:t>
            </a:r>
            <a:endParaRPr lang="en-US" sz="1800" dirty="0"/>
          </a:p>
        </p:txBody>
      </p:sp>
      <p:sp>
        <p:nvSpPr>
          <p:cNvPr id="13" name="Text 9"/>
          <p:cNvSpPr/>
          <p:nvPr/>
        </p:nvSpPr>
        <p:spPr>
          <a:xfrm>
            <a:off x="6720840" y="2788920"/>
            <a:ext cx="4526280" cy="3017520"/>
          </a:xfrm>
          <a:prstGeom prst="rect">
            <a:avLst/>
          </a:prstGeom>
          <a:noFill/>
          <a:ln/>
        </p:spPr>
        <p:txBody>
          <a:bodyPr wrap="square" lIns="0" tIns="0" rIns="0" bIns="0" rtlCol="0" anchor="t"/>
          <a:lstStyle/>
          <a:p>
            <a:pPr marL="342900" indent="-342900">
              <a:spcAft>
                <a:spcPts val="1400"/>
              </a:spcAft>
              <a:buSzPct val="100000"/>
              <a:buChar char="•"/>
            </a:pPr>
            <a:r>
              <a:rPr lang="en-US" sz="1350" dirty="0">
                <a:solidFill>
                  <a:srgbClr val="42506B"/>
                </a:solidFill>
                <a:latin typeface="Calibri" pitchFamily="34" charset="0"/>
                <a:ea typeface="Calibri" pitchFamily="34" charset="-122"/>
                <a:cs typeface="Calibri" pitchFamily="34" charset="-120"/>
              </a:rPr>
              <a:t>Discover the most popular mobile brands</a:t>
            </a:r>
            <a:endParaRPr lang="en-US" sz="1350" dirty="0"/>
          </a:p>
          <a:p>
            <a:pPr marL="342900" indent="-342900">
              <a:spcAft>
                <a:spcPts val="1400"/>
              </a:spcAft>
              <a:buSzPct val="100000"/>
              <a:buChar char="•"/>
            </a:pPr>
            <a:r>
              <a:rPr lang="en-US" sz="1350" dirty="0">
                <a:solidFill>
                  <a:srgbClr val="42506B"/>
                </a:solidFill>
                <a:latin typeface="Calibri" pitchFamily="34" charset="0"/>
                <a:ea typeface="Calibri" pitchFamily="34" charset="-122"/>
                <a:cs typeface="Calibri" pitchFamily="34" charset="-120"/>
              </a:rPr>
              <a:t>Compare insurance transactions across states</a:t>
            </a:r>
            <a:endParaRPr lang="en-US" sz="1350" dirty="0"/>
          </a:p>
          <a:p>
            <a:pPr marL="342900" indent="-342900">
              <a:spcAft>
                <a:spcPts val="1400"/>
              </a:spcAft>
              <a:buSzPct val="100000"/>
              <a:buChar char="•"/>
            </a:pPr>
            <a:r>
              <a:rPr lang="en-US" sz="1350" dirty="0">
                <a:solidFill>
                  <a:srgbClr val="42506B"/>
                </a:solidFill>
                <a:latin typeface="Calibri" pitchFamily="34" charset="0"/>
                <a:ea typeface="Calibri" pitchFamily="34" charset="-122"/>
                <a:cs typeface="Calibri" pitchFamily="34" charset="-120"/>
              </a:rPr>
              <a:t>Identify high-performing pincodes</a:t>
            </a:r>
            <a:endParaRPr lang="en-US" sz="1350" dirty="0"/>
          </a:p>
          <a:p>
            <a:pPr marL="342900" indent="-342900">
              <a:spcAft>
                <a:spcPts val="1400"/>
              </a:spcAft>
              <a:buSzPct val="100000"/>
              <a:buChar char="•"/>
            </a:pPr>
            <a:r>
              <a:rPr lang="en-US" sz="1350" dirty="0">
                <a:solidFill>
                  <a:srgbClr val="42506B"/>
                </a:solidFill>
                <a:latin typeface="Calibri" pitchFamily="34" charset="0"/>
                <a:ea typeface="Calibri" pitchFamily="34" charset="-122"/>
                <a:cs typeface="Calibri" pitchFamily="34" charset="-120"/>
              </a:rPr>
              <a:t>Generate business insights from the data</a:t>
            </a:r>
            <a:endParaRPr lang="en-US" sz="1350" dirty="0"/>
          </a:p>
        </p:txBody>
      </p:sp>
      <p:sp>
        <p:nvSpPr>
          <p:cNvPr id="14" name="Text 1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UNDERSTANDING OUR DATA SOURCE</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Dataset Description</a:t>
            </a:r>
            <a:endParaRPr lang="en-US" sz="3000" dirty="0"/>
          </a:p>
        </p:txBody>
      </p:sp>
      <p:sp>
        <p:nvSpPr>
          <p:cNvPr id="4" name="Shape 2"/>
          <p:cNvSpPr/>
          <p:nvPr/>
        </p:nvSpPr>
        <p:spPr>
          <a:xfrm>
            <a:off x="548640" y="1554480"/>
            <a:ext cx="4114800" cy="2011680"/>
          </a:xfrm>
          <a:prstGeom prst="roundRect">
            <a:avLst>
              <a:gd name="adj" fmla="val 3636"/>
            </a:avLst>
          </a:prstGeom>
          <a:solidFill>
            <a:srgbClr val="EAF2FC"/>
          </a:solidFill>
          <a:ln/>
          <a:effectLst>
            <a:outerShdw sx="100000" sy="100000" kx="0" ky="0" algn="bl" rotWithShape="0" blurRad="88900" dist="25400" dir="5400000">
              <a:srgbClr val="1B2A4A">
                <a:alpha val="10000"/>
              </a:srgbClr>
            </a:outerShdw>
          </a:effectLst>
        </p:spPr>
      </p:sp>
      <p:sp>
        <p:nvSpPr>
          <p:cNvPr id="5" name="Shape 3"/>
          <p:cNvSpPr/>
          <p:nvPr/>
        </p:nvSpPr>
        <p:spPr>
          <a:xfrm>
            <a:off x="777240" y="1810512"/>
            <a:ext cx="548640" cy="548640"/>
          </a:xfrm>
          <a:prstGeom prst="ellipse">
            <a:avLst/>
          </a:prstGeom>
          <a:solidFill>
            <a:srgbClr val="0B3D91"/>
          </a:solidFill>
          <a:ln/>
        </p:spPr>
      </p:sp>
      <p:pic>
        <p:nvPicPr>
          <p:cNvPr id="6" name="Image 0" descr="icons/database_w.png">    </p:cNvPr>
          <p:cNvPicPr>
            <a:picLocks noChangeAspect="1"/>
          </p:cNvPicPr>
          <p:nvPr/>
        </p:nvPicPr>
        <p:blipFill>
          <a:blip r:embed="rId1"/>
          <a:stretch>
            <a:fillRect/>
          </a:stretch>
        </p:blipFill>
        <p:spPr>
          <a:xfrm>
            <a:off x="908914" y="1942186"/>
            <a:ext cx="285293" cy="285293"/>
          </a:xfrm>
          <a:prstGeom prst="rect">
            <a:avLst/>
          </a:prstGeom>
        </p:spPr>
      </p:pic>
      <p:sp>
        <p:nvSpPr>
          <p:cNvPr id="7" name="Text 4"/>
          <p:cNvSpPr/>
          <p:nvPr/>
        </p:nvSpPr>
        <p:spPr>
          <a:xfrm>
            <a:off x="1508760" y="1847088"/>
            <a:ext cx="2926080" cy="365760"/>
          </a:xfrm>
          <a:prstGeom prst="rect">
            <a:avLst/>
          </a:prstGeom>
          <a:noFill/>
          <a:ln/>
        </p:spPr>
        <p:txBody>
          <a:bodyPr wrap="square" lIns="0" tIns="0" rIns="0" bIns="0" rtlCol="0" anchor="ctr"/>
          <a:lstStyle/>
          <a:p>
            <a:pPr indent="0" marL="0">
              <a:buNone/>
            </a:pPr>
            <a:r>
              <a:rPr lang="en-US" sz="1400" b="1" dirty="0">
                <a:solidFill>
                  <a:srgbClr val="0B3D91"/>
                </a:solidFill>
                <a:latin typeface="Cambria" pitchFamily="34" charset="0"/>
                <a:ea typeface="Cambria" pitchFamily="34" charset="-122"/>
                <a:cs typeface="Cambria" pitchFamily="34" charset="-120"/>
              </a:rPr>
              <a:t>Dataset Source</a:t>
            </a:r>
            <a:endParaRPr lang="en-US" sz="1400" dirty="0"/>
          </a:p>
        </p:txBody>
      </p:sp>
      <p:sp>
        <p:nvSpPr>
          <p:cNvPr id="8" name="Text 5"/>
          <p:cNvSpPr/>
          <p:nvPr/>
        </p:nvSpPr>
        <p:spPr>
          <a:xfrm>
            <a:off x="822960" y="2468880"/>
            <a:ext cx="3566160" cy="1005840"/>
          </a:xfrm>
          <a:prstGeom prst="rect">
            <a:avLst/>
          </a:prstGeom>
          <a:noFill/>
          <a:ln/>
        </p:spPr>
        <p:txBody>
          <a:bodyPr wrap="square" lIns="0" tIns="0" rIns="0" bIns="0" rtlCol="0" anchor="t"/>
          <a:lstStyle/>
          <a:p>
            <a:pPr indent="0" marL="0">
              <a:buNone/>
            </a:pPr>
            <a:r>
              <a:rPr lang="en-US" sz="1200" dirty="0">
                <a:solidFill>
                  <a:srgbClr val="42506B"/>
                </a:solidFill>
                <a:latin typeface="Calibri" pitchFamily="34" charset="0"/>
                <a:ea typeface="Calibri" pitchFamily="34" charset="-122"/>
                <a:cs typeface="Calibri" pitchFamily="34" charset="-120"/>
              </a:rPr>
              <a:t>Official PhonePe Pulse dataset covering India's digital payments ecosystem</a:t>
            </a:r>
            <a:endParaRPr lang="en-US" sz="1200" dirty="0"/>
          </a:p>
        </p:txBody>
      </p:sp>
      <p:sp>
        <p:nvSpPr>
          <p:cNvPr id="9" name="Shape 6"/>
          <p:cNvSpPr/>
          <p:nvPr/>
        </p:nvSpPr>
        <p:spPr>
          <a:xfrm>
            <a:off x="548640" y="3794760"/>
            <a:ext cx="4114800" cy="2240280"/>
          </a:xfrm>
          <a:prstGeom prst="roundRect">
            <a:avLst>
              <a:gd name="adj" fmla="val 3265"/>
            </a:avLst>
          </a:prstGeom>
          <a:solidFill>
            <a:srgbClr val="EAF2FC"/>
          </a:solidFill>
          <a:ln/>
          <a:effectLst>
            <a:outerShdw sx="100000" sy="100000" kx="0" ky="0" algn="bl" rotWithShape="0" blurRad="88900" dist="25400" dir="5400000">
              <a:srgbClr val="1B2A4A">
                <a:alpha val="10000"/>
              </a:srgbClr>
            </a:outerShdw>
          </a:effectLst>
        </p:spPr>
      </p:sp>
      <p:sp>
        <p:nvSpPr>
          <p:cNvPr id="10" name="Shape 7"/>
          <p:cNvSpPr/>
          <p:nvPr/>
        </p:nvSpPr>
        <p:spPr>
          <a:xfrm>
            <a:off x="777240" y="4050792"/>
            <a:ext cx="548640" cy="548640"/>
          </a:xfrm>
          <a:prstGeom prst="ellipse">
            <a:avLst/>
          </a:prstGeom>
          <a:solidFill>
            <a:srgbClr val="1859C4"/>
          </a:solidFill>
          <a:ln/>
        </p:spPr>
      </p:sp>
      <p:pic>
        <p:nvPicPr>
          <p:cNvPr id="11" name="Image 1" descr="icons/calendar_w.png">    </p:cNvPr>
          <p:cNvPicPr>
            <a:picLocks noChangeAspect="1"/>
          </p:cNvPicPr>
          <p:nvPr/>
        </p:nvPicPr>
        <p:blipFill>
          <a:blip r:embed="rId2"/>
          <a:stretch>
            <a:fillRect/>
          </a:stretch>
        </p:blipFill>
        <p:spPr>
          <a:xfrm>
            <a:off x="908914" y="4182466"/>
            <a:ext cx="285293" cy="285293"/>
          </a:xfrm>
          <a:prstGeom prst="rect">
            <a:avLst/>
          </a:prstGeom>
        </p:spPr>
      </p:pic>
      <p:sp>
        <p:nvSpPr>
          <p:cNvPr id="12" name="Text 8"/>
          <p:cNvSpPr/>
          <p:nvPr/>
        </p:nvSpPr>
        <p:spPr>
          <a:xfrm>
            <a:off x="1508760" y="4087368"/>
            <a:ext cx="2926080" cy="365760"/>
          </a:xfrm>
          <a:prstGeom prst="rect">
            <a:avLst/>
          </a:prstGeom>
          <a:noFill/>
          <a:ln/>
        </p:spPr>
        <p:txBody>
          <a:bodyPr wrap="square" lIns="0" tIns="0" rIns="0" bIns="0" rtlCol="0" anchor="ctr"/>
          <a:lstStyle/>
          <a:p>
            <a:pPr indent="0" marL="0">
              <a:buNone/>
            </a:pPr>
            <a:r>
              <a:rPr lang="en-US" sz="1400" b="1" dirty="0">
                <a:solidFill>
                  <a:srgbClr val="0B3D91"/>
                </a:solidFill>
                <a:latin typeface="Cambria" pitchFamily="34" charset="0"/>
                <a:ea typeface="Cambria" pitchFamily="34" charset="-122"/>
                <a:cs typeface="Cambria" pitchFamily="34" charset="-120"/>
              </a:rPr>
              <a:t>Time Period Covered</a:t>
            </a:r>
            <a:endParaRPr lang="en-US" sz="1400" dirty="0"/>
          </a:p>
        </p:txBody>
      </p:sp>
      <p:sp>
        <p:nvSpPr>
          <p:cNvPr id="13" name="Text 9"/>
          <p:cNvSpPr/>
          <p:nvPr/>
        </p:nvSpPr>
        <p:spPr>
          <a:xfrm>
            <a:off x="822960" y="4709160"/>
            <a:ext cx="1554480" cy="777240"/>
          </a:xfrm>
          <a:prstGeom prst="rect">
            <a:avLst/>
          </a:prstGeom>
          <a:noFill/>
          <a:ln/>
        </p:spPr>
        <p:txBody>
          <a:bodyPr wrap="square" lIns="0" tIns="0" rIns="0" bIns="0" rtlCol="0" anchor="ctr"/>
          <a:lstStyle/>
          <a:p>
            <a:pPr algn="ctr" indent="0" marL="0">
              <a:buNone/>
            </a:pPr>
            <a:r>
              <a:rPr lang="en-US" sz="3400" b="1" dirty="0">
                <a:solidFill>
                  <a:srgbClr val="0B3D91"/>
                </a:solidFill>
                <a:latin typeface="Cambria" pitchFamily="34" charset="0"/>
                <a:ea typeface="Cambria" pitchFamily="34" charset="-122"/>
                <a:cs typeface="Cambria" pitchFamily="34" charset="-120"/>
              </a:rPr>
              <a:t>2018</a:t>
            </a:r>
            <a:endParaRPr lang="en-US" sz="3400" dirty="0"/>
          </a:p>
        </p:txBody>
      </p:sp>
      <p:pic>
        <p:nvPicPr>
          <p:cNvPr id="14" name="Image 2" descr="icons/arrow_down.png">    </p:cNvPr>
          <p:cNvPicPr>
            <a:picLocks noChangeAspect="1"/>
          </p:cNvPicPr>
          <p:nvPr/>
        </p:nvPicPr>
        <p:blipFill>
          <a:blip r:embed="rId3"/>
          <a:stretch>
            <a:fillRect/>
          </a:stretch>
        </p:blipFill>
        <p:spPr>
          <a:xfrm rot="16200000">
            <a:off x="2331720" y="4965192"/>
            <a:ext cx="320040" cy="320040"/>
          </a:xfrm>
          <a:prstGeom prst="rect">
            <a:avLst/>
          </a:prstGeom>
        </p:spPr>
      </p:pic>
      <p:sp>
        <p:nvSpPr>
          <p:cNvPr id="15" name="Text 10"/>
          <p:cNvSpPr/>
          <p:nvPr/>
        </p:nvSpPr>
        <p:spPr>
          <a:xfrm>
            <a:off x="2788920" y="4709160"/>
            <a:ext cx="1554480" cy="777240"/>
          </a:xfrm>
          <a:prstGeom prst="rect">
            <a:avLst/>
          </a:prstGeom>
          <a:noFill/>
          <a:ln/>
        </p:spPr>
        <p:txBody>
          <a:bodyPr wrap="square" lIns="0" tIns="0" rIns="0" bIns="0" rtlCol="0" anchor="ctr"/>
          <a:lstStyle/>
          <a:p>
            <a:pPr algn="ctr" indent="0" marL="0">
              <a:buNone/>
            </a:pPr>
            <a:r>
              <a:rPr lang="en-US" sz="3400" b="1" dirty="0">
                <a:solidFill>
                  <a:srgbClr val="0B3D91"/>
                </a:solidFill>
                <a:latin typeface="Cambria" pitchFamily="34" charset="0"/>
                <a:ea typeface="Cambria" pitchFamily="34" charset="-122"/>
                <a:cs typeface="Cambria" pitchFamily="34" charset="-120"/>
              </a:rPr>
              <a:t>2022</a:t>
            </a:r>
            <a:endParaRPr lang="en-US" sz="3400" dirty="0"/>
          </a:p>
        </p:txBody>
      </p:sp>
      <p:sp>
        <p:nvSpPr>
          <p:cNvPr id="16" name="Text 11"/>
          <p:cNvSpPr/>
          <p:nvPr/>
        </p:nvSpPr>
        <p:spPr>
          <a:xfrm>
            <a:off x="822960" y="5577840"/>
            <a:ext cx="3566160" cy="320040"/>
          </a:xfrm>
          <a:prstGeom prst="rect">
            <a:avLst/>
          </a:prstGeom>
          <a:noFill/>
          <a:ln/>
        </p:spPr>
        <p:txBody>
          <a:bodyPr wrap="square" lIns="0" tIns="0" rIns="0" bIns="0" rtlCol="0" anchor="ctr"/>
          <a:lstStyle/>
          <a:p>
            <a:pPr algn="ctr" indent="0" marL="0">
              <a:buNone/>
            </a:pPr>
            <a:r>
              <a:rPr lang="en-US" sz="1150" dirty="0">
                <a:solidFill>
                  <a:srgbClr val="6B7A99"/>
                </a:solidFill>
                <a:latin typeface="Calibri" pitchFamily="34" charset="0"/>
                <a:ea typeface="Calibri" pitchFamily="34" charset="-122"/>
                <a:cs typeface="Calibri" pitchFamily="34" charset="-120"/>
              </a:rPr>
              <a:t>36 States/UTs  •  727 Districts</a:t>
            </a:r>
            <a:endParaRPr lang="en-US" sz="1150" dirty="0"/>
          </a:p>
        </p:txBody>
      </p:sp>
      <p:sp>
        <p:nvSpPr>
          <p:cNvPr id="17" name="Shape 12"/>
          <p:cNvSpPr/>
          <p:nvPr/>
        </p:nvSpPr>
        <p:spPr>
          <a:xfrm>
            <a:off x="4937760" y="1554480"/>
            <a:ext cx="6720840" cy="4480560"/>
          </a:xfrm>
          <a:prstGeom prst="roundRect">
            <a:avLst>
              <a:gd name="adj" fmla="val 1633"/>
            </a:avLst>
          </a:prstGeom>
          <a:solidFill>
            <a:srgbClr val="F4F8FE"/>
          </a:solidFill>
          <a:ln/>
          <a:effectLst>
            <a:outerShdw sx="100000" sy="100000" kx="0" ky="0" algn="bl" rotWithShape="0" blurRad="88900" dist="25400" dir="5400000">
              <a:srgbClr val="1B2A4A">
                <a:alpha val="10000"/>
              </a:srgbClr>
            </a:outerShdw>
          </a:effectLst>
        </p:spPr>
      </p:sp>
      <p:sp>
        <p:nvSpPr>
          <p:cNvPr id="18" name="Text 13"/>
          <p:cNvSpPr/>
          <p:nvPr/>
        </p:nvSpPr>
        <p:spPr>
          <a:xfrm>
            <a:off x="5212080" y="1783080"/>
            <a:ext cx="6172200" cy="365760"/>
          </a:xfrm>
          <a:prstGeom prst="rect">
            <a:avLst/>
          </a:prstGeom>
          <a:noFill/>
          <a:ln/>
        </p:spPr>
        <p:txBody>
          <a:bodyPr wrap="square" lIns="0" tIns="0" rIns="0" bIns="0" rtlCol="0" anchor="ctr"/>
          <a:lstStyle/>
          <a:p>
            <a:pPr indent="0" marL="0">
              <a:buNone/>
            </a:pPr>
            <a:r>
              <a:rPr lang="en-US" sz="1600" b="1" dirty="0">
                <a:solidFill>
                  <a:srgbClr val="0B3D91"/>
                </a:solidFill>
                <a:latin typeface="Cambria" pitchFamily="34" charset="0"/>
                <a:ea typeface="Cambria" pitchFamily="34" charset="-122"/>
                <a:cs typeface="Cambria" pitchFamily="34" charset="-120"/>
              </a:rPr>
              <a:t>Dataset Categories</a:t>
            </a:r>
            <a:endParaRPr lang="en-US" sz="1600" dirty="0"/>
          </a:p>
        </p:txBody>
      </p:sp>
      <p:sp>
        <p:nvSpPr>
          <p:cNvPr id="19" name="Shape 14"/>
          <p:cNvSpPr/>
          <p:nvPr/>
        </p:nvSpPr>
        <p:spPr>
          <a:xfrm>
            <a:off x="5212080" y="2331720"/>
            <a:ext cx="1920240" cy="457200"/>
          </a:xfrm>
          <a:prstGeom prst="roundRect">
            <a:avLst>
              <a:gd name="adj" fmla="val 18000"/>
            </a:avLst>
          </a:prstGeom>
          <a:solidFill>
            <a:srgbClr val="FFFFFF"/>
          </a:solidFill>
          <a:ln w="12700">
            <a:solidFill>
              <a:srgbClr val="D6E3F5"/>
            </a:solidFill>
            <a:prstDash val="solid"/>
          </a:ln>
        </p:spPr>
      </p:sp>
      <p:sp>
        <p:nvSpPr>
          <p:cNvPr id="20" name="Text 15"/>
          <p:cNvSpPr/>
          <p:nvPr/>
        </p:nvSpPr>
        <p:spPr>
          <a:xfrm>
            <a:off x="5257800" y="2331720"/>
            <a:ext cx="1828800" cy="457200"/>
          </a:xfrm>
          <a:prstGeom prst="rect">
            <a:avLst/>
          </a:prstGeom>
          <a:noFill/>
          <a:ln/>
        </p:spPr>
        <p:txBody>
          <a:bodyPr wrap="square" lIns="0" tIns="0" rIns="0" bIns="0" rtlCol="0" anchor="ctr"/>
          <a:lstStyle/>
          <a:p>
            <a:pPr algn="ctr" indent="0" marL="0">
              <a:buNone/>
            </a:pPr>
            <a:r>
              <a:rPr lang="en-US" sz="1000" b="1" dirty="0">
                <a:solidFill>
                  <a:srgbClr val="1859C4"/>
                </a:solidFill>
                <a:latin typeface="Calibri" pitchFamily="34" charset="0"/>
                <a:ea typeface="Calibri" pitchFamily="34" charset="-122"/>
                <a:cs typeface="Calibri" pitchFamily="34" charset="-120"/>
              </a:rPr>
              <a:t>Aggregate Transaction</a:t>
            </a:r>
            <a:endParaRPr lang="en-US" sz="1000" dirty="0"/>
          </a:p>
        </p:txBody>
      </p:sp>
      <p:sp>
        <p:nvSpPr>
          <p:cNvPr id="21" name="Shape 16"/>
          <p:cNvSpPr/>
          <p:nvPr/>
        </p:nvSpPr>
        <p:spPr>
          <a:xfrm>
            <a:off x="7269480" y="2331720"/>
            <a:ext cx="1920240" cy="457200"/>
          </a:xfrm>
          <a:prstGeom prst="roundRect">
            <a:avLst>
              <a:gd name="adj" fmla="val 18000"/>
            </a:avLst>
          </a:prstGeom>
          <a:solidFill>
            <a:srgbClr val="FFFFFF"/>
          </a:solidFill>
          <a:ln w="12700">
            <a:solidFill>
              <a:srgbClr val="D6E3F5"/>
            </a:solidFill>
            <a:prstDash val="solid"/>
          </a:ln>
        </p:spPr>
      </p:sp>
      <p:sp>
        <p:nvSpPr>
          <p:cNvPr id="22" name="Text 17"/>
          <p:cNvSpPr/>
          <p:nvPr/>
        </p:nvSpPr>
        <p:spPr>
          <a:xfrm>
            <a:off x="7315200" y="2331720"/>
            <a:ext cx="1828800" cy="457200"/>
          </a:xfrm>
          <a:prstGeom prst="rect">
            <a:avLst/>
          </a:prstGeom>
          <a:noFill/>
          <a:ln/>
        </p:spPr>
        <p:txBody>
          <a:bodyPr wrap="square" lIns="0" tIns="0" rIns="0" bIns="0" rtlCol="0" anchor="ctr"/>
          <a:lstStyle/>
          <a:p>
            <a:pPr algn="ctr" indent="0" marL="0">
              <a:buNone/>
            </a:pPr>
            <a:r>
              <a:rPr lang="en-US" sz="1000" b="1" dirty="0">
                <a:solidFill>
                  <a:srgbClr val="1859C4"/>
                </a:solidFill>
                <a:latin typeface="Calibri" pitchFamily="34" charset="0"/>
                <a:ea typeface="Calibri" pitchFamily="34" charset="-122"/>
                <a:cs typeface="Calibri" pitchFamily="34" charset="-120"/>
              </a:rPr>
              <a:t>Aggregate User</a:t>
            </a:r>
            <a:endParaRPr lang="en-US" sz="1000" dirty="0"/>
          </a:p>
        </p:txBody>
      </p:sp>
      <p:sp>
        <p:nvSpPr>
          <p:cNvPr id="23" name="Shape 18"/>
          <p:cNvSpPr/>
          <p:nvPr/>
        </p:nvSpPr>
        <p:spPr>
          <a:xfrm>
            <a:off x="9326880" y="2331720"/>
            <a:ext cx="1920240" cy="457200"/>
          </a:xfrm>
          <a:prstGeom prst="roundRect">
            <a:avLst>
              <a:gd name="adj" fmla="val 18000"/>
            </a:avLst>
          </a:prstGeom>
          <a:solidFill>
            <a:srgbClr val="FFFFFF"/>
          </a:solidFill>
          <a:ln w="12700">
            <a:solidFill>
              <a:srgbClr val="D6E3F5"/>
            </a:solidFill>
            <a:prstDash val="solid"/>
          </a:ln>
        </p:spPr>
      </p:sp>
      <p:sp>
        <p:nvSpPr>
          <p:cNvPr id="24" name="Text 19"/>
          <p:cNvSpPr/>
          <p:nvPr/>
        </p:nvSpPr>
        <p:spPr>
          <a:xfrm>
            <a:off x="9372600" y="2331720"/>
            <a:ext cx="1828800" cy="457200"/>
          </a:xfrm>
          <a:prstGeom prst="rect">
            <a:avLst/>
          </a:prstGeom>
          <a:noFill/>
          <a:ln/>
        </p:spPr>
        <p:txBody>
          <a:bodyPr wrap="square" lIns="0" tIns="0" rIns="0" bIns="0" rtlCol="0" anchor="ctr"/>
          <a:lstStyle/>
          <a:p>
            <a:pPr algn="ctr" indent="0" marL="0">
              <a:buNone/>
            </a:pPr>
            <a:r>
              <a:rPr lang="en-US" sz="1000" b="1" dirty="0">
                <a:solidFill>
                  <a:srgbClr val="1859C4"/>
                </a:solidFill>
                <a:latin typeface="Calibri" pitchFamily="34" charset="0"/>
                <a:ea typeface="Calibri" pitchFamily="34" charset="-122"/>
                <a:cs typeface="Calibri" pitchFamily="34" charset="-120"/>
              </a:rPr>
              <a:t>Aggregate Insurance</a:t>
            </a:r>
            <a:endParaRPr lang="en-US" sz="1000" dirty="0"/>
          </a:p>
        </p:txBody>
      </p:sp>
      <p:sp>
        <p:nvSpPr>
          <p:cNvPr id="25" name="Shape 20"/>
          <p:cNvSpPr/>
          <p:nvPr/>
        </p:nvSpPr>
        <p:spPr>
          <a:xfrm>
            <a:off x="5212080" y="2935224"/>
            <a:ext cx="1920240" cy="457200"/>
          </a:xfrm>
          <a:prstGeom prst="roundRect">
            <a:avLst>
              <a:gd name="adj" fmla="val 18000"/>
            </a:avLst>
          </a:prstGeom>
          <a:solidFill>
            <a:srgbClr val="FFFFFF"/>
          </a:solidFill>
          <a:ln w="12700">
            <a:solidFill>
              <a:srgbClr val="D6E3F5"/>
            </a:solidFill>
            <a:prstDash val="solid"/>
          </a:ln>
        </p:spPr>
      </p:sp>
      <p:sp>
        <p:nvSpPr>
          <p:cNvPr id="26" name="Text 21"/>
          <p:cNvSpPr/>
          <p:nvPr/>
        </p:nvSpPr>
        <p:spPr>
          <a:xfrm>
            <a:off x="5257800" y="2935224"/>
            <a:ext cx="1828800" cy="457200"/>
          </a:xfrm>
          <a:prstGeom prst="rect">
            <a:avLst/>
          </a:prstGeom>
          <a:noFill/>
          <a:ln/>
        </p:spPr>
        <p:txBody>
          <a:bodyPr wrap="square" lIns="0" tIns="0" rIns="0" bIns="0" rtlCol="0" anchor="ctr"/>
          <a:lstStyle/>
          <a:p>
            <a:pPr algn="ctr" indent="0" marL="0">
              <a:buNone/>
            </a:pPr>
            <a:r>
              <a:rPr lang="en-US" sz="1000" b="1" dirty="0">
                <a:solidFill>
                  <a:srgbClr val="1859C4"/>
                </a:solidFill>
                <a:latin typeface="Calibri" pitchFamily="34" charset="0"/>
                <a:ea typeface="Calibri" pitchFamily="34" charset="-122"/>
                <a:cs typeface="Calibri" pitchFamily="34" charset="-120"/>
              </a:rPr>
              <a:t>Map Transaction</a:t>
            </a:r>
            <a:endParaRPr lang="en-US" sz="1000" dirty="0"/>
          </a:p>
        </p:txBody>
      </p:sp>
      <p:sp>
        <p:nvSpPr>
          <p:cNvPr id="27" name="Shape 22"/>
          <p:cNvSpPr/>
          <p:nvPr/>
        </p:nvSpPr>
        <p:spPr>
          <a:xfrm>
            <a:off x="7269480" y="2935224"/>
            <a:ext cx="1920240" cy="457200"/>
          </a:xfrm>
          <a:prstGeom prst="roundRect">
            <a:avLst>
              <a:gd name="adj" fmla="val 18000"/>
            </a:avLst>
          </a:prstGeom>
          <a:solidFill>
            <a:srgbClr val="FFFFFF"/>
          </a:solidFill>
          <a:ln w="12700">
            <a:solidFill>
              <a:srgbClr val="D6E3F5"/>
            </a:solidFill>
            <a:prstDash val="solid"/>
          </a:ln>
        </p:spPr>
      </p:sp>
      <p:sp>
        <p:nvSpPr>
          <p:cNvPr id="28" name="Text 23"/>
          <p:cNvSpPr/>
          <p:nvPr/>
        </p:nvSpPr>
        <p:spPr>
          <a:xfrm>
            <a:off x="7315200" y="2935224"/>
            <a:ext cx="1828800" cy="457200"/>
          </a:xfrm>
          <a:prstGeom prst="rect">
            <a:avLst/>
          </a:prstGeom>
          <a:noFill/>
          <a:ln/>
        </p:spPr>
        <p:txBody>
          <a:bodyPr wrap="square" lIns="0" tIns="0" rIns="0" bIns="0" rtlCol="0" anchor="ctr"/>
          <a:lstStyle/>
          <a:p>
            <a:pPr algn="ctr" indent="0" marL="0">
              <a:buNone/>
            </a:pPr>
            <a:r>
              <a:rPr lang="en-US" sz="1000" b="1" dirty="0">
                <a:solidFill>
                  <a:srgbClr val="1859C4"/>
                </a:solidFill>
                <a:latin typeface="Calibri" pitchFamily="34" charset="0"/>
                <a:ea typeface="Calibri" pitchFamily="34" charset="-122"/>
                <a:cs typeface="Calibri" pitchFamily="34" charset="-120"/>
              </a:rPr>
              <a:t>Map User</a:t>
            </a:r>
            <a:endParaRPr lang="en-US" sz="1000" dirty="0"/>
          </a:p>
        </p:txBody>
      </p:sp>
      <p:sp>
        <p:nvSpPr>
          <p:cNvPr id="29" name="Shape 24"/>
          <p:cNvSpPr/>
          <p:nvPr/>
        </p:nvSpPr>
        <p:spPr>
          <a:xfrm>
            <a:off x="9326880" y="2935224"/>
            <a:ext cx="1920240" cy="457200"/>
          </a:xfrm>
          <a:prstGeom prst="roundRect">
            <a:avLst>
              <a:gd name="adj" fmla="val 18000"/>
            </a:avLst>
          </a:prstGeom>
          <a:solidFill>
            <a:srgbClr val="FFFFFF"/>
          </a:solidFill>
          <a:ln w="12700">
            <a:solidFill>
              <a:srgbClr val="D6E3F5"/>
            </a:solidFill>
            <a:prstDash val="solid"/>
          </a:ln>
        </p:spPr>
      </p:sp>
      <p:sp>
        <p:nvSpPr>
          <p:cNvPr id="30" name="Text 25"/>
          <p:cNvSpPr/>
          <p:nvPr/>
        </p:nvSpPr>
        <p:spPr>
          <a:xfrm>
            <a:off x="9372600" y="2935224"/>
            <a:ext cx="1828800" cy="457200"/>
          </a:xfrm>
          <a:prstGeom prst="rect">
            <a:avLst/>
          </a:prstGeom>
          <a:noFill/>
          <a:ln/>
        </p:spPr>
        <p:txBody>
          <a:bodyPr wrap="square" lIns="0" tIns="0" rIns="0" bIns="0" rtlCol="0" anchor="ctr"/>
          <a:lstStyle/>
          <a:p>
            <a:pPr algn="ctr" indent="0" marL="0">
              <a:buNone/>
            </a:pPr>
            <a:r>
              <a:rPr lang="en-US" sz="1000" b="1" dirty="0">
                <a:solidFill>
                  <a:srgbClr val="1859C4"/>
                </a:solidFill>
                <a:latin typeface="Calibri" pitchFamily="34" charset="0"/>
                <a:ea typeface="Calibri" pitchFamily="34" charset="-122"/>
                <a:cs typeface="Calibri" pitchFamily="34" charset="-120"/>
              </a:rPr>
              <a:t>Top Transaction</a:t>
            </a:r>
            <a:endParaRPr lang="en-US" sz="1000" dirty="0"/>
          </a:p>
        </p:txBody>
      </p:sp>
      <p:sp>
        <p:nvSpPr>
          <p:cNvPr id="31" name="Shape 26"/>
          <p:cNvSpPr/>
          <p:nvPr/>
        </p:nvSpPr>
        <p:spPr>
          <a:xfrm>
            <a:off x="5212080" y="3538728"/>
            <a:ext cx="1920240" cy="457200"/>
          </a:xfrm>
          <a:prstGeom prst="roundRect">
            <a:avLst>
              <a:gd name="adj" fmla="val 18000"/>
            </a:avLst>
          </a:prstGeom>
          <a:solidFill>
            <a:srgbClr val="FFFFFF"/>
          </a:solidFill>
          <a:ln w="12700">
            <a:solidFill>
              <a:srgbClr val="D6E3F5"/>
            </a:solidFill>
            <a:prstDash val="solid"/>
          </a:ln>
        </p:spPr>
      </p:sp>
      <p:sp>
        <p:nvSpPr>
          <p:cNvPr id="32" name="Text 27"/>
          <p:cNvSpPr/>
          <p:nvPr/>
        </p:nvSpPr>
        <p:spPr>
          <a:xfrm>
            <a:off x="5257800" y="3538728"/>
            <a:ext cx="1828800" cy="457200"/>
          </a:xfrm>
          <a:prstGeom prst="rect">
            <a:avLst/>
          </a:prstGeom>
          <a:noFill/>
          <a:ln/>
        </p:spPr>
        <p:txBody>
          <a:bodyPr wrap="square" lIns="0" tIns="0" rIns="0" bIns="0" rtlCol="0" anchor="ctr"/>
          <a:lstStyle/>
          <a:p>
            <a:pPr algn="ctr" indent="0" marL="0">
              <a:buNone/>
            </a:pPr>
            <a:r>
              <a:rPr lang="en-US" sz="1000" b="1" dirty="0">
                <a:solidFill>
                  <a:srgbClr val="1859C4"/>
                </a:solidFill>
                <a:latin typeface="Calibri" pitchFamily="34" charset="0"/>
                <a:ea typeface="Calibri" pitchFamily="34" charset="-122"/>
                <a:cs typeface="Calibri" pitchFamily="34" charset="-120"/>
              </a:rPr>
              <a:t>Top User</a:t>
            </a:r>
            <a:endParaRPr lang="en-US" sz="1000" dirty="0"/>
          </a:p>
        </p:txBody>
      </p:sp>
      <p:sp>
        <p:nvSpPr>
          <p:cNvPr id="33" name="Text 28"/>
          <p:cNvSpPr/>
          <p:nvPr/>
        </p:nvSpPr>
        <p:spPr>
          <a:xfrm>
            <a:off x="5212080" y="4462272"/>
            <a:ext cx="6172200" cy="320040"/>
          </a:xfrm>
          <a:prstGeom prst="rect">
            <a:avLst/>
          </a:prstGeom>
          <a:noFill/>
          <a:ln/>
        </p:spPr>
        <p:txBody>
          <a:bodyPr wrap="square" lIns="0" tIns="0" rIns="0" bIns="0" rtlCol="0" anchor="ctr"/>
          <a:lstStyle/>
          <a:p>
            <a:pPr indent="0" marL="0">
              <a:buNone/>
            </a:pPr>
            <a:r>
              <a:rPr lang="en-US" sz="1600" b="1" dirty="0">
                <a:solidFill>
                  <a:srgbClr val="0B3D91"/>
                </a:solidFill>
                <a:latin typeface="Cambria" pitchFamily="34" charset="0"/>
                <a:ea typeface="Cambria" pitchFamily="34" charset="-122"/>
                <a:cs typeface="Cambria" pitchFamily="34" charset="-120"/>
              </a:rPr>
              <a:t>Key Features Used</a:t>
            </a:r>
            <a:endParaRPr lang="en-US" sz="1600" dirty="0"/>
          </a:p>
        </p:txBody>
      </p:sp>
      <p:sp>
        <p:nvSpPr>
          <p:cNvPr id="34" name="Text 29"/>
          <p:cNvSpPr/>
          <p:nvPr/>
        </p:nvSpPr>
        <p:spPr>
          <a:xfrm>
            <a:off x="5212080" y="4828032"/>
            <a:ext cx="6172200" cy="1234440"/>
          </a:xfrm>
          <a:prstGeom prst="rect">
            <a:avLst/>
          </a:prstGeom>
          <a:noFill/>
          <a:ln/>
        </p:spPr>
        <p:txBody>
          <a:bodyPr wrap="square" lIns="0" tIns="0" rIns="0" bIns="0" rtlCol="0" anchor="t"/>
          <a:lstStyle/>
          <a:p>
            <a:pPr marL="342900" indent="-342900">
              <a:buSzPct val="100000"/>
              <a:buChar char="•"/>
            </a:pPr>
            <a:r>
              <a:rPr lang="en-US" sz="1100" dirty="0">
                <a:solidFill>
                  <a:srgbClr val="42506B"/>
                </a:solidFill>
                <a:latin typeface="Calibri" pitchFamily="34" charset="0"/>
                <a:ea typeface="Calibri" pitchFamily="34" charset="-122"/>
                <a:cs typeface="Calibri" pitchFamily="34" charset="-120"/>
              </a:rPr>
              <a:t>State</a:t>
            </a:r>
            <a:endParaRPr lang="en-US" sz="1100" dirty="0"/>
          </a:p>
          <a:p>
            <a:pPr marL="342900" indent="-342900">
              <a:buSzPct val="100000"/>
              <a:buChar char="•"/>
            </a:pPr>
            <a:r>
              <a:rPr lang="en-US" sz="1100" dirty="0">
                <a:solidFill>
                  <a:srgbClr val="42506B"/>
                </a:solidFill>
                <a:latin typeface="Calibri" pitchFamily="34" charset="0"/>
                <a:ea typeface="Calibri" pitchFamily="34" charset="-122"/>
                <a:cs typeface="Calibri" pitchFamily="34" charset="-120"/>
              </a:rPr>
              <a:t>District</a:t>
            </a:r>
            <a:endParaRPr lang="en-US" sz="1100" dirty="0"/>
          </a:p>
          <a:p>
            <a:pPr marL="342900" indent="-342900">
              <a:buSzPct val="100000"/>
              <a:buChar char="•"/>
            </a:pPr>
            <a:r>
              <a:rPr lang="en-US" sz="1100" dirty="0">
                <a:solidFill>
                  <a:srgbClr val="42506B"/>
                </a:solidFill>
                <a:latin typeface="Calibri" pitchFamily="34" charset="0"/>
                <a:ea typeface="Calibri" pitchFamily="34" charset="-122"/>
                <a:cs typeface="Calibri" pitchFamily="34" charset="-120"/>
              </a:rPr>
              <a:t>Pincode</a:t>
            </a:r>
            <a:endParaRPr lang="en-US" sz="1100" dirty="0"/>
          </a:p>
          <a:p>
            <a:pPr marL="342900" indent="-342900">
              <a:buSzPct val="100000"/>
              <a:buChar char="•"/>
            </a:pPr>
            <a:r>
              <a:rPr lang="en-US" sz="1100" dirty="0">
                <a:solidFill>
                  <a:srgbClr val="42506B"/>
                </a:solidFill>
                <a:latin typeface="Calibri" pitchFamily="34" charset="0"/>
                <a:ea typeface="Calibri" pitchFamily="34" charset="-122"/>
                <a:cs typeface="Calibri" pitchFamily="34" charset="-120"/>
              </a:rPr>
              <a:t>Year</a:t>
            </a:r>
            <a:endParaRPr lang="en-US" sz="1100" dirty="0"/>
          </a:p>
          <a:p>
            <a:pPr marL="342900" indent="-342900">
              <a:buSzPct val="100000"/>
              <a:buChar char="•"/>
            </a:pPr>
            <a:r>
              <a:rPr lang="en-US" sz="1100" dirty="0">
                <a:solidFill>
                  <a:srgbClr val="42506B"/>
                </a:solidFill>
                <a:latin typeface="Calibri" pitchFamily="34" charset="0"/>
                <a:ea typeface="Calibri" pitchFamily="34" charset="-122"/>
                <a:cs typeface="Calibri" pitchFamily="34" charset="-120"/>
              </a:rPr>
              <a:t>Quarter</a:t>
            </a:r>
            <a:endParaRPr lang="en-US" sz="1100" dirty="0"/>
          </a:p>
          <a:p>
            <a:pPr marL="342900" indent="-342900">
              <a:buSzPct val="100000"/>
              <a:buChar char="•"/>
            </a:pPr>
            <a:r>
              <a:rPr lang="en-US" sz="1100" dirty="0">
                <a:solidFill>
                  <a:srgbClr val="42506B"/>
                </a:solidFill>
                <a:latin typeface="Calibri" pitchFamily="34" charset="0"/>
                <a:ea typeface="Calibri" pitchFamily="34" charset="-122"/>
                <a:cs typeface="Calibri" pitchFamily="34" charset="-120"/>
              </a:rPr>
              <a:t>Transaction Amount</a:t>
            </a:r>
            <a:endParaRPr lang="en-US" sz="1100" dirty="0"/>
          </a:p>
          <a:p>
            <a:pPr marL="342900" indent="-342900">
              <a:buSzPct val="100000"/>
              <a:buChar char="•"/>
            </a:pPr>
            <a:r>
              <a:rPr lang="en-US" sz="1100" dirty="0">
                <a:solidFill>
                  <a:srgbClr val="42506B"/>
                </a:solidFill>
                <a:latin typeface="Calibri" pitchFamily="34" charset="0"/>
                <a:ea typeface="Calibri" pitchFamily="34" charset="-122"/>
                <a:cs typeface="Calibri" pitchFamily="34" charset="-120"/>
              </a:rPr>
              <a:t>Transaction Count</a:t>
            </a:r>
            <a:endParaRPr lang="en-US" sz="1100" dirty="0"/>
          </a:p>
          <a:p>
            <a:pPr marL="342900" indent="-342900">
              <a:buSzPct val="100000"/>
              <a:buChar char="•"/>
            </a:pPr>
            <a:r>
              <a:rPr lang="en-US" sz="1100" dirty="0">
                <a:solidFill>
                  <a:srgbClr val="42506B"/>
                </a:solidFill>
                <a:latin typeface="Calibri" pitchFamily="34" charset="0"/>
                <a:ea typeface="Calibri" pitchFamily="34" charset="-122"/>
                <a:cs typeface="Calibri" pitchFamily="34" charset="-120"/>
              </a:rPr>
              <a:t>Registered Users</a:t>
            </a:r>
            <a:endParaRPr lang="en-US" sz="1100" dirty="0"/>
          </a:p>
          <a:p>
            <a:pPr marL="342900" indent="-342900">
              <a:buSzPct val="100000"/>
              <a:buChar char="•"/>
            </a:pPr>
            <a:r>
              <a:rPr lang="en-US" sz="1100" dirty="0">
                <a:solidFill>
                  <a:srgbClr val="42506B"/>
                </a:solidFill>
                <a:latin typeface="Calibri" pitchFamily="34" charset="0"/>
                <a:ea typeface="Calibri" pitchFamily="34" charset="-122"/>
                <a:cs typeface="Calibri" pitchFamily="34" charset="-120"/>
              </a:rPr>
              <a:t>App Opens</a:t>
            </a:r>
            <a:endParaRPr lang="en-US" sz="1100" dirty="0"/>
          </a:p>
          <a:p>
            <a:pPr marL="342900" indent="-342900">
              <a:buSzPct val="100000"/>
              <a:buChar char="•"/>
            </a:pPr>
            <a:r>
              <a:rPr lang="en-US" sz="1100" dirty="0">
                <a:solidFill>
                  <a:srgbClr val="42506B"/>
                </a:solidFill>
                <a:latin typeface="Calibri" pitchFamily="34" charset="0"/>
                <a:ea typeface="Calibri" pitchFamily="34" charset="-122"/>
                <a:cs typeface="Calibri" pitchFamily="34" charset="-120"/>
              </a:rPr>
              <a:t>Mobile Brand</a:t>
            </a:r>
            <a:endParaRPr lang="en-US" sz="1100" dirty="0"/>
          </a:p>
        </p:txBody>
      </p:sp>
      <p:sp>
        <p:nvSpPr>
          <p:cNvPr id="35" name="Text 3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36" name="Text 3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OUR TOOLKIT</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Technologies Used</a:t>
            </a:r>
            <a:endParaRPr lang="en-US" sz="3000" dirty="0"/>
          </a:p>
        </p:txBody>
      </p:sp>
      <p:sp>
        <p:nvSpPr>
          <p:cNvPr id="4" name="Shape 2"/>
          <p:cNvSpPr/>
          <p:nvPr/>
        </p:nvSpPr>
        <p:spPr>
          <a:xfrm>
            <a:off x="609448" y="1691640"/>
            <a:ext cx="26060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5" name="Shape 3"/>
          <p:cNvSpPr/>
          <p:nvPr/>
        </p:nvSpPr>
        <p:spPr>
          <a:xfrm>
            <a:off x="1523848" y="1965960"/>
            <a:ext cx="777240" cy="777240"/>
          </a:xfrm>
          <a:prstGeom prst="ellipse">
            <a:avLst/>
          </a:prstGeom>
          <a:solidFill>
            <a:srgbClr val="0B3D91"/>
          </a:solidFill>
          <a:ln/>
        </p:spPr>
      </p:sp>
      <p:pic>
        <p:nvPicPr>
          <p:cNvPr id="6" name="Image 0" descr="icons/python.png">    </p:cNvPr>
          <p:cNvPicPr>
            <a:picLocks noChangeAspect="1"/>
          </p:cNvPicPr>
          <p:nvPr/>
        </p:nvPicPr>
        <p:blipFill>
          <a:blip r:embed="rId1"/>
          <a:stretch>
            <a:fillRect/>
          </a:stretch>
        </p:blipFill>
        <p:spPr>
          <a:xfrm>
            <a:off x="1710385" y="2152498"/>
            <a:ext cx="404165" cy="404165"/>
          </a:xfrm>
          <a:prstGeom prst="rect">
            <a:avLst/>
          </a:prstGeom>
        </p:spPr>
      </p:pic>
      <p:sp>
        <p:nvSpPr>
          <p:cNvPr id="7" name="Text 4"/>
          <p:cNvSpPr/>
          <p:nvPr/>
        </p:nvSpPr>
        <p:spPr>
          <a:xfrm>
            <a:off x="700888" y="2880360"/>
            <a:ext cx="2423160" cy="365760"/>
          </a:xfrm>
          <a:prstGeom prst="rect">
            <a:avLst/>
          </a:prstGeom>
          <a:noFill/>
          <a:ln/>
        </p:spPr>
        <p:txBody>
          <a:bodyPr wrap="square" lIns="0" tIns="0" rIns="0" bIns="0" rtlCol="0" anchor="ctr"/>
          <a:lstStyle/>
          <a:p>
            <a:pPr algn="ctr" indent="0" marL="0">
              <a:buNone/>
            </a:pPr>
            <a:r>
              <a:rPr lang="en-US" sz="1500" b="1" dirty="0">
                <a:solidFill>
                  <a:srgbClr val="0B3D91"/>
                </a:solidFill>
                <a:latin typeface="Cambria" pitchFamily="34" charset="0"/>
                <a:ea typeface="Cambria" pitchFamily="34" charset="-122"/>
                <a:cs typeface="Cambria" pitchFamily="34" charset="-120"/>
              </a:rPr>
              <a:t>Python</a:t>
            </a:r>
            <a:endParaRPr lang="en-US" sz="1500" dirty="0"/>
          </a:p>
        </p:txBody>
      </p:sp>
      <p:sp>
        <p:nvSpPr>
          <p:cNvPr id="8" name="Text 5"/>
          <p:cNvSpPr/>
          <p:nvPr/>
        </p:nvSpPr>
        <p:spPr>
          <a:xfrm>
            <a:off x="700888" y="3264408"/>
            <a:ext cx="2423160" cy="320040"/>
          </a:xfrm>
          <a:prstGeom prst="rect">
            <a:avLst/>
          </a:prstGeom>
          <a:noFill/>
          <a:ln/>
        </p:spPr>
        <p:txBody>
          <a:bodyPr wrap="square" lIns="0" tIns="0" rIns="0" bIns="0" rtlCol="0" anchor="ctr"/>
          <a:lstStyle/>
          <a:p>
            <a:pPr algn="ctr" indent="0" marL="0">
              <a:buNone/>
            </a:pPr>
            <a:r>
              <a:rPr lang="en-US" sz="1050" dirty="0">
                <a:solidFill>
                  <a:srgbClr val="6B7A99"/>
                </a:solidFill>
                <a:latin typeface="Calibri" pitchFamily="34" charset="0"/>
                <a:ea typeface="Calibri" pitchFamily="34" charset="-122"/>
                <a:cs typeface="Calibri" pitchFamily="34" charset="-120"/>
              </a:rPr>
              <a:t>Core Language</a:t>
            </a:r>
            <a:endParaRPr lang="en-US" sz="1050" dirty="0"/>
          </a:p>
        </p:txBody>
      </p:sp>
      <p:sp>
        <p:nvSpPr>
          <p:cNvPr id="9" name="Shape 6"/>
          <p:cNvSpPr/>
          <p:nvPr/>
        </p:nvSpPr>
        <p:spPr>
          <a:xfrm>
            <a:off x="3398368" y="1691640"/>
            <a:ext cx="26060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10" name="Shape 7"/>
          <p:cNvSpPr/>
          <p:nvPr/>
        </p:nvSpPr>
        <p:spPr>
          <a:xfrm>
            <a:off x="4312768" y="1965960"/>
            <a:ext cx="777240" cy="777240"/>
          </a:xfrm>
          <a:prstGeom prst="ellipse">
            <a:avLst/>
          </a:prstGeom>
          <a:solidFill>
            <a:srgbClr val="0B3D91"/>
          </a:solidFill>
          <a:ln/>
        </p:spPr>
      </p:sp>
      <p:pic>
        <p:nvPicPr>
          <p:cNvPr id="11" name="Image 1" descr="icons/pandas.png">    </p:cNvPr>
          <p:cNvPicPr>
            <a:picLocks noChangeAspect="1"/>
          </p:cNvPicPr>
          <p:nvPr/>
        </p:nvPicPr>
        <p:blipFill>
          <a:blip r:embed="rId2"/>
          <a:stretch>
            <a:fillRect/>
          </a:stretch>
        </p:blipFill>
        <p:spPr>
          <a:xfrm>
            <a:off x="4499305" y="2152498"/>
            <a:ext cx="404165" cy="404165"/>
          </a:xfrm>
          <a:prstGeom prst="rect">
            <a:avLst/>
          </a:prstGeom>
        </p:spPr>
      </p:pic>
      <p:sp>
        <p:nvSpPr>
          <p:cNvPr id="12" name="Text 8"/>
          <p:cNvSpPr/>
          <p:nvPr/>
        </p:nvSpPr>
        <p:spPr>
          <a:xfrm>
            <a:off x="3489808" y="2880360"/>
            <a:ext cx="2423160" cy="365760"/>
          </a:xfrm>
          <a:prstGeom prst="rect">
            <a:avLst/>
          </a:prstGeom>
          <a:noFill/>
          <a:ln/>
        </p:spPr>
        <p:txBody>
          <a:bodyPr wrap="square" lIns="0" tIns="0" rIns="0" bIns="0" rtlCol="0" anchor="ctr"/>
          <a:lstStyle/>
          <a:p>
            <a:pPr algn="ctr" indent="0" marL="0">
              <a:buNone/>
            </a:pPr>
            <a:r>
              <a:rPr lang="en-US" sz="1500" b="1" dirty="0">
                <a:solidFill>
                  <a:srgbClr val="0B3D91"/>
                </a:solidFill>
                <a:latin typeface="Cambria" pitchFamily="34" charset="0"/>
                <a:ea typeface="Cambria" pitchFamily="34" charset="-122"/>
                <a:cs typeface="Cambria" pitchFamily="34" charset="-120"/>
              </a:rPr>
              <a:t>Pandas</a:t>
            </a:r>
            <a:endParaRPr lang="en-US" sz="1500" dirty="0"/>
          </a:p>
        </p:txBody>
      </p:sp>
      <p:sp>
        <p:nvSpPr>
          <p:cNvPr id="13" name="Text 9"/>
          <p:cNvSpPr/>
          <p:nvPr/>
        </p:nvSpPr>
        <p:spPr>
          <a:xfrm>
            <a:off x="3489808" y="3264408"/>
            <a:ext cx="2423160" cy="320040"/>
          </a:xfrm>
          <a:prstGeom prst="rect">
            <a:avLst/>
          </a:prstGeom>
          <a:noFill/>
          <a:ln/>
        </p:spPr>
        <p:txBody>
          <a:bodyPr wrap="square" lIns="0" tIns="0" rIns="0" bIns="0" rtlCol="0" anchor="ctr"/>
          <a:lstStyle/>
          <a:p>
            <a:pPr algn="ctr" indent="0" marL="0">
              <a:buNone/>
            </a:pPr>
            <a:r>
              <a:rPr lang="en-US" sz="1050" dirty="0">
                <a:solidFill>
                  <a:srgbClr val="6B7A99"/>
                </a:solidFill>
                <a:latin typeface="Calibri" pitchFamily="34" charset="0"/>
                <a:ea typeface="Calibri" pitchFamily="34" charset="-122"/>
                <a:cs typeface="Calibri" pitchFamily="34" charset="-120"/>
              </a:rPr>
              <a:t>Data Wrangling</a:t>
            </a:r>
            <a:endParaRPr lang="en-US" sz="1050" dirty="0"/>
          </a:p>
        </p:txBody>
      </p:sp>
      <p:sp>
        <p:nvSpPr>
          <p:cNvPr id="14" name="Shape 10"/>
          <p:cNvSpPr/>
          <p:nvPr/>
        </p:nvSpPr>
        <p:spPr>
          <a:xfrm>
            <a:off x="6187288" y="1691640"/>
            <a:ext cx="26060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15" name="Shape 11"/>
          <p:cNvSpPr/>
          <p:nvPr/>
        </p:nvSpPr>
        <p:spPr>
          <a:xfrm>
            <a:off x="7101688" y="1965960"/>
            <a:ext cx="777240" cy="777240"/>
          </a:xfrm>
          <a:prstGeom prst="ellipse">
            <a:avLst/>
          </a:prstGeom>
          <a:solidFill>
            <a:srgbClr val="0B3D91"/>
          </a:solidFill>
          <a:ln/>
        </p:spPr>
      </p:sp>
      <p:pic>
        <p:nvPicPr>
          <p:cNvPr id="16" name="Image 2" descr="icons/numpy.png">    </p:cNvPr>
          <p:cNvPicPr>
            <a:picLocks noChangeAspect="1"/>
          </p:cNvPicPr>
          <p:nvPr/>
        </p:nvPicPr>
        <p:blipFill>
          <a:blip r:embed="rId3"/>
          <a:stretch>
            <a:fillRect/>
          </a:stretch>
        </p:blipFill>
        <p:spPr>
          <a:xfrm>
            <a:off x="7288225" y="2152498"/>
            <a:ext cx="404165" cy="404165"/>
          </a:xfrm>
          <a:prstGeom prst="rect">
            <a:avLst/>
          </a:prstGeom>
        </p:spPr>
      </p:pic>
      <p:sp>
        <p:nvSpPr>
          <p:cNvPr id="17" name="Text 12"/>
          <p:cNvSpPr/>
          <p:nvPr/>
        </p:nvSpPr>
        <p:spPr>
          <a:xfrm>
            <a:off x="6278728" y="2880360"/>
            <a:ext cx="2423160" cy="365760"/>
          </a:xfrm>
          <a:prstGeom prst="rect">
            <a:avLst/>
          </a:prstGeom>
          <a:noFill/>
          <a:ln/>
        </p:spPr>
        <p:txBody>
          <a:bodyPr wrap="square" lIns="0" tIns="0" rIns="0" bIns="0" rtlCol="0" anchor="ctr"/>
          <a:lstStyle/>
          <a:p>
            <a:pPr algn="ctr" indent="0" marL="0">
              <a:buNone/>
            </a:pPr>
            <a:r>
              <a:rPr lang="en-US" sz="1500" b="1" dirty="0">
                <a:solidFill>
                  <a:srgbClr val="0B3D91"/>
                </a:solidFill>
                <a:latin typeface="Cambria" pitchFamily="34" charset="0"/>
                <a:ea typeface="Cambria" pitchFamily="34" charset="-122"/>
                <a:cs typeface="Cambria" pitchFamily="34" charset="-120"/>
              </a:rPr>
              <a:t>NumPy</a:t>
            </a:r>
            <a:endParaRPr lang="en-US" sz="1500" dirty="0"/>
          </a:p>
        </p:txBody>
      </p:sp>
      <p:sp>
        <p:nvSpPr>
          <p:cNvPr id="18" name="Text 13"/>
          <p:cNvSpPr/>
          <p:nvPr/>
        </p:nvSpPr>
        <p:spPr>
          <a:xfrm>
            <a:off x="6278728" y="3264408"/>
            <a:ext cx="2423160" cy="320040"/>
          </a:xfrm>
          <a:prstGeom prst="rect">
            <a:avLst/>
          </a:prstGeom>
          <a:noFill/>
          <a:ln/>
        </p:spPr>
        <p:txBody>
          <a:bodyPr wrap="square" lIns="0" tIns="0" rIns="0" bIns="0" rtlCol="0" anchor="ctr"/>
          <a:lstStyle/>
          <a:p>
            <a:pPr algn="ctr" indent="0" marL="0">
              <a:buNone/>
            </a:pPr>
            <a:r>
              <a:rPr lang="en-US" sz="1050" dirty="0">
                <a:solidFill>
                  <a:srgbClr val="6B7A99"/>
                </a:solidFill>
                <a:latin typeface="Calibri" pitchFamily="34" charset="0"/>
                <a:ea typeface="Calibri" pitchFamily="34" charset="-122"/>
                <a:cs typeface="Calibri" pitchFamily="34" charset="-120"/>
              </a:rPr>
              <a:t>Numerical Computing</a:t>
            </a:r>
            <a:endParaRPr lang="en-US" sz="1050" dirty="0"/>
          </a:p>
        </p:txBody>
      </p:sp>
      <p:sp>
        <p:nvSpPr>
          <p:cNvPr id="19" name="Shape 14"/>
          <p:cNvSpPr/>
          <p:nvPr/>
        </p:nvSpPr>
        <p:spPr>
          <a:xfrm>
            <a:off x="8976208" y="1691640"/>
            <a:ext cx="26060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20" name="Shape 15"/>
          <p:cNvSpPr/>
          <p:nvPr/>
        </p:nvSpPr>
        <p:spPr>
          <a:xfrm>
            <a:off x="9890608" y="1965960"/>
            <a:ext cx="777240" cy="777240"/>
          </a:xfrm>
          <a:prstGeom prst="ellipse">
            <a:avLst/>
          </a:prstGeom>
          <a:solidFill>
            <a:srgbClr val="0B3D91"/>
          </a:solidFill>
          <a:ln/>
        </p:spPr>
      </p:sp>
      <p:pic>
        <p:nvPicPr>
          <p:cNvPr id="21" name="Image 3" descr="icons/matplotlib.png">    </p:cNvPr>
          <p:cNvPicPr>
            <a:picLocks noChangeAspect="1"/>
          </p:cNvPicPr>
          <p:nvPr/>
        </p:nvPicPr>
        <p:blipFill>
          <a:blip r:embed="rId4"/>
          <a:stretch>
            <a:fillRect/>
          </a:stretch>
        </p:blipFill>
        <p:spPr>
          <a:xfrm>
            <a:off x="10077145" y="2152498"/>
            <a:ext cx="404165" cy="404165"/>
          </a:xfrm>
          <a:prstGeom prst="rect">
            <a:avLst/>
          </a:prstGeom>
        </p:spPr>
      </p:pic>
      <p:sp>
        <p:nvSpPr>
          <p:cNvPr id="22" name="Text 16"/>
          <p:cNvSpPr/>
          <p:nvPr/>
        </p:nvSpPr>
        <p:spPr>
          <a:xfrm>
            <a:off x="9067648" y="2880360"/>
            <a:ext cx="2423160" cy="365760"/>
          </a:xfrm>
          <a:prstGeom prst="rect">
            <a:avLst/>
          </a:prstGeom>
          <a:noFill/>
          <a:ln/>
        </p:spPr>
        <p:txBody>
          <a:bodyPr wrap="square" lIns="0" tIns="0" rIns="0" bIns="0" rtlCol="0" anchor="ctr"/>
          <a:lstStyle/>
          <a:p>
            <a:pPr algn="ctr" indent="0" marL="0">
              <a:buNone/>
            </a:pPr>
            <a:r>
              <a:rPr lang="en-US" sz="1500" b="1" dirty="0">
                <a:solidFill>
                  <a:srgbClr val="0B3D91"/>
                </a:solidFill>
                <a:latin typeface="Cambria" pitchFamily="34" charset="0"/>
                <a:ea typeface="Cambria" pitchFamily="34" charset="-122"/>
                <a:cs typeface="Cambria" pitchFamily="34" charset="-120"/>
              </a:rPr>
              <a:t>Matplotlib</a:t>
            </a:r>
            <a:endParaRPr lang="en-US" sz="1500" dirty="0"/>
          </a:p>
        </p:txBody>
      </p:sp>
      <p:sp>
        <p:nvSpPr>
          <p:cNvPr id="23" name="Text 17"/>
          <p:cNvSpPr/>
          <p:nvPr/>
        </p:nvSpPr>
        <p:spPr>
          <a:xfrm>
            <a:off x="9067648" y="3264408"/>
            <a:ext cx="2423160" cy="320040"/>
          </a:xfrm>
          <a:prstGeom prst="rect">
            <a:avLst/>
          </a:prstGeom>
          <a:noFill/>
          <a:ln/>
        </p:spPr>
        <p:txBody>
          <a:bodyPr wrap="square" lIns="0" tIns="0" rIns="0" bIns="0" rtlCol="0" anchor="ctr"/>
          <a:lstStyle/>
          <a:p>
            <a:pPr algn="ctr" indent="0" marL="0">
              <a:buNone/>
            </a:pPr>
            <a:r>
              <a:rPr lang="en-US" sz="1050" dirty="0">
                <a:solidFill>
                  <a:srgbClr val="6B7A99"/>
                </a:solidFill>
                <a:latin typeface="Calibri" pitchFamily="34" charset="0"/>
                <a:ea typeface="Calibri" pitchFamily="34" charset="-122"/>
                <a:cs typeface="Calibri" pitchFamily="34" charset="-120"/>
              </a:rPr>
              <a:t>Static Visuals</a:t>
            </a:r>
            <a:endParaRPr lang="en-US" sz="1050" dirty="0"/>
          </a:p>
        </p:txBody>
      </p:sp>
      <p:sp>
        <p:nvSpPr>
          <p:cNvPr id="24" name="Shape 18"/>
          <p:cNvSpPr/>
          <p:nvPr/>
        </p:nvSpPr>
        <p:spPr>
          <a:xfrm>
            <a:off x="609448" y="4069080"/>
            <a:ext cx="26060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25" name="Shape 19"/>
          <p:cNvSpPr/>
          <p:nvPr/>
        </p:nvSpPr>
        <p:spPr>
          <a:xfrm>
            <a:off x="1523848" y="4343400"/>
            <a:ext cx="777240" cy="777240"/>
          </a:xfrm>
          <a:prstGeom prst="ellipse">
            <a:avLst/>
          </a:prstGeom>
          <a:solidFill>
            <a:srgbClr val="0B3D91"/>
          </a:solidFill>
          <a:ln/>
        </p:spPr>
      </p:sp>
      <p:pic>
        <p:nvPicPr>
          <p:cNvPr id="26" name="Image 4" descr="icons/plotly.png">    </p:cNvPr>
          <p:cNvPicPr>
            <a:picLocks noChangeAspect="1"/>
          </p:cNvPicPr>
          <p:nvPr/>
        </p:nvPicPr>
        <p:blipFill>
          <a:blip r:embed="rId5"/>
          <a:stretch>
            <a:fillRect/>
          </a:stretch>
        </p:blipFill>
        <p:spPr>
          <a:xfrm>
            <a:off x="1710385" y="4529938"/>
            <a:ext cx="404165" cy="404165"/>
          </a:xfrm>
          <a:prstGeom prst="rect">
            <a:avLst/>
          </a:prstGeom>
        </p:spPr>
      </p:pic>
      <p:sp>
        <p:nvSpPr>
          <p:cNvPr id="27" name="Text 20"/>
          <p:cNvSpPr/>
          <p:nvPr/>
        </p:nvSpPr>
        <p:spPr>
          <a:xfrm>
            <a:off x="700888" y="5257800"/>
            <a:ext cx="2423160" cy="365760"/>
          </a:xfrm>
          <a:prstGeom prst="rect">
            <a:avLst/>
          </a:prstGeom>
          <a:noFill/>
          <a:ln/>
        </p:spPr>
        <p:txBody>
          <a:bodyPr wrap="square" lIns="0" tIns="0" rIns="0" bIns="0" rtlCol="0" anchor="ctr"/>
          <a:lstStyle/>
          <a:p>
            <a:pPr algn="ctr" indent="0" marL="0">
              <a:buNone/>
            </a:pPr>
            <a:r>
              <a:rPr lang="en-US" sz="1500" b="1" dirty="0">
                <a:solidFill>
                  <a:srgbClr val="0B3D91"/>
                </a:solidFill>
                <a:latin typeface="Cambria" pitchFamily="34" charset="0"/>
                <a:ea typeface="Cambria" pitchFamily="34" charset="-122"/>
                <a:cs typeface="Cambria" pitchFamily="34" charset="-120"/>
              </a:rPr>
              <a:t>Plotly</a:t>
            </a:r>
            <a:endParaRPr lang="en-US" sz="1500" dirty="0"/>
          </a:p>
        </p:txBody>
      </p:sp>
      <p:sp>
        <p:nvSpPr>
          <p:cNvPr id="28" name="Text 21"/>
          <p:cNvSpPr/>
          <p:nvPr/>
        </p:nvSpPr>
        <p:spPr>
          <a:xfrm>
            <a:off x="700888" y="5641848"/>
            <a:ext cx="2423160" cy="320040"/>
          </a:xfrm>
          <a:prstGeom prst="rect">
            <a:avLst/>
          </a:prstGeom>
          <a:noFill/>
          <a:ln/>
        </p:spPr>
        <p:txBody>
          <a:bodyPr wrap="square" lIns="0" tIns="0" rIns="0" bIns="0" rtlCol="0" anchor="ctr"/>
          <a:lstStyle/>
          <a:p>
            <a:pPr algn="ctr" indent="0" marL="0">
              <a:buNone/>
            </a:pPr>
            <a:r>
              <a:rPr lang="en-US" sz="1050" dirty="0">
                <a:solidFill>
                  <a:srgbClr val="6B7A99"/>
                </a:solidFill>
                <a:latin typeface="Calibri" pitchFamily="34" charset="0"/>
                <a:ea typeface="Calibri" pitchFamily="34" charset="-122"/>
                <a:cs typeface="Calibri" pitchFamily="34" charset="-120"/>
              </a:rPr>
              <a:t>Interactive Charts</a:t>
            </a:r>
            <a:endParaRPr lang="en-US" sz="1050" dirty="0"/>
          </a:p>
        </p:txBody>
      </p:sp>
      <p:sp>
        <p:nvSpPr>
          <p:cNvPr id="29" name="Shape 22"/>
          <p:cNvSpPr/>
          <p:nvPr/>
        </p:nvSpPr>
        <p:spPr>
          <a:xfrm>
            <a:off x="3398368" y="4069080"/>
            <a:ext cx="26060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30" name="Shape 23"/>
          <p:cNvSpPr/>
          <p:nvPr/>
        </p:nvSpPr>
        <p:spPr>
          <a:xfrm>
            <a:off x="4312768" y="4343400"/>
            <a:ext cx="777240" cy="777240"/>
          </a:xfrm>
          <a:prstGeom prst="ellipse">
            <a:avLst/>
          </a:prstGeom>
          <a:solidFill>
            <a:srgbClr val="0B3D91"/>
          </a:solidFill>
          <a:ln/>
        </p:spPr>
      </p:sp>
      <p:pic>
        <p:nvPicPr>
          <p:cNvPr id="31" name="Image 5" descr="icons/squarify.png">    </p:cNvPr>
          <p:cNvPicPr>
            <a:picLocks noChangeAspect="1"/>
          </p:cNvPicPr>
          <p:nvPr/>
        </p:nvPicPr>
        <p:blipFill>
          <a:blip r:embed="rId6"/>
          <a:stretch>
            <a:fillRect/>
          </a:stretch>
        </p:blipFill>
        <p:spPr>
          <a:xfrm>
            <a:off x="4499305" y="4529938"/>
            <a:ext cx="404165" cy="404165"/>
          </a:xfrm>
          <a:prstGeom prst="rect">
            <a:avLst/>
          </a:prstGeom>
        </p:spPr>
      </p:pic>
      <p:sp>
        <p:nvSpPr>
          <p:cNvPr id="32" name="Text 24"/>
          <p:cNvSpPr/>
          <p:nvPr/>
        </p:nvSpPr>
        <p:spPr>
          <a:xfrm>
            <a:off x="3489808" y="5257800"/>
            <a:ext cx="2423160" cy="365760"/>
          </a:xfrm>
          <a:prstGeom prst="rect">
            <a:avLst/>
          </a:prstGeom>
          <a:noFill/>
          <a:ln/>
        </p:spPr>
        <p:txBody>
          <a:bodyPr wrap="square" lIns="0" tIns="0" rIns="0" bIns="0" rtlCol="0" anchor="ctr"/>
          <a:lstStyle/>
          <a:p>
            <a:pPr algn="ctr" indent="0" marL="0">
              <a:buNone/>
            </a:pPr>
            <a:r>
              <a:rPr lang="en-US" sz="1500" b="1" dirty="0">
                <a:solidFill>
                  <a:srgbClr val="0B3D91"/>
                </a:solidFill>
                <a:latin typeface="Cambria" pitchFamily="34" charset="0"/>
                <a:ea typeface="Cambria" pitchFamily="34" charset="-122"/>
                <a:cs typeface="Cambria" pitchFamily="34" charset="-120"/>
              </a:rPr>
              <a:t>Squarify</a:t>
            </a:r>
            <a:endParaRPr lang="en-US" sz="1500" dirty="0"/>
          </a:p>
        </p:txBody>
      </p:sp>
      <p:sp>
        <p:nvSpPr>
          <p:cNvPr id="33" name="Text 25"/>
          <p:cNvSpPr/>
          <p:nvPr/>
        </p:nvSpPr>
        <p:spPr>
          <a:xfrm>
            <a:off x="3489808" y="5641848"/>
            <a:ext cx="2423160" cy="320040"/>
          </a:xfrm>
          <a:prstGeom prst="rect">
            <a:avLst/>
          </a:prstGeom>
          <a:noFill/>
          <a:ln/>
        </p:spPr>
        <p:txBody>
          <a:bodyPr wrap="square" lIns="0" tIns="0" rIns="0" bIns="0" rtlCol="0" anchor="ctr"/>
          <a:lstStyle/>
          <a:p>
            <a:pPr algn="ctr" indent="0" marL="0">
              <a:buNone/>
            </a:pPr>
            <a:r>
              <a:rPr lang="en-US" sz="1050" dirty="0">
                <a:solidFill>
                  <a:srgbClr val="6B7A99"/>
                </a:solidFill>
                <a:latin typeface="Calibri" pitchFamily="34" charset="0"/>
                <a:ea typeface="Calibri" pitchFamily="34" charset="-122"/>
                <a:cs typeface="Calibri" pitchFamily="34" charset="-120"/>
              </a:rPr>
              <a:t>Treemap Plots</a:t>
            </a:r>
            <a:endParaRPr lang="en-US" sz="1050" dirty="0"/>
          </a:p>
        </p:txBody>
      </p:sp>
      <p:sp>
        <p:nvSpPr>
          <p:cNvPr id="34" name="Shape 26"/>
          <p:cNvSpPr/>
          <p:nvPr/>
        </p:nvSpPr>
        <p:spPr>
          <a:xfrm>
            <a:off x="6187288" y="4069080"/>
            <a:ext cx="26060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35" name="Shape 27"/>
          <p:cNvSpPr/>
          <p:nvPr/>
        </p:nvSpPr>
        <p:spPr>
          <a:xfrm>
            <a:off x="7101688" y="4343400"/>
            <a:ext cx="777240" cy="777240"/>
          </a:xfrm>
          <a:prstGeom prst="ellipse">
            <a:avLst/>
          </a:prstGeom>
          <a:solidFill>
            <a:srgbClr val="0B3D91"/>
          </a:solidFill>
          <a:ln/>
        </p:spPr>
      </p:sp>
      <p:pic>
        <p:nvPicPr>
          <p:cNvPr id="36" name="Image 6" descr="icons/jupyter.png">    </p:cNvPr>
          <p:cNvPicPr>
            <a:picLocks noChangeAspect="1"/>
          </p:cNvPicPr>
          <p:nvPr/>
        </p:nvPicPr>
        <p:blipFill>
          <a:blip r:embed="rId7"/>
          <a:stretch>
            <a:fillRect/>
          </a:stretch>
        </p:blipFill>
        <p:spPr>
          <a:xfrm>
            <a:off x="7288225" y="4529938"/>
            <a:ext cx="404165" cy="404165"/>
          </a:xfrm>
          <a:prstGeom prst="rect">
            <a:avLst/>
          </a:prstGeom>
        </p:spPr>
      </p:pic>
      <p:sp>
        <p:nvSpPr>
          <p:cNvPr id="37" name="Text 28"/>
          <p:cNvSpPr/>
          <p:nvPr/>
        </p:nvSpPr>
        <p:spPr>
          <a:xfrm>
            <a:off x="6278728" y="5257800"/>
            <a:ext cx="2423160" cy="365760"/>
          </a:xfrm>
          <a:prstGeom prst="rect">
            <a:avLst/>
          </a:prstGeom>
          <a:noFill/>
          <a:ln/>
        </p:spPr>
        <p:txBody>
          <a:bodyPr wrap="square" lIns="0" tIns="0" rIns="0" bIns="0" rtlCol="0" anchor="ctr"/>
          <a:lstStyle/>
          <a:p>
            <a:pPr algn="ctr" indent="0" marL="0">
              <a:buNone/>
            </a:pPr>
            <a:r>
              <a:rPr lang="en-US" sz="1500" b="1" dirty="0">
                <a:solidFill>
                  <a:srgbClr val="0B3D91"/>
                </a:solidFill>
                <a:latin typeface="Cambria" pitchFamily="34" charset="0"/>
                <a:ea typeface="Cambria" pitchFamily="34" charset="-122"/>
                <a:cs typeface="Cambria" pitchFamily="34" charset="-120"/>
              </a:rPr>
              <a:t>Jupyter Notebook</a:t>
            </a:r>
            <a:endParaRPr lang="en-US" sz="1500" dirty="0"/>
          </a:p>
        </p:txBody>
      </p:sp>
      <p:sp>
        <p:nvSpPr>
          <p:cNvPr id="38" name="Text 29"/>
          <p:cNvSpPr/>
          <p:nvPr/>
        </p:nvSpPr>
        <p:spPr>
          <a:xfrm>
            <a:off x="6278728" y="5641848"/>
            <a:ext cx="2423160" cy="320040"/>
          </a:xfrm>
          <a:prstGeom prst="rect">
            <a:avLst/>
          </a:prstGeom>
          <a:noFill/>
          <a:ln/>
        </p:spPr>
        <p:txBody>
          <a:bodyPr wrap="square" lIns="0" tIns="0" rIns="0" bIns="0" rtlCol="0" anchor="ctr"/>
          <a:lstStyle/>
          <a:p>
            <a:pPr algn="ctr" indent="0" marL="0">
              <a:buNone/>
            </a:pPr>
            <a:r>
              <a:rPr lang="en-US" sz="1050" dirty="0">
                <a:solidFill>
                  <a:srgbClr val="6B7A99"/>
                </a:solidFill>
                <a:latin typeface="Calibri" pitchFamily="34" charset="0"/>
                <a:ea typeface="Calibri" pitchFamily="34" charset="-122"/>
                <a:cs typeface="Calibri" pitchFamily="34" charset="-120"/>
              </a:rPr>
              <a:t>Development IDE</a:t>
            </a:r>
            <a:endParaRPr lang="en-US" sz="1050" dirty="0"/>
          </a:p>
        </p:txBody>
      </p:sp>
      <p:sp>
        <p:nvSpPr>
          <p:cNvPr id="39" name="Text 3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40" name="Text 3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FROM RAW DATA TO INSIGHT</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Project Workflow</a:t>
            </a:r>
            <a:endParaRPr lang="en-US" sz="3000" dirty="0"/>
          </a:p>
        </p:txBody>
      </p:sp>
      <p:sp>
        <p:nvSpPr>
          <p:cNvPr id="4" name="Shape 2"/>
          <p:cNvSpPr/>
          <p:nvPr/>
        </p:nvSpPr>
        <p:spPr>
          <a:xfrm>
            <a:off x="1075792" y="3360420"/>
            <a:ext cx="10040112" cy="0"/>
          </a:xfrm>
          <a:prstGeom prst="line">
            <a:avLst/>
          </a:prstGeom>
          <a:noFill/>
          <a:ln w="31750">
            <a:solidFill>
              <a:srgbClr val="C7D9F2"/>
            </a:solidFill>
            <a:prstDash val="solid"/>
          </a:ln>
        </p:spPr>
      </p:sp>
      <p:sp>
        <p:nvSpPr>
          <p:cNvPr id="5" name="Shape 3"/>
          <p:cNvSpPr/>
          <p:nvPr/>
        </p:nvSpPr>
        <p:spPr>
          <a:xfrm>
            <a:off x="367132" y="2651760"/>
            <a:ext cx="1417320" cy="1417320"/>
          </a:xfrm>
          <a:prstGeom prst="ellipse">
            <a:avLst/>
          </a:prstGeom>
          <a:solidFill>
            <a:srgbClr val="0B3D91"/>
          </a:solidFill>
          <a:ln w="38100">
            <a:solidFill>
              <a:srgbClr val="FFFFFF"/>
            </a:solidFill>
            <a:prstDash val="solid"/>
          </a:ln>
        </p:spPr>
      </p:sp>
      <p:pic>
        <p:nvPicPr>
          <p:cNvPr id="6" name="Image 0" descr="icons/database_w.png">    </p:cNvPr>
          <p:cNvPicPr>
            <a:picLocks noChangeAspect="1"/>
          </p:cNvPicPr>
          <p:nvPr/>
        </p:nvPicPr>
        <p:blipFill>
          <a:blip r:embed="rId1"/>
          <a:stretch>
            <a:fillRect/>
          </a:stretch>
        </p:blipFill>
        <p:spPr>
          <a:xfrm>
            <a:off x="801472" y="3040380"/>
            <a:ext cx="548640" cy="548640"/>
          </a:xfrm>
          <a:prstGeom prst="rect">
            <a:avLst/>
          </a:prstGeom>
        </p:spPr>
      </p:pic>
      <p:sp>
        <p:nvSpPr>
          <p:cNvPr id="7" name="Shape 4"/>
          <p:cNvSpPr/>
          <p:nvPr/>
        </p:nvSpPr>
        <p:spPr>
          <a:xfrm>
            <a:off x="1455268" y="2542032"/>
            <a:ext cx="310896" cy="310896"/>
          </a:xfrm>
          <a:prstGeom prst="ellipse">
            <a:avLst/>
          </a:prstGeom>
          <a:solidFill>
            <a:srgbClr val="00B4D8"/>
          </a:solidFill>
          <a:ln w="19050">
            <a:solidFill>
              <a:srgbClr val="FFFFFF"/>
            </a:solidFill>
            <a:prstDash val="solid"/>
          </a:ln>
        </p:spPr>
      </p:sp>
      <p:sp>
        <p:nvSpPr>
          <p:cNvPr id="8" name="Text 5"/>
          <p:cNvSpPr/>
          <p:nvPr/>
        </p:nvSpPr>
        <p:spPr>
          <a:xfrm>
            <a:off x="1455268" y="2542032"/>
            <a:ext cx="310896" cy="310896"/>
          </a:xfrm>
          <a:prstGeom prst="rect">
            <a:avLst/>
          </a:prstGeom>
          <a:noFill/>
          <a:ln/>
        </p:spPr>
        <p:txBody>
          <a:bodyPr wrap="square" lIns="0" tIns="0" rIns="0" bIns="0" rtlCol="0" anchor="ctr"/>
          <a:lstStyle/>
          <a:p>
            <a:pPr algn="ctr" indent="0" marL="0">
              <a:buNone/>
            </a:pPr>
            <a:r>
              <a:rPr lang="en-US" sz="1100" b="1" dirty="0">
                <a:solidFill>
                  <a:srgbClr val="0B3D91"/>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138532" y="4233672"/>
            <a:ext cx="1874520" cy="640080"/>
          </a:xfrm>
          <a:prstGeom prst="rect">
            <a:avLst/>
          </a:prstGeom>
          <a:noFill/>
          <a:ln/>
        </p:spPr>
        <p:txBody>
          <a:bodyPr wrap="square" lIns="0" tIns="0" rIns="0" bIns="0" rtlCol="0" anchor="t"/>
          <a:lstStyle/>
          <a:p>
            <a:pPr algn="ctr" indent="0" marL="0">
              <a:buNone/>
            </a:pPr>
            <a:r>
              <a:rPr lang="en-US" sz="1050" b="1" dirty="0">
                <a:solidFill>
                  <a:srgbClr val="0B3D91"/>
                </a:solidFill>
                <a:latin typeface="Calibri" pitchFamily="34" charset="0"/>
                <a:ea typeface="Calibri" pitchFamily="34" charset="-122"/>
                <a:cs typeface="Calibri" pitchFamily="34" charset="-120"/>
              </a:rPr>
              <a:t>Data Collection</a:t>
            </a:r>
            <a:endParaRPr lang="en-US" sz="1050" dirty="0"/>
          </a:p>
        </p:txBody>
      </p:sp>
      <p:sp>
        <p:nvSpPr>
          <p:cNvPr id="10" name="Shape 7"/>
          <p:cNvSpPr/>
          <p:nvPr/>
        </p:nvSpPr>
        <p:spPr>
          <a:xfrm>
            <a:off x="2040484" y="2651760"/>
            <a:ext cx="1417320" cy="1417320"/>
          </a:xfrm>
          <a:prstGeom prst="ellipse">
            <a:avLst/>
          </a:prstGeom>
          <a:solidFill>
            <a:srgbClr val="1859C4"/>
          </a:solidFill>
          <a:ln w="38100">
            <a:solidFill>
              <a:srgbClr val="FFFFFF"/>
            </a:solidFill>
            <a:prstDash val="solid"/>
          </a:ln>
        </p:spPr>
      </p:sp>
      <p:pic>
        <p:nvPicPr>
          <p:cNvPr id="11" name="Image 1" descr="icons/broom_w.png">    </p:cNvPr>
          <p:cNvPicPr>
            <a:picLocks noChangeAspect="1"/>
          </p:cNvPicPr>
          <p:nvPr/>
        </p:nvPicPr>
        <p:blipFill>
          <a:blip r:embed="rId2"/>
          <a:stretch>
            <a:fillRect/>
          </a:stretch>
        </p:blipFill>
        <p:spPr>
          <a:xfrm>
            <a:off x="2474824" y="3040380"/>
            <a:ext cx="548640" cy="548640"/>
          </a:xfrm>
          <a:prstGeom prst="rect">
            <a:avLst/>
          </a:prstGeom>
        </p:spPr>
      </p:pic>
      <p:sp>
        <p:nvSpPr>
          <p:cNvPr id="12" name="Shape 8"/>
          <p:cNvSpPr/>
          <p:nvPr/>
        </p:nvSpPr>
        <p:spPr>
          <a:xfrm>
            <a:off x="3128620" y="2542032"/>
            <a:ext cx="310896" cy="310896"/>
          </a:xfrm>
          <a:prstGeom prst="ellipse">
            <a:avLst/>
          </a:prstGeom>
          <a:solidFill>
            <a:srgbClr val="00B4D8"/>
          </a:solidFill>
          <a:ln w="19050">
            <a:solidFill>
              <a:srgbClr val="FFFFFF"/>
            </a:solidFill>
            <a:prstDash val="solid"/>
          </a:ln>
        </p:spPr>
      </p:sp>
      <p:sp>
        <p:nvSpPr>
          <p:cNvPr id="13" name="Text 9"/>
          <p:cNvSpPr/>
          <p:nvPr/>
        </p:nvSpPr>
        <p:spPr>
          <a:xfrm>
            <a:off x="3128620" y="2542032"/>
            <a:ext cx="310896" cy="310896"/>
          </a:xfrm>
          <a:prstGeom prst="rect">
            <a:avLst/>
          </a:prstGeom>
          <a:noFill/>
          <a:ln/>
        </p:spPr>
        <p:txBody>
          <a:bodyPr wrap="square" lIns="0" tIns="0" rIns="0" bIns="0" rtlCol="0" anchor="ctr"/>
          <a:lstStyle/>
          <a:p>
            <a:pPr algn="ctr" indent="0" marL="0">
              <a:buNone/>
            </a:pPr>
            <a:r>
              <a:rPr lang="en-US" sz="1100" b="1" dirty="0">
                <a:solidFill>
                  <a:srgbClr val="0B3D91"/>
                </a:solidFill>
                <a:latin typeface="Calibri" pitchFamily="34" charset="0"/>
                <a:ea typeface="Calibri" pitchFamily="34" charset="-122"/>
                <a:cs typeface="Calibri" pitchFamily="34" charset="-120"/>
              </a:rPr>
              <a:t>2</a:t>
            </a:r>
            <a:endParaRPr lang="en-US" sz="1100" dirty="0"/>
          </a:p>
        </p:txBody>
      </p:sp>
      <p:sp>
        <p:nvSpPr>
          <p:cNvPr id="14" name="Text 10"/>
          <p:cNvSpPr/>
          <p:nvPr/>
        </p:nvSpPr>
        <p:spPr>
          <a:xfrm>
            <a:off x="1811884" y="4233672"/>
            <a:ext cx="1874520" cy="640080"/>
          </a:xfrm>
          <a:prstGeom prst="rect">
            <a:avLst/>
          </a:prstGeom>
          <a:noFill/>
          <a:ln/>
        </p:spPr>
        <p:txBody>
          <a:bodyPr wrap="square" lIns="0" tIns="0" rIns="0" bIns="0" rtlCol="0" anchor="t"/>
          <a:lstStyle/>
          <a:p>
            <a:pPr algn="ctr" indent="0" marL="0">
              <a:buNone/>
            </a:pPr>
            <a:r>
              <a:rPr lang="en-US" sz="1050" b="1" dirty="0">
                <a:solidFill>
                  <a:srgbClr val="0B3D91"/>
                </a:solidFill>
                <a:latin typeface="Calibri" pitchFamily="34" charset="0"/>
                <a:ea typeface="Calibri" pitchFamily="34" charset="-122"/>
                <a:cs typeface="Calibri" pitchFamily="34" charset="-120"/>
              </a:rPr>
              <a:t>Data Cleaning</a:t>
            </a:r>
            <a:endParaRPr lang="en-US" sz="1050" dirty="0"/>
          </a:p>
        </p:txBody>
      </p:sp>
      <p:sp>
        <p:nvSpPr>
          <p:cNvPr id="15" name="Shape 11"/>
          <p:cNvSpPr/>
          <p:nvPr/>
        </p:nvSpPr>
        <p:spPr>
          <a:xfrm>
            <a:off x="3713836" y="2651760"/>
            <a:ext cx="1417320" cy="1417320"/>
          </a:xfrm>
          <a:prstGeom prst="ellipse">
            <a:avLst/>
          </a:prstGeom>
          <a:solidFill>
            <a:srgbClr val="0B3D91"/>
          </a:solidFill>
          <a:ln w="38100">
            <a:solidFill>
              <a:srgbClr val="FFFFFF"/>
            </a:solidFill>
            <a:prstDash val="solid"/>
          </a:ln>
        </p:spPr>
      </p:sp>
      <p:pic>
        <p:nvPicPr>
          <p:cNvPr id="16" name="Image 2" descr="icons/filter_w.png">    </p:cNvPr>
          <p:cNvPicPr>
            <a:picLocks noChangeAspect="1"/>
          </p:cNvPicPr>
          <p:nvPr/>
        </p:nvPicPr>
        <p:blipFill>
          <a:blip r:embed="rId3"/>
          <a:stretch>
            <a:fillRect/>
          </a:stretch>
        </p:blipFill>
        <p:spPr>
          <a:xfrm>
            <a:off x="4148176" y="3040380"/>
            <a:ext cx="548640" cy="548640"/>
          </a:xfrm>
          <a:prstGeom prst="rect">
            <a:avLst/>
          </a:prstGeom>
        </p:spPr>
      </p:pic>
      <p:sp>
        <p:nvSpPr>
          <p:cNvPr id="17" name="Shape 12"/>
          <p:cNvSpPr/>
          <p:nvPr/>
        </p:nvSpPr>
        <p:spPr>
          <a:xfrm>
            <a:off x="4801972" y="2542032"/>
            <a:ext cx="310896" cy="310896"/>
          </a:xfrm>
          <a:prstGeom prst="ellipse">
            <a:avLst/>
          </a:prstGeom>
          <a:solidFill>
            <a:srgbClr val="00B4D8"/>
          </a:solidFill>
          <a:ln w="19050">
            <a:solidFill>
              <a:srgbClr val="FFFFFF"/>
            </a:solidFill>
            <a:prstDash val="solid"/>
          </a:ln>
        </p:spPr>
      </p:sp>
      <p:sp>
        <p:nvSpPr>
          <p:cNvPr id="18" name="Text 13"/>
          <p:cNvSpPr/>
          <p:nvPr/>
        </p:nvSpPr>
        <p:spPr>
          <a:xfrm>
            <a:off x="4801972" y="2542032"/>
            <a:ext cx="310896" cy="310896"/>
          </a:xfrm>
          <a:prstGeom prst="rect">
            <a:avLst/>
          </a:prstGeom>
          <a:noFill/>
          <a:ln/>
        </p:spPr>
        <p:txBody>
          <a:bodyPr wrap="square" lIns="0" tIns="0" rIns="0" bIns="0" rtlCol="0" anchor="ctr"/>
          <a:lstStyle/>
          <a:p>
            <a:pPr algn="ctr" indent="0" marL="0">
              <a:buNone/>
            </a:pPr>
            <a:r>
              <a:rPr lang="en-US" sz="1100" b="1" dirty="0">
                <a:solidFill>
                  <a:srgbClr val="0B3D91"/>
                </a:solidFill>
                <a:latin typeface="Calibri" pitchFamily="34" charset="0"/>
                <a:ea typeface="Calibri" pitchFamily="34" charset="-122"/>
                <a:cs typeface="Calibri" pitchFamily="34" charset="-120"/>
              </a:rPr>
              <a:t>3</a:t>
            </a:r>
            <a:endParaRPr lang="en-US" sz="1100" dirty="0"/>
          </a:p>
        </p:txBody>
      </p:sp>
      <p:sp>
        <p:nvSpPr>
          <p:cNvPr id="19" name="Text 14"/>
          <p:cNvSpPr/>
          <p:nvPr/>
        </p:nvSpPr>
        <p:spPr>
          <a:xfrm>
            <a:off x="3485236" y="4233672"/>
            <a:ext cx="1874520" cy="640080"/>
          </a:xfrm>
          <a:prstGeom prst="rect">
            <a:avLst/>
          </a:prstGeom>
          <a:noFill/>
          <a:ln/>
        </p:spPr>
        <p:txBody>
          <a:bodyPr wrap="square" lIns="0" tIns="0" rIns="0" bIns="0" rtlCol="0" anchor="t"/>
          <a:lstStyle/>
          <a:p>
            <a:pPr algn="ctr" indent="0" marL="0">
              <a:buNone/>
            </a:pPr>
            <a:r>
              <a:rPr lang="en-US" sz="1050" b="1" dirty="0">
                <a:solidFill>
                  <a:srgbClr val="0B3D91"/>
                </a:solidFill>
                <a:latin typeface="Calibri" pitchFamily="34" charset="0"/>
                <a:ea typeface="Calibri" pitchFamily="34" charset="-122"/>
                <a:cs typeface="Calibri" pitchFamily="34" charset="-120"/>
              </a:rPr>
              <a:t>Data Preprocessing</a:t>
            </a:r>
            <a:endParaRPr lang="en-US" sz="1050" dirty="0"/>
          </a:p>
        </p:txBody>
      </p:sp>
      <p:sp>
        <p:nvSpPr>
          <p:cNvPr id="20" name="Shape 15"/>
          <p:cNvSpPr/>
          <p:nvPr/>
        </p:nvSpPr>
        <p:spPr>
          <a:xfrm>
            <a:off x="5387188" y="2651760"/>
            <a:ext cx="1417320" cy="1417320"/>
          </a:xfrm>
          <a:prstGeom prst="ellipse">
            <a:avLst/>
          </a:prstGeom>
          <a:solidFill>
            <a:srgbClr val="1859C4"/>
          </a:solidFill>
          <a:ln w="38100">
            <a:solidFill>
              <a:srgbClr val="FFFFFF"/>
            </a:solidFill>
            <a:prstDash val="solid"/>
          </a:ln>
        </p:spPr>
      </p:sp>
      <p:pic>
        <p:nvPicPr>
          <p:cNvPr id="21" name="Image 3" descr="icons/search_w.png">    </p:cNvPr>
          <p:cNvPicPr>
            <a:picLocks noChangeAspect="1"/>
          </p:cNvPicPr>
          <p:nvPr/>
        </p:nvPicPr>
        <p:blipFill>
          <a:blip r:embed="rId4"/>
          <a:stretch>
            <a:fillRect/>
          </a:stretch>
        </p:blipFill>
        <p:spPr>
          <a:xfrm>
            <a:off x="5821528" y="3040380"/>
            <a:ext cx="548640" cy="548640"/>
          </a:xfrm>
          <a:prstGeom prst="rect">
            <a:avLst/>
          </a:prstGeom>
        </p:spPr>
      </p:pic>
      <p:sp>
        <p:nvSpPr>
          <p:cNvPr id="22" name="Shape 16"/>
          <p:cNvSpPr/>
          <p:nvPr/>
        </p:nvSpPr>
        <p:spPr>
          <a:xfrm>
            <a:off x="6475324" y="2542032"/>
            <a:ext cx="310896" cy="310896"/>
          </a:xfrm>
          <a:prstGeom prst="ellipse">
            <a:avLst/>
          </a:prstGeom>
          <a:solidFill>
            <a:srgbClr val="00B4D8"/>
          </a:solidFill>
          <a:ln w="19050">
            <a:solidFill>
              <a:srgbClr val="FFFFFF"/>
            </a:solidFill>
            <a:prstDash val="solid"/>
          </a:ln>
        </p:spPr>
      </p:sp>
      <p:sp>
        <p:nvSpPr>
          <p:cNvPr id="23" name="Text 17"/>
          <p:cNvSpPr/>
          <p:nvPr/>
        </p:nvSpPr>
        <p:spPr>
          <a:xfrm>
            <a:off x="6475324" y="2542032"/>
            <a:ext cx="310896" cy="310896"/>
          </a:xfrm>
          <a:prstGeom prst="rect">
            <a:avLst/>
          </a:prstGeom>
          <a:noFill/>
          <a:ln/>
        </p:spPr>
        <p:txBody>
          <a:bodyPr wrap="square" lIns="0" tIns="0" rIns="0" bIns="0" rtlCol="0" anchor="ctr"/>
          <a:lstStyle/>
          <a:p>
            <a:pPr algn="ctr" indent="0" marL="0">
              <a:buNone/>
            </a:pPr>
            <a:r>
              <a:rPr lang="en-US" sz="1100" b="1" dirty="0">
                <a:solidFill>
                  <a:srgbClr val="0B3D91"/>
                </a:solidFill>
                <a:latin typeface="Calibri" pitchFamily="34" charset="0"/>
                <a:ea typeface="Calibri" pitchFamily="34" charset="-122"/>
                <a:cs typeface="Calibri" pitchFamily="34" charset="-120"/>
              </a:rPr>
              <a:t>4</a:t>
            </a:r>
            <a:endParaRPr lang="en-US" sz="1100" dirty="0"/>
          </a:p>
        </p:txBody>
      </p:sp>
      <p:sp>
        <p:nvSpPr>
          <p:cNvPr id="24" name="Text 18"/>
          <p:cNvSpPr/>
          <p:nvPr/>
        </p:nvSpPr>
        <p:spPr>
          <a:xfrm>
            <a:off x="5158588" y="4233672"/>
            <a:ext cx="1874520" cy="640080"/>
          </a:xfrm>
          <a:prstGeom prst="rect">
            <a:avLst/>
          </a:prstGeom>
          <a:noFill/>
          <a:ln/>
        </p:spPr>
        <p:txBody>
          <a:bodyPr wrap="square" lIns="0" tIns="0" rIns="0" bIns="0" rtlCol="0" anchor="t"/>
          <a:lstStyle/>
          <a:p>
            <a:pPr algn="ctr" indent="0" marL="0">
              <a:buNone/>
            </a:pPr>
            <a:r>
              <a:rPr lang="en-US" sz="1050" b="1" dirty="0">
                <a:solidFill>
                  <a:srgbClr val="0B3D91"/>
                </a:solidFill>
                <a:latin typeface="Calibri" pitchFamily="34" charset="0"/>
                <a:ea typeface="Calibri" pitchFamily="34" charset="-122"/>
                <a:cs typeface="Calibri" pitchFamily="34" charset="-120"/>
              </a:rPr>
              <a:t>Exploratory Data Analysis</a:t>
            </a:r>
            <a:endParaRPr lang="en-US" sz="1050" dirty="0"/>
          </a:p>
        </p:txBody>
      </p:sp>
      <p:sp>
        <p:nvSpPr>
          <p:cNvPr id="25" name="Shape 19"/>
          <p:cNvSpPr/>
          <p:nvPr/>
        </p:nvSpPr>
        <p:spPr>
          <a:xfrm>
            <a:off x="7060540" y="2651760"/>
            <a:ext cx="1417320" cy="1417320"/>
          </a:xfrm>
          <a:prstGeom prst="ellipse">
            <a:avLst/>
          </a:prstGeom>
          <a:solidFill>
            <a:srgbClr val="0B3D91"/>
          </a:solidFill>
          <a:ln w="38100">
            <a:solidFill>
              <a:srgbClr val="FFFFFF"/>
            </a:solidFill>
            <a:prstDash val="solid"/>
          </a:ln>
        </p:spPr>
      </p:sp>
      <p:pic>
        <p:nvPicPr>
          <p:cNvPr id="26" name="Image 4" descr="icons/chart_w.png">    </p:cNvPr>
          <p:cNvPicPr>
            <a:picLocks noChangeAspect="1"/>
          </p:cNvPicPr>
          <p:nvPr/>
        </p:nvPicPr>
        <p:blipFill>
          <a:blip r:embed="rId5"/>
          <a:stretch>
            <a:fillRect/>
          </a:stretch>
        </p:blipFill>
        <p:spPr>
          <a:xfrm>
            <a:off x="7494880" y="3040380"/>
            <a:ext cx="548640" cy="548640"/>
          </a:xfrm>
          <a:prstGeom prst="rect">
            <a:avLst/>
          </a:prstGeom>
        </p:spPr>
      </p:pic>
      <p:sp>
        <p:nvSpPr>
          <p:cNvPr id="27" name="Shape 20"/>
          <p:cNvSpPr/>
          <p:nvPr/>
        </p:nvSpPr>
        <p:spPr>
          <a:xfrm>
            <a:off x="8148676" y="2542032"/>
            <a:ext cx="310896" cy="310896"/>
          </a:xfrm>
          <a:prstGeom prst="ellipse">
            <a:avLst/>
          </a:prstGeom>
          <a:solidFill>
            <a:srgbClr val="00B4D8"/>
          </a:solidFill>
          <a:ln w="19050">
            <a:solidFill>
              <a:srgbClr val="FFFFFF"/>
            </a:solidFill>
            <a:prstDash val="solid"/>
          </a:ln>
        </p:spPr>
      </p:sp>
      <p:sp>
        <p:nvSpPr>
          <p:cNvPr id="28" name="Text 21"/>
          <p:cNvSpPr/>
          <p:nvPr/>
        </p:nvSpPr>
        <p:spPr>
          <a:xfrm>
            <a:off x="8148676" y="2542032"/>
            <a:ext cx="310896" cy="310896"/>
          </a:xfrm>
          <a:prstGeom prst="rect">
            <a:avLst/>
          </a:prstGeom>
          <a:noFill/>
          <a:ln/>
        </p:spPr>
        <p:txBody>
          <a:bodyPr wrap="square" lIns="0" tIns="0" rIns="0" bIns="0" rtlCol="0" anchor="ctr"/>
          <a:lstStyle/>
          <a:p>
            <a:pPr algn="ctr" indent="0" marL="0">
              <a:buNone/>
            </a:pPr>
            <a:r>
              <a:rPr lang="en-US" sz="1100" b="1" dirty="0">
                <a:solidFill>
                  <a:srgbClr val="0B3D91"/>
                </a:solidFill>
                <a:latin typeface="Calibri" pitchFamily="34" charset="0"/>
                <a:ea typeface="Calibri" pitchFamily="34" charset="-122"/>
                <a:cs typeface="Calibri" pitchFamily="34" charset="-120"/>
              </a:rPr>
              <a:t>5</a:t>
            </a:r>
            <a:endParaRPr lang="en-US" sz="1100" dirty="0"/>
          </a:p>
        </p:txBody>
      </p:sp>
      <p:sp>
        <p:nvSpPr>
          <p:cNvPr id="29" name="Text 22"/>
          <p:cNvSpPr/>
          <p:nvPr/>
        </p:nvSpPr>
        <p:spPr>
          <a:xfrm>
            <a:off x="6831940" y="4233672"/>
            <a:ext cx="1874520" cy="640080"/>
          </a:xfrm>
          <a:prstGeom prst="rect">
            <a:avLst/>
          </a:prstGeom>
          <a:noFill/>
          <a:ln/>
        </p:spPr>
        <p:txBody>
          <a:bodyPr wrap="square" lIns="0" tIns="0" rIns="0" bIns="0" rtlCol="0" anchor="t"/>
          <a:lstStyle/>
          <a:p>
            <a:pPr algn="ctr" indent="0" marL="0">
              <a:buNone/>
            </a:pPr>
            <a:r>
              <a:rPr lang="en-US" sz="1050" b="1" dirty="0">
                <a:solidFill>
                  <a:srgbClr val="0B3D91"/>
                </a:solidFill>
                <a:latin typeface="Calibri" pitchFamily="34" charset="0"/>
                <a:ea typeface="Calibri" pitchFamily="34" charset="-122"/>
                <a:cs typeface="Calibri" pitchFamily="34" charset="-120"/>
              </a:rPr>
              <a:t>Visualization</a:t>
            </a:r>
            <a:endParaRPr lang="en-US" sz="1050" dirty="0"/>
          </a:p>
        </p:txBody>
      </p:sp>
      <p:sp>
        <p:nvSpPr>
          <p:cNvPr id="30" name="Shape 23"/>
          <p:cNvSpPr/>
          <p:nvPr/>
        </p:nvSpPr>
        <p:spPr>
          <a:xfrm>
            <a:off x="8733892" y="2651760"/>
            <a:ext cx="1417320" cy="1417320"/>
          </a:xfrm>
          <a:prstGeom prst="ellipse">
            <a:avLst/>
          </a:prstGeom>
          <a:solidFill>
            <a:srgbClr val="1859C4"/>
          </a:solidFill>
          <a:ln w="38100">
            <a:solidFill>
              <a:srgbClr val="FFFFFF"/>
            </a:solidFill>
            <a:prstDash val="solid"/>
          </a:ln>
        </p:spPr>
      </p:sp>
      <p:pic>
        <p:nvPicPr>
          <p:cNvPr id="31" name="Image 5" descr="icons/lightbulb_w.png">    </p:cNvPr>
          <p:cNvPicPr>
            <a:picLocks noChangeAspect="1"/>
          </p:cNvPicPr>
          <p:nvPr/>
        </p:nvPicPr>
        <p:blipFill>
          <a:blip r:embed="rId6"/>
          <a:stretch>
            <a:fillRect/>
          </a:stretch>
        </p:blipFill>
        <p:spPr>
          <a:xfrm>
            <a:off x="9168232" y="3040380"/>
            <a:ext cx="548640" cy="548640"/>
          </a:xfrm>
          <a:prstGeom prst="rect">
            <a:avLst/>
          </a:prstGeom>
        </p:spPr>
      </p:pic>
      <p:sp>
        <p:nvSpPr>
          <p:cNvPr id="32" name="Shape 24"/>
          <p:cNvSpPr/>
          <p:nvPr/>
        </p:nvSpPr>
        <p:spPr>
          <a:xfrm>
            <a:off x="9822028" y="2542032"/>
            <a:ext cx="310896" cy="310896"/>
          </a:xfrm>
          <a:prstGeom prst="ellipse">
            <a:avLst/>
          </a:prstGeom>
          <a:solidFill>
            <a:srgbClr val="00B4D8"/>
          </a:solidFill>
          <a:ln w="19050">
            <a:solidFill>
              <a:srgbClr val="FFFFFF"/>
            </a:solidFill>
            <a:prstDash val="solid"/>
          </a:ln>
        </p:spPr>
      </p:sp>
      <p:sp>
        <p:nvSpPr>
          <p:cNvPr id="33" name="Text 25"/>
          <p:cNvSpPr/>
          <p:nvPr/>
        </p:nvSpPr>
        <p:spPr>
          <a:xfrm>
            <a:off x="9822028" y="2542032"/>
            <a:ext cx="310896" cy="310896"/>
          </a:xfrm>
          <a:prstGeom prst="rect">
            <a:avLst/>
          </a:prstGeom>
          <a:noFill/>
          <a:ln/>
        </p:spPr>
        <p:txBody>
          <a:bodyPr wrap="square" lIns="0" tIns="0" rIns="0" bIns="0" rtlCol="0" anchor="ctr"/>
          <a:lstStyle/>
          <a:p>
            <a:pPr algn="ctr" indent="0" marL="0">
              <a:buNone/>
            </a:pPr>
            <a:r>
              <a:rPr lang="en-US" sz="1100" b="1" dirty="0">
                <a:solidFill>
                  <a:srgbClr val="0B3D91"/>
                </a:solidFill>
                <a:latin typeface="Calibri" pitchFamily="34" charset="0"/>
                <a:ea typeface="Calibri" pitchFamily="34" charset="-122"/>
                <a:cs typeface="Calibri" pitchFamily="34" charset="-120"/>
              </a:rPr>
              <a:t>6</a:t>
            </a:r>
            <a:endParaRPr lang="en-US" sz="1100" dirty="0"/>
          </a:p>
        </p:txBody>
      </p:sp>
      <p:sp>
        <p:nvSpPr>
          <p:cNvPr id="34" name="Text 26"/>
          <p:cNvSpPr/>
          <p:nvPr/>
        </p:nvSpPr>
        <p:spPr>
          <a:xfrm>
            <a:off x="8505292" y="4233672"/>
            <a:ext cx="1874520" cy="640080"/>
          </a:xfrm>
          <a:prstGeom prst="rect">
            <a:avLst/>
          </a:prstGeom>
          <a:noFill/>
          <a:ln/>
        </p:spPr>
        <p:txBody>
          <a:bodyPr wrap="square" lIns="0" tIns="0" rIns="0" bIns="0" rtlCol="0" anchor="t"/>
          <a:lstStyle/>
          <a:p>
            <a:pPr algn="ctr" indent="0" marL="0">
              <a:buNone/>
            </a:pPr>
            <a:r>
              <a:rPr lang="en-US" sz="1050" b="1" dirty="0">
                <a:solidFill>
                  <a:srgbClr val="0B3D91"/>
                </a:solidFill>
                <a:latin typeface="Calibri" pitchFamily="34" charset="0"/>
                <a:ea typeface="Calibri" pitchFamily="34" charset="-122"/>
                <a:cs typeface="Calibri" pitchFamily="34" charset="-120"/>
              </a:rPr>
              <a:t>Business Insights</a:t>
            </a:r>
            <a:endParaRPr lang="en-US" sz="1050" dirty="0"/>
          </a:p>
        </p:txBody>
      </p:sp>
      <p:sp>
        <p:nvSpPr>
          <p:cNvPr id="35" name="Shape 27"/>
          <p:cNvSpPr/>
          <p:nvPr/>
        </p:nvSpPr>
        <p:spPr>
          <a:xfrm>
            <a:off x="10407244" y="2651760"/>
            <a:ext cx="1417320" cy="1417320"/>
          </a:xfrm>
          <a:prstGeom prst="ellipse">
            <a:avLst/>
          </a:prstGeom>
          <a:solidFill>
            <a:srgbClr val="0B3D91"/>
          </a:solidFill>
          <a:ln w="38100">
            <a:solidFill>
              <a:srgbClr val="FFFFFF"/>
            </a:solidFill>
            <a:prstDash val="solid"/>
          </a:ln>
        </p:spPr>
      </p:sp>
      <p:pic>
        <p:nvPicPr>
          <p:cNvPr id="36" name="Image 6" descr="icons/check_w.png">    </p:cNvPr>
          <p:cNvPicPr>
            <a:picLocks noChangeAspect="1"/>
          </p:cNvPicPr>
          <p:nvPr/>
        </p:nvPicPr>
        <p:blipFill>
          <a:blip r:embed="rId7"/>
          <a:stretch>
            <a:fillRect/>
          </a:stretch>
        </p:blipFill>
        <p:spPr>
          <a:xfrm>
            <a:off x="10841584" y="3040380"/>
            <a:ext cx="548640" cy="548640"/>
          </a:xfrm>
          <a:prstGeom prst="rect">
            <a:avLst/>
          </a:prstGeom>
        </p:spPr>
      </p:pic>
      <p:sp>
        <p:nvSpPr>
          <p:cNvPr id="37" name="Shape 28"/>
          <p:cNvSpPr/>
          <p:nvPr/>
        </p:nvSpPr>
        <p:spPr>
          <a:xfrm>
            <a:off x="11495380" y="2542032"/>
            <a:ext cx="310896" cy="310896"/>
          </a:xfrm>
          <a:prstGeom prst="ellipse">
            <a:avLst/>
          </a:prstGeom>
          <a:solidFill>
            <a:srgbClr val="00B4D8"/>
          </a:solidFill>
          <a:ln w="19050">
            <a:solidFill>
              <a:srgbClr val="FFFFFF"/>
            </a:solidFill>
            <a:prstDash val="solid"/>
          </a:ln>
        </p:spPr>
      </p:sp>
      <p:sp>
        <p:nvSpPr>
          <p:cNvPr id="38" name="Text 29"/>
          <p:cNvSpPr/>
          <p:nvPr/>
        </p:nvSpPr>
        <p:spPr>
          <a:xfrm>
            <a:off x="11495380" y="2542032"/>
            <a:ext cx="310896" cy="310896"/>
          </a:xfrm>
          <a:prstGeom prst="rect">
            <a:avLst/>
          </a:prstGeom>
          <a:noFill/>
          <a:ln/>
        </p:spPr>
        <p:txBody>
          <a:bodyPr wrap="square" lIns="0" tIns="0" rIns="0" bIns="0" rtlCol="0" anchor="ctr"/>
          <a:lstStyle/>
          <a:p>
            <a:pPr algn="ctr" indent="0" marL="0">
              <a:buNone/>
            </a:pPr>
            <a:r>
              <a:rPr lang="en-US" sz="1100" b="1" dirty="0">
                <a:solidFill>
                  <a:srgbClr val="0B3D91"/>
                </a:solidFill>
                <a:latin typeface="Calibri" pitchFamily="34" charset="0"/>
                <a:ea typeface="Calibri" pitchFamily="34" charset="-122"/>
                <a:cs typeface="Calibri" pitchFamily="34" charset="-120"/>
              </a:rPr>
              <a:t>7</a:t>
            </a:r>
            <a:endParaRPr lang="en-US" sz="1100" dirty="0"/>
          </a:p>
        </p:txBody>
      </p:sp>
      <p:sp>
        <p:nvSpPr>
          <p:cNvPr id="39" name="Text 30"/>
          <p:cNvSpPr/>
          <p:nvPr/>
        </p:nvSpPr>
        <p:spPr>
          <a:xfrm>
            <a:off x="10178644" y="4233672"/>
            <a:ext cx="1874520" cy="640080"/>
          </a:xfrm>
          <a:prstGeom prst="rect">
            <a:avLst/>
          </a:prstGeom>
          <a:noFill/>
          <a:ln/>
        </p:spPr>
        <p:txBody>
          <a:bodyPr wrap="square" lIns="0" tIns="0" rIns="0" bIns="0" rtlCol="0" anchor="t"/>
          <a:lstStyle/>
          <a:p>
            <a:pPr algn="ctr" indent="0" marL="0">
              <a:buNone/>
            </a:pPr>
            <a:r>
              <a:rPr lang="en-US" sz="1050" b="1" dirty="0">
                <a:solidFill>
                  <a:srgbClr val="0B3D91"/>
                </a:solidFill>
                <a:latin typeface="Calibri" pitchFamily="34" charset="0"/>
                <a:ea typeface="Calibri" pitchFamily="34" charset="-122"/>
                <a:cs typeface="Calibri" pitchFamily="34" charset="-120"/>
              </a:rPr>
              <a:t>Conclusion</a:t>
            </a:r>
            <a:endParaRPr lang="en-US" sz="1050" dirty="0"/>
          </a:p>
        </p:txBody>
      </p:sp>
      <p:sp>
        <p:nvSpPr>
          <p:cNvPr id="40" name="Text 31"/>
          <p:cNvSpPr/>
          <p:nvPr/>
        </p:nvSpPr>
        <p:spPr>
          <a:xfrm>
            <a:off x="1097280" y="5120640"/>
            <a:ext cx="9966960" cy="548640"/>
          </a:xfrm>
          <a:prstGeom prst="rect">
            <a:avLst/>
          </a:prstGeom>
          <a:noFill/>
          <a:ln/>
        </p:spPr>
        <p:txBody>
          <a:bodyPr wrap="square" lIns="0" tIns="0" rIns="0" bIns="0" rtlCol="0" anchor="ctr"/>
          <a:lstStyle/>
          <a:p>
            <a:pPr algn="ctr" indent="0" marL="0">
              <a:buNone/>
            </a:pPr>
            <a:r>
              <a:rPr lang="en-US" sz="1300" i="1" dirty="0">
                <a:solidFill>
                  <a:srgbClr val="6B7A99"/>
                </a:solidFill>
                <a:latin typeface="Calibri" pitchFamily="34" charset="0"/>
                <a:ea typeface="Calibri" pitchFamily="34" charset="-122"/>
                <a:cs typeface="Calibri" pitchFamily="34" charset="-120"/>
              </a:rPr>
              <a:t>A structured seven-stage pipeline transforms raw PhonePe Pulse CSV files into clear, decision-ready business insights.</a:t>
            </a:r>
            <a:endParaRPr lang="en-US" sz="1300" dirty="0"/>
          </a:p>
        </p:txBody>
      </p:sp>
      <p:sp>
        <p:nvSpPr>
          <p:cNvPr id="41" name="Text 32"/>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42" name="Text 33"/>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PREPARING THE DATA FOR ANALYSIS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Data Cleaning &amp; Preprocessing</a:t>
            </a:r>
            <a:endParaRPr lang="en-US" sz="3000" dirty="0"/>
          </a:p>
        </p:txBody>
      </p:sp>
      <p:sp>
        <p:nvSpPr>
          <p:cNvPr id="4" name="Shape 2"/>
          <p:cNvSpPr/>
          <p:nvPr/>
        </p:nvSpPr>
        <p:spPr>
          <a:xfrm>
            <a:off x="548640" y="1554480"/>
            <a:ext cx="5394960" cy="1051560"/>
          </a:xfrm>
          <a:prstGeom prst="roundRect">
            <a:avLst>
              <a:gd name="adj" fmla="val 6957"/>
            </a:avLst>
          </a:prstGeom>
          <a:solidFill>
            <a:srgbClr val="F4F8FE"/>
          </a:solidFill>
          <a:ln/>
          <a:effectLst>
            <a:outerShdw sx="100000" sy="100000" kx="0" ky="0" algn="bl" rotWithShape="0" blurRad="88900" dist="25400" dir="5400000">
              <a:srgbClr val="1B2A4A">
                <a:alpha val="10000"/>
              </a:srgbClr>
            </a:outerShdw>
          </a:effectLst>
        </p:spPr>
      </p:sp>
      <p:sp>
        <p:nvSpPr>
          <p:cNvPr id="5" name="Shape 3"/>
          <p:cNvSpPr/>
          <p:nvPr/>
        </p:nvSpPr>
        <p:spPr>
          <a:xfrm>
            <a:off x="731520" y="1769364"/>
            <a:ext cx="621792" cy="621792"/>
          </a:xfrm>
          <a:prstGeom prst="ellipse">
            <a:avLst/>
          </a:prstGeom>
          <a:solidFill>
            <a:srgbClr val="0B3D91"/>
          </a:solidFill>
          <a:ln/>
        </p:spPr>
      </p:sp>
      <p:pic>
        <p:nvPicPr>
          <p:cNvPr id="6" name="Image 0" descr="icons/search_w.png">    </p:cNvPr>
          <p:cNvPicPr>
            <a:picLocks noChangeAspect="1"/>
          </p:cNvPicPr>
          <p:nvPr/>
        </p:nvPicPr>
        <p:blipFill>
          <a:blip r:embed="rId1"/>
          <a:stretch>
            <a:fillRect/>
          </a:stretch>
        </p:blipFill>
        <p:spPr>
          <a:xfrm>
            <a:off x="880750" y="1918594"/>
            <a:ext cx="323332" cy="323332"/>
          </a:xfrm>
          <a:prstGeom prst="rect">
            <a:avLst/>
          </a:prstGeom>
        </p:spPr>
      </p:pic>
      <p:sp>
        <p:nvSpPr>
          <p:cNvPr id="7" name="Text 4"/>
          <p:cNvSpPr/>
          <p:nvPr/>
        </p:nvSpPr>
        <p:spPr>
          <a:xfrm>
            <a:off x="1508760" y="1673352"/>
            <a:ext cx="4251960" cy="292608"/>
          </a:xfrm>
          <a:prstGeom prst="rect">
            <a:avLst/>
          </a:prstGeom>
          <a:noFill/>
          <a:ln/>
        </p:spPr>
        <p:txBody>
          <a:bodyPr wrap="square" lIns="0" tIns="0" rIns="0" bIns="0" rtlCol="0" anchor="ctr"/>
          <a:lstStyle/>
          <a:p>
            <a:pPr indent="0" marL="0">
              <a:buNone/>
            </a:pPr>
            <a:r>
              <a:rPr lang="en-US" sz="1350" b="1" dirty="0">
                <a:solidFill>
                  <a:srgbClr val="0B3D91"/>
                </a:solidFill>
                <a:latin typeface="Cambria" pitchFamily="34" charset="0"/>
                <a:ea typeface="Cambria" pitchFamily="34" charset="-122"/>
                <a:cs typeface="Cambria" pitchFamily="34" charset="-120"/>
              </a:rPr>
              <a:t>Missing Values</a:t>
            </a:r>
            <a:endParaRPr lang="en-US" sz="1350" dirty="0"/>
          </a:p>
        </p:txBody>
      </p:sp>
      <p:sp>
        <p:nvSpPr>
          <p:cNvPr id="8" name="Text 5"/>
          <p:cNvSpPr/>
          <p:nvPr/>
        </p:nvSpPr>
        <p:spPr>
          <a:xfrm>
            <a:off x="1508760" y="1975104"/>
            <a:ext cx="4251960" cy="594360"/>
          </a:xfrm>
          <a:prstGeom prst="rect">
            <a:avLst/>
          </a:prstGeom>
          <a:noFill/>
          <a:ln/>
        </p:spPr>
        <p:txBody>
          <a:bodyPr wrap="square" lIns="0" tIns="0" rIns="0" bIns="0" rtlCol="0" anchor="t"/>
          <a:lstStyle/>
          <a:p>
            <a:pPr indent="0" marL="0">
              <a:buNone/>
            </a:pPr>
            <a:r>
              <a:rPr lang="en-US" sz="1080" dirty="0">
                <a:solidFill>
                  <a:srgbClr val="42506B"/>
                </a:solidFill>
                <a:latin typeface="Calibri" pitchFamily="34" charset="0"/>
                <a:ea typeface="Calibri" pitchFamily="34" charset="-122"/>
                <a:cs typeface="Calibri" pitchFamily="34" charset="-120"/>
              </a:rPr>
              <a:t>Detected in Brand, Transaction Count (user) and Percentage columns; rows with nulls were removed for accuracy.</a:t>
            </a:r>
            <a:endParaRPr lang="en-US" sz="1080" dirty="0"/>
          </a:p>
        </p:txBody>
      </p:sp>
      <p:sp>
        <p:nvSpPr>
          <p:cNvPr id="9" name="Shape 6"/>
          <p:cNvSpPr/>
          <p:nvPr/>
        </p:nvSpPr>
        <p:spPr>
          <a:xfrm>
            <a:off x="548640" y="2807208"/>
            <a:ext cx="5394960" cy="1051560"/>
          </a:xfrm>
          <a:prstGeom prst="roundRect">
            <a:avLst>
              <a:gd name="adj" fmla="val 6957"/>
            </a:avLst>
          </a:prstGeom>
          <a:solidFill>
            <a:srgbClr val="F4F8FE"/>
          </a:solidFill>
          <a:ln/>
          <a:effectLst>
            <a:outerShdw sx="100000" sy="100000" kx="0" ky="0" algn="bl" rotWithShape="0" blurRad="88900" dist="25400" dir="5400000">
              <a:srgbClr val="1B2A4A">
                <a:alpha val="10000"/>
              </a:srgbClr>
            </a:outerShdw>
          </a:effectLst>
        </p:spPr>
      </p:sp>
      <p:sp>
        <p:nvSpPr>
          <p:cNvPr id="10" name="Shape 7"/>
          <p:cNvSpPr/>
          <p:nvPr/>
        </p:nvSpPr>
        <p:spPr>
          <a:xfrm>
            <a:off x="731520" y="3022092"/>
            <a:ext cx="621792" cy="621792"/>
          </a:xfrm>
          <a:prstGeom prst="ellipse">
            <a:avLst/>
          </a:prstGeom>
          <a:solidFill>
            <a:srgbClr val="0B3D91"/>
          </a:solidFill>
          <a:ln/>
        </p:spPr>
      </p:sp>
      <p:pic>
        <p:nvPicPr>
          <p:cNvPr id="11" name="Image 1" descr="icons/layers_w.png">    </p:cNvPr>
          <p:cNvPicPr>
            <a:picLocks noChangeAspect="1"/>
          </p:cNvPicPr>
          <p:nvPr/>
        </p:nvPicPr>
        <p:blipFill>
          <a:blip r:embed="rId2"/>
          <a:stretch>
            <a:fillRect/>
          </a:stretch>
        </p:blipFill>
        <p:spPr>
          <a:xfrm>
            <a:off x="880750" y="3171322"/>
            <a:ext cx="323332" cy="323332"/>
          </a:xfrm>
          <a:prstGeom prst="rect">
            <a:avLst/>
          </a:prstGeom>
        </p:spPr>
      </p:pic>
      <p:sp>
        <p:nvSpPr>
          <p:cNvPr id="12" name="Text 8"/>
          <p:cNvSpPr/>
          <p:nvPr/>
        </p:nvSpPr>
        <p:spPr>
          <a:xfrm>
            <a:off x="1508760" y="2926080"/>
            <a:ext cx="4251960" cy="292608"/>
          </a:xfrm>
          <a:prstGeom prst="rect">
            <a:avLst/>
          </a:prstGeom>
          <a:noFill/>
          <a:ln/>
        </p:spPr>
        <p:txBody>
          <a:bodyPr wrap="square" lIns="0" tIns="0" rIns="0" bIns="0" rtlCol="0" anchor="ctr"/>
          <a:lstStyle/>
          <a:p>
            <a:pPr indent="0" marL="0">
              <a:buNone/>
            </a:pPr>
            <a:r>
              <a:rPr lang="en-US" sz="1350" b="1" dirty="0">
                <a:solidFill>
                  <a:srgbClr val="0B3D91"/>
                </a:solidFill>
                <a:latin typeface="Cambria" pitchFamily="34" charset="0"/>
                <a:ea typeface="Cambria" pitchFamily="34" charset="-122"/>
                <a:cs typeface="Cambria" pitchFamily="34" charset="-120"/>
              </a:rPr>
              <a:t>Duplicate Handling</a:t>
            </a:r>
            <a:endParaRPr lang="en-US" sz="1350" dirty="0"/>
          </a:p>
        </p:txBody>
      </p:sp>
      <p:sp>
        <p:nvSpPr>
          <p:cNvPr id="13" name="Text 9"/>
          <p:cNvSpPr/>
          <p:nvPr/>
        </p:nvSpPr>
        <p:spPr>
          <a:xfrm>
            <a:off x="1508760" y="3227832"/>
            <a:ext cx="4251960" cy="594360"/>
          </a:xfrm>
          <a:prstGeom prst="rect">
            <a:avLst/>
          </a:prstGeom>
          <a:noFill/>
          <a:ln/>
        </p:spPr>
        <p:txBody>
          <a:bodyPr wrap="square" lIns="0" tIns="0" rIns="0" bIns="0" rtlCol="0" anchor="t"/>
          <a:lstStyle/>
          <a:p>
            <a:pPr indent="0" marL="0">
              <a:buNone/>
            </a:pPr>
            <a:r>
              <a:rPr lang="en-US" sz="1080" dirty="0">
                <a:solidFill>
                  <a:srgbClr val="42506B"/>
                </a:solidFill>
                <a:latin typeface="Calibri" pitchFamily="34" charset="0"/>
                <a:ea typeface="Calibri" pitchFamily="34" charset="-122"/>
                <a:cs typeface="Calibri" pitchFamily="34" charset="-120"/>
              </a:rPr>
              <a:t>Dataset checked for duplicate rows using duplicated().sum() — confirmed as clean with zero duplicates.</a:t>
            </a:r>
            <a:endParaRPr lang="en-US" sz="1080" dirty="0"/>
          </a:p>
        </p:txBody>
      </p:sp>
      <p:sp>
        <p:nvSpPr>
          <p:cNvPr id="14" name="Shape 10"/>
          <p:cNvSpPr/>
          <p:nvPr/>
        </p:nvSpPr>
        <p:spPr>
          <a:xfrm>
            <a:off x="548640" y="4059936"/>
            <a:ext cx="5394960" cy="1051560"/>
          </a:xfrm>
          <a:prstGeom prst="roundRect">
            <a:avLst>
              <a:gd name="adj" fmla="val 6957"/>
            </a:avLst>
          </a:prstGeom>
          <a:solidFill>
            <a:srgbClr val="F4F8FE"/>
          </a:solidFill>
          <a:ln/>
          <a:effectLst>
            <a:outerShdw sx="100000" sy="100000" kx="0" ky="0" algn="bl" rotWithShape="0" blurRad="88900" dist="25400" dir="5400000">
              <a:srgbClr val="1B2A4A">
                <a:alpha val="10000"/>
              </a:srgbClr>
            </a:outerShdw>
          </a:effectLst>
        </p:spPr>
      </p:sp>
      <p:sp>
        <p:nvSpPr>
          <p:cNvPr id="15" name="Shape 11"/>
          <p:cNvSpPr/>
          <p:nvPr/>
        </p:nvSpPr>
        <p:spPr>
          <a:xfrm>
            <a:off x="731520" y="4274820"/>
            <a:ext cx="621792" cy="621792"/>
          </a:xfrm>
          <a:prstGeom prst="ellipse">
            <a:avLst/>
          </a:prstGeom>
          <a:solidFill>
            <a:srgbClr val="0B3D91"/>
          </a:solidFill>
          <a:ln/>
        </p:spPr>
      </p:sp>
      <p:pic>
        <p:nvPicPr>
          <p:cNvPr id="16" name="Image 2" descr="icons/filter_w.png">    </p:cNvPr>
          <p:cNvPicPr>
            <a:picLocks noChangeAspect="1"/>
          </p:cNvPicPr>
          <p:nvPr/>
        </p:nvPicPr>
        <p:blipFill>
          <a:blip r:embed="rId3"/>
          <a:stretch>
            <a:fillRect/>
          </a:stretch>
        </p:blipFill>
        <p:spPr>
          <a:xfrm>
            <a:off x="880750" y="4424050"/>
            <a:ext cx="323332" cy="323332"/>
          </a:xfrm>
          <a:prstGeom prst="rect">
            <a:avLst/>
          </a:prstGeom>
        </p:spPr>
      </p:pic>
      <p:sp>
        <p:nvSpPr>
          <p:cNvPr id="17" name="Text 12"/>
          <p:cNvSpPr/>
          <p:nvPr/>
        </p:nvSpPr>
        <p:spPr>
          <a:xfrm>
            <a:off x="1508760" y="4178808"/>
            <a:ext cx="4251960" cy="292608"/>
          </a:xfrm>
          <a:prstGeom prst="rect">
            <a:avLst/>
          </a:prstGeom>
          <a:noFill/>
          <a:ln/>
        </p:spPr>
        <p:txBody>
          <a:bodyPr wrap="square" lIns="0" tIns="0" rIns="0" bIns="0" rtlCol="0" anchor="ctr"/>
          <a:lstStyle/>
          <a:p>
            <a:pPr indent="0" marL="0">
              <a:buNone/>
            </a:pPr>
            <a:r>
              <a:rPr lang="en-US" sz="1350" b="1" dirty="0">
                <a:solidFill>
                  <a:srgbClr val="0B3D91"/>
                </a:solidFill>
                <a:latin typeface="Cambria" pitchFamily="34" charset="0"/>
                <a:ea typeface="Cambria" pitchFamily="34" charset="-122"/>
                <a:cs typeface="Cambria" pitchFamily="34" charset="-120"/>
              </a:rPr>
              <a:t>Data Type Conversion</a:t>
            </a:r>
            <a:endParaRPr lang="en-US" sz="1350" dirty="0"/>
          </a:p>
        </p:txBody>
      </p:sp>
      <p:sp>
        <p:nvSpPr>
          <p:cNvPr id="18" name="Text 13"/>
          <p:cNvSpPr/>
          <p:nvPr/>
        </p:nvSpPr>
        <p:spPr>
          <a:xfrm>
            <a:off x="1508760" y="4480560"/>
            <a:ext cx="4251960" cy="594360"/>
          </a:xfrm>
          <a:prstGeom prst="rect">
            <a:avLst/>
          </a:prstGeom>
          <a:noFill/>
          <a:ln/>
        </p:spPr>
        <p:txBody>
          <a:bodyPr wrap="square" lIns="0" tIns="0" rIns="0" bIns="0" rtlCol="0" anchor="t"/>
          <a:lstStyle/>
          <a:p>
            <a:pPr indent="0" marL="0">
              <a:buNone/>
            </a:pPr>
            <a:r>
              <a:rPr lang="en-US" sz="1080" dirty="0">
                <a:solidFill>
                  <a:srgbClr val="42506B"/>
                </a:solidFill>
                <a:latin typeface="Calibri" pitchFamily="34" charset="0"/>
                <a:ea typeface="Calibri" pitchFamily="34" charset="-122"/>
                <a:cs typeface="Calibri" pitchFamily="34" charset="-120"/>
              </a:rPr>
              <a:t>Transaction Amount converted from formatted string to numeric using pd.to_numeric() for calculations.</a:t>
            </a:r>
            <a:endParaRPr lang="en-US" sz="1080" dirty="0"/>
          </a:p>
        </p:txBody>
      </p:sp>
      <p:sp>
        <p:nvSpPr>
          <p:cNvPr id="19" name="Shape 14"/>
          <p:cNvSpPr/>
          <p:nvPr/>
        </p:nvSpPr>
        <p:spPr>
          <a:xfrm>
            <a:off x="548640" y="5312664"/>
            <a:ext cx="5394960" cy="1051560"/>
          </a:xfrm>
          <a:prstGeom prst="roundRect">
            <a:avLst>
              <a:gd name="adj" fmla="val 6957"/>
            </a:avLst>
          </a:prstGeom>
          <a:solidFill>
            <a:srgbClr val="F4F8FE"/>
          </a:solidFill>
          <a:ln/>
          <a:effectLst>
            <a:outerShdw sx="100000" sy="100000" kx="0" ky="0" algn="bl" rotWithShape="0" blurRad="88900" dist="25400" dir="5400000">
              <a:srgbClr val="1B2A4A">
                <a:alpha val="10000"/>
              </a:srgbClr>
            </a:outerShdw>
          </a:effectLst>
        </p:spPr>
      </p:sp>
      <p:sp>
        <p:nvSpPr>
          <p:cNvPr id="20" name="Shape 15"/>
          <p:cNvSpPr/>
          <p:nvPr/>
        </p:nvSpPr>
        <p:spPr>
          <a:xfrm>
            <a:off x="731520" y="5527548"/>
            <a:ext cx="621792" cy="621792"/>
          </a:xfrm>
          <a:prstGeom prst="ellipse">
            <a:avLst/>
          </a:prstGeom>
          <a:solidFill>
            <a:srgbClr val="0B3D91"/>
          </a:solidFill>
          <a:ln/>
        </p:spPr>
      </p:sp>
      <p:pic>
        <p:nvPicPr>
          <p:cNvPr id="21" name="Image 3" descr="icons/sitemap_w.png">    </p:cNvPr>
          <p:cNvPicPr>
            <a:picLocks noChangeAspect="1"/>
          </p:cNvPicPr>
          <p:nvPr/>
        </p:nvPicPr>
        <p:blipFill>
          <a:blip r:embed="rId4"/>
          <a:stretch>
            <a:fillRect/>
          </a:stretch>
        </p:blipFill>
        <p:spPr>
          <a:xfrm>
            <a:off x="880750" y="5676778"/>
            <a:ext cx="323332" cy="323332"/>
          </a:xfrm>
          <a:prstGeom prst="rect">
            <a:avLst/>
          </a:prstGeom>
        </p:spPr>
      </p:pic>
      <p:sp>
        <p:nvSpPr>
          <p:cNvPr id="22" name="Text 16"/>
          <p:cNvSpPr/>
          <p:nvPr/>
        </p:nvSpPr>
        <p:spPr>
          <a:xfrm>
            <a:off x="1508760" y="5431536"/>
            <a:ext cx="4251960" cy="292608"/>
          </a:xfrm>
          <a:prstGeom prst="rect">
            <a:avLst/>
          </a:prstGeom>
          <a:noFill/>
          <a:ln/>
        </p:spPr>
        <p:txBody>
          <a:bodyPr wrap="square" lIns="0" tIns="0" rIns="0" bIns="0" rtlCol="0" anchor="ctr"/>
          <a:lstStyle/>
          <a:p>
            <a:pPr indent="0" marL="0">
              <a:buNone/>
            </a:pPr>
            <a:r>
              <a:rPr lang="en-US" sz="1350" b="1" dirty="0">
                <a:solidFill>
                  <a:srgbClr val="0B3D91"/>
                </a:solidFill>
                <a:latin typeface="Cambria" pitchFamily="34" charset="0"/>
                <a:ea typeface="Cambria" pitchFamily="34" charset="-122"/>
                <a:cs typeface="Cambria" pitchFamily="34" charset="-120"/>
              </a:rPr>
              <a:t>Dataset Merging</a:t>
            </a:r>
            <a:endParaRPr lang="en-US" sz="1350" dirty="0"/>
          </a:p>
        </p:txBody>
      </p:sp>
      <p:sp>
        <p:nvSpPr>
          <p:cNvPr id="23" name="Text 17"/>
          <p:cNvSpPr/>
          <p:nvPr/>
        </p:nvSpPr>
        <p:spPr>
          <a:xfrm>
            <a:off x="1508760" y="5733288"/>
            <a:ext cx="4251960" cy="594360"/>
          </a:xfrm>
          <a:prstGeom prst="rect">
            <a:avLst/>
          </a:prstGeom>
          <a:noFill/>
          <a:ln/>
        </p:spPr>
        <p:txBody>
          <a:bodyPr wrap="square" lIns="0" tIns="0" rIns="0" bIns="0" rtlCol="0" anchor="t"/>
          <a:lstStyle/>
          <a:p>
            <a:pPr indent="0" marL="0">
              <a:buNone/>
            </a:pPr>
            <a:r>
              <a:rPr lang="en-US" sz="1080" dirty="0">
                <a:solidFill>
                  <a:srgbClr val="42506B"/>
                </a:solidFill>
                <a:latin typeface="Calibri" pitchFamily="34" charset="0"/>
                <a:ea typeface="Calibri" pitchFamily="34" charset="-122"/>
                <a:cs typeface="Calibri" pitchFamily="34" charset="-120"/>
              </a:rPr>
              <a:t>Seven separate CSV sources merged step-by-step on State, Year, Quarter and District into one unified table.</a:t>
            </a:r>
            <a:endParaRPr lang="en-US" sz="1080" dirty="0"/>
          </a:p>
        </p:txBody>
      </p:sp>
      <p:sp>
        <p:nvSpPr>
          <p:cNvPr id="24" name="Shape 18"/>
          <p:cNvSpPr/>
          <p:nvPr/>
        </p:nvSpPr>
        <p:spPr>
          <a:xfrm>
            <a:off x="6263640" y="1554480"/>
            <a:ext cx="5394960" cy="2148840"/>
          </a:xfrm>
          <a:prstGeom prst="roundRect">
            <a:avLst>
              <a:gd name="adj" fmla="val 3404"/>
            </a:avLst>
          </a:prstGeom>
          <a:solidFill>
            <a:srgbClr val="EAF2FC"/>
          </a:solidFill>
          <a:ln/>
          <a:effectLst>
            <a:outerShdw sx="100000" sy="100000" kx="0" ky="0" algn="bl" rotWithShape="0" blurRad="88900" dist="25400" dir="5400000">
              <a:srgbClr val="1B2A4A">
                <a:alpha val="10000"/>
              </a:srgbClr>
            </a:outerShdw>
          </a:effectLst>
        </p:spPr>
      </p:sp>
      <p:sp>
        <p:nvSpPr>
          <p:cNvPr id="25" name="Text 19"/>
          <p:cNvSpPr/>
          <p:nvPr/>
        </p:nvSpPr>
        <p:spPr>
          <a:xfrm>
            <a:off x="6537960" y="1783080"/>
            <a:ext cx="4846320" cy="685800"/>
          </a:xfrm>
          <a:prstGeom prst="rect">
            <a:avLst/>
          </a:prstGeom>
          <a:noFill/>
          <a:ln/>
        </p:spPr>
        <p:txBody>
          <a:bodyPr wrap="square" lIns="0" tIns="0" rIns="0" bIns="0" rtlCol="0" anchor="ctr"/>
          <a:lstStyle/>
          <a:p>
            <a:pPr indent="0" marL="0">
              <a:buNone/>
            </a:pPr>
            <a:r>
              <a:rPr lang="en-US" sz="3400" b="1" dirty="0">
                <a:solidFill>
                  <a:srgbClr val="0B3D91"/>
                </a:solidFill>
                <a:latin typeface="Cambria" pitchFamily="34" charset="0"/>
                <a:ea typeface="Cambria" pitchFamily="34" charset="-122"/>
                <a:cs typeface="Cambria" pitchFamily="34" charset="-120"/>
              </a:rPr>
              <a:t>6,946,258</a:t>
            </a:r>
            <a:endParaRPr lang="en-US" sz="3400" dirty="0"/>
          </a:p>
        </p:txBody>
      </p:sp>
      <p:sp>
        <p:nvSpPr>
          <p:cNvPr id="26" name="Text 20"/>
          <p:cNvSpPr/>
          <p:nvPr/>
        </p:nvSpPr>
        <p:spPr>
          <a:xfrm>
            <a:off x="6537960" y="2468880"/>
            <a:ext cx="4846320" cy="320040"/>
          </a:xfrm>
          <a:prstGeom prst="rect">
            <a:avLst/>
          </a:prstGeom>
          <a:noFill/>
          <a:ln/>
        </p:spPr>
        <p:txBody>
          <a:bodyPr wrap="square" lIns="0" tIns="0" rIns="0" bIns="0" rtlCol="0" anchor="ctr"/>
          <a:lstStyle/>
          <a:p>
            <a:pPr indent="0" marL="0">
              <a:buNone/>
            </a:pPr>
            <a:r>
              <a:rPr lang="en-US" sz="1200" dirty="0">
                <a:solidFill>
                  <a:srgbClr val="6B7A99"/>
                </a:solidFill>
                <a:latin typeface="Calibri" pitchFamily="34" charset="0"/>
                <a:ea typeface="Calibri" pitchFamily="34" charset="-122"/>
                <a:cs typeface="Calibri" pitchFamily="34" charset="-120"/>
              </a:rPr>
              <a:t>Total records before cleaning</a:t>
            </a:r>
            <a:endParaRPr lang="en-US" sz="1200" dirty="0"/>
          </a:p>
        </p:txBody>
      </p:sp>
      <p:sp>
        <p:nvSpPr>
          <p:cNvPr id="27" name="Text 21"/>
          <p:cNvSpPr/>
          <p:nvPr/>
        </p:nvSpPr>
        <p:spPr>
          <a:xfrm>
            <a:off x="6537960" y="2834640"/>
            <a:ext cx="4846320" cy="640080"/>
          </a:xfrm>
          <a:prstGeom prst="rect">
            <a:avLst/>
          </a:prstGeom>
          <a:noFill/>
          <a:ln/>
        </p:spPr>
        <p:txBody>
          <a:bodyPr wrap="square" lIns="0" tIns="0" rIns="0" bIns="0" rtlCol="0" anchor="ctr"/>
          <a:lstStyle/>
          <a:p>
            <a:pPr indent="0" marL="0">
              <a:buNone/>
            </a:pPr>
            <a:r>
              <a:rPr lang="en-US" sz="3000" b="1" dirty="0">
                <a:solidFill>
                  <a:srgbClr val="1859C4"/>
                </a:solidFill>
                <a:latin typeface="Cambria" pitchFamily="34" charset="0"/>
                <a:ea typeface="Cambria" pitchFamily="34" charset="-122"/>
                <a:cs typeface="Cambria" pitchFamily="34" charset="-120"/>
              </a:rPr>
              <a:t>6,836,533</a:t>
            </a:r>
            <a:endParaRPr lang="en-US" sz="3000" dirty="0"/>
          </a:p>
        </p:txBody>
      </p:sp>
      <p:sp>
        <p:nvSpPr>
          <p:cNvPr id="28" name="Text 22"/>
          <p:cNvSpPr/>
          <p:nvPr/>
        </p:nvSpPr>
        <p:spPr>
          <a:xfrm>
            <a:off x="6537960" y="3429000"/>
            <a:ext cx="4846320" cy="320040"/>
          </a:xfrm>
          <a:prstGeom prst="rect">
            <a:avLst/>
          </a:prstGeom>
          <a:noFill/>
          <a:ln/>
        </p:spPr>
        <p:txBody>
          <a:bodyPr wrap="square" lIns="0" tIns="0" rIns="0" bIns="0" rtlCol="0" anchor="ctr"/>
          <a:lstStyle/>
          <a:p>
            <a:pPr indent="0" marL="0">
              <a:buNone/>
            </a:pPr>
            <a:r>
              <a:rPr lang="en-US" sz="1200" dirty="0">
                <a:solidFill>
                  <a:srgbClr val="6B7A99"/>
                </a:solidFill>
                <a:latin typeface="Calibri" pitchFamily="34" charset="0"/>
                <a:ea typeface="Calibri" pitchFamily="34" charset="-122"/>
                <a:cs typeface="Calibri" pitchFamily="34" charset="-120"/>
              </a:rPr>
              <a:t>Clean records after removing nulls (16 columns)</a:t>
            </a:r>
            <a:endParaRPr lang="en-US" sz="1200" dirty="0"/>
          </a:p>
        </p:txBody>
      </p:sp>
      <p:sp>
        <p:nvSpPr>
          <p:cNvPr id="29" name="Shape 23"/>
          <p:cNvSpPr/>
          <p:nvPr/>
        </p:nvSpPr>
        <p:spPr>
          <a:xfrm>
            <a:off x="6263640" y="3977640"/>
            <a:ext cx="5394960" cy="2331720"/>
          </a:xfrm>
          <a:prstGeom prst="roundRect">
            <a:avLst>
              <a:gd name="adj" fmla="val 3137"/>
            </a:avLst>
          </a:prstGeom>
          <a:solidFill>
            <a:srgbClr val="F4F8FE"/>
          </a:solidFill>
          <a:ln/>
          <a:effectLst>
            <a:outerShdw sx="100000" sy="100000" kx="0" ky="0" algn="bl" rotWithShape="0" blurRad="88900" dist="25400" dir="5400000">
              <a:srgbClr val="1B2A4A">
                <a:alpha val="10000"/>
              </a:srgbClr>
            </a:outerShdw>
          </a:effectLst>
        </p:spPr>
      </p:sp>
      <p:sp>
        <p:nvSpPr>
          <p:cNvPr id="30" name="Text 24"/>
          <p:cNvSpPr/>
          <p:nvPr/>
        </p:nvSpPr>
        <p:spPr>
          <a:xfrm>
            <a:off x="6537960" y="4160520"/>
            <a:ext cx="4846320" cy="320040"/>
          </a:xfrm>
          <a:prstGeom prst="rect">
            <a:avLst/>
          </a:prstGeom>
          <a:noFill/>
          <a:ln/>
        </p:spPr>
        <p:txBody>
          <a:bodyPr wrap="square" lIns="0" tIns="0" rIns="0" bIns="0" rtlCol="0" anchor="ctr"/>
          <a:lstStyle/>
          <a:p>
            <a:pPr indent="0" marL="0">
              <a:buNone/>
            </a:pPr>
            <a:r>
              <a:rPr lang="en-US" sz="1400" b="1" dirty="0">
                <a:solidFill>
                  <a:srgbClr val="0B3D91"/>
                </a:solidFill>
                <a:latin typeface="Cambria" pitchFamily="34" charset="0"/>
                <a:ea typeface="Cambria" pitchFamily="34" charset="-122"/>
                <a:cs typeface="Cambria" pitchFamily="34" charset="-120"/>
              </a:rPr>
              <a:t>Merge Sequence</a:t>
            </a:r>
            <a:endParaRPr lang="en-US" sz="1400" dirty="0"/>
          </a:p>
        </p:txBody>
      </p:sp>
      <p:sp>
        <p:nvSpPr>
          <p:cNvPr id="31" name="Text 25"/>
          <p:cNvSpPr/>
          <p:nvPr/>
        </p:nvSpPr>
        <p:spPr>
          <a:xfrm>
            <a:off x="6537960" y="4572000"/>
            <a:ext cx="4846320" cy="155448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42506B"/>
                </a:solidFill>
                <a:latin typeface="Calibri" pitchFamily="34" charset="0"/>
                <a:ea typeface="Calibri" pitchFamily="34" charset="-122"/>
                <a:cs typeface="Calibri" pitchFamily="34" charset="-120"/>
              </a:rPr>
              <a:t>Aggregate Transaction + Aggregate User</a:t>
            </a:r>
            <a:endParaRPr lang="en-US" sz="1150" dirty="0"/>
          </a:p>
          <a:p>
            <a:pPr indent="0" marL="0">
              <a:spcAft>
                <a:spcPts val="800"/>
              </a:spcAft>
              <a:buNone/>
            </a:pPr>
            <a:r>
              <a:rPr lang="en-US" sz="1150" dirty="0">
                <a:solidFill>
                  <a:srgbClr val="42506B"/>
                </a:solidFill>
                <a:latin typeface="Calibri" pitchFamily="34" charset="0"/>
                <a:ea typeface="Calibri" pitchFamily="34" charset="-122"/>
                <a:cs typeface="Calibri" pitchFamily="34" charset="-120"/>
              </a:rPr>
              <a:t>→ Map Transaction (adds District, Lat/Long)</a:t>
            </a:r>
            <a:endParaRPr lang="en-US" sz="1150" dirty="0"/>
          </a:p>
          <a:p>
            <a:pPr indent="0" marL="0">
              <a:spcAft>
                <a:spcPts val="800"/>
              </a:spcAft>
              <a:buNone/>
            </a:pPr>
            <a:r>
              <a:rPr lang="en-US" sz="1150" dirty="0">
                <a:solidFill>
                  <a:srgbClr val="42506B"/>
                </a:solidFill>
                <a:latin typeface="Calibri" pitchFamily="34" charset="0"/>
                <a:ea typeface="Calibri" pitchFamily="34" charset="-122"/>
                <a:cs typeface="Calibri" pitchFamily="34" charset="-120"/>
              </a:rPr>
              <a:t>→ Map User (adds Registered Users, App Opens)</a:t>
            </a:r>
            <a:endParaRPr lang="en-US" sz="1150" dirty="0"/>
          </a:p>
          <a:p>
            <a:pPr indent="0" marL="0">
              <a:spcAft>
                <a:spcPts val="800"/>
              </a:spcAft>
              <a:buNone/>
            </a:pPr>
            <a:r>
              <a:rPr lang="en-US" sz="1150" dirty="0">
                <a:solidFill>
                  <a:srgbClr val="42506B"/>
                </a:solidFill>
                <a:latin typeface="Calibri" pitchFamily="34" charset="0"/>
                <a:ea typeface="Calibri" pitchFamily="34" charset="-122"/>
                <a:cs typeface="Calibri" pitchFamily="34" charset="-120"/>
              </a:rPr>
              <a:t>→ Top Transaction Pincode (adds Pincode)</a:t>
            </a:r>
            <a:endParaRPr lang="en-US" sz="1150" dirty="0"/>
          </a:p>
        </p:txBody>
      </p:sp>
      <p:sp>
        <p:nvSpPr>
          <p:cNvPr id="32" name="Text 26"/>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33" name="Text 27"/>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UNCOVERING PATTERNS IN THE DATA</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Exploratory Data Analysis</a:t>
            </a:r>
            <a:endParaRPr lang="en-US" sz="3000" dirty="0"/>
          </a:p>
        </p:txBody>
      </p:sp>
      <p:sp>
        <p:nvSpPr>
          <p:cNvPr id="4" name="Text 2"/>
          <p:cNvSpPr/>
          <p:nvPr/>
        </p:nvSpPr>
        <p:spPr>
          <a:xfrm>
            <a:off x="640080" y="1600200"/>
            <a:ext cx="10881360" cy="777240"/>
          </a:xfrm>
          <a:prstGeom prst="rect">
            <a:avLst/>
          </a:prstGeom>
          <a:noFill/>
          <a:ln/>
        </p:spPr>
        <p:txBody>
          <a:bodyPr wrap="square" lIns="0" tIns="0" rIns="0" bIns="0" rtlCol="0" anchor="t"/>
          <a:lstStyle/>
          <a:p>
            <a:pPr indent="0" marL="0">
              <a:buNone/>
            </a:pPr>
            <a:r>
              <a:rPr lang="en-US" sz="1450" dirty="0">
                <a:solidFill>
                  <a:srgbClr val="42506B"/>
                </a:solidFill>
                <a:latin typeface="Calibri" pitchFamily="34" charset="0"/>
                <a:ea typeface="Calibri" pitchFamily="34" charset="-122"/>
                <a:cs typeface="Calibri" pitchFamily="34" charset="-120"/>
              </a:rPr>
              <a:t>With clean, merged data in place, Exploratory Data Analysis (EDA) was performed to understand trends, patterns, and relationships hidden inside the PhonePe Pulse dataset — using grouping, aggregation, pivot tables, and visual charts.</a:t>
            </a:r>
            <a:endParaRPr lang="en-US" sz="1450" dirty="0"/>
          </a:p>
        </p:txBody>
      </p:sp>
      <p:sp>
        <p:nvSpPr>
          <p:cNvPr id="5" name="Shape 3"/>
          <p:cNvSpPr/>
          <p:nvPr/>
        </p:nvSpPr>
        <p:spPr>
          <a:xfrm>
            <a:off x="586588" y="2697480"/>
            <a:ext cx="3520440" cy="1874520"/>
          </a:xfrm>
          <a:prstGeom prst="roundRect">
            <a:avLst>
              <a:gd name="adj" fmla="val 3902"/>
            </a:avLst>
          </a:prstGeom>
          <a:solidFill>
            <a:srgbClr val="F4F8FE"/>
          </a:solidFill>
          <a:ln/>
          <a:effectLst>
            <a:outerShdw sx="100000" sy="100000" kx="0" ky="0" algn="bl" rotWithShape="0" blurRad="88900" dist="25400" dir="5400000">
              <a:srgbClr val="1B2A4A">
                <a:alpha val="10000"/>
              </a:srgbClr>
            </a:outerShdw>
          </a:effectLst>
        </p:spPr>
      </p:sp>
      <p:sp>
        <p:nvSpPr>
          <p:cNvPr id="6" name="Shape 4"/>
          <p:cNvSpPr/>
          <p:nvPr/>
        </p:nvSpPr>
        <p:spPr>
          <a:xfrm>
            <a:off x="2003908" y="2971800"/>
            <a:ext cx="685800" cy="685800"/>
          </a:xfrm>
          <a:prstGeom prst="ellipse">
            <a:avLst/>
          </a:prstGeom>
          <a:solidFill>
            <a:srgbClr val="0B3D91"/>
          </a:solidFill>
          <a:ln/>
        </p:spPr>
      </p:sp>
      <p:pic>
        <p:nvPicPr>
          <p:cNvPr id="7" name="Image 0" descr="icons/rupee_w.png">    </p:cNvPr>
          <p:cNvPicPr>
            <a:picLocks noChangeAspect="1"/>
          </p:cNvPicPr>
          <p:nvPr/>
        </p:nvPicPr>
        <p:blipFill>
          <a:blip r:embed="rId1"/>
          <a:stretch>
            <a:fillRect/>
          </a:stretch>
        </p:blipFill>
        <p:spPr>
          <a:xfrm>
            <a:off x="2168500" y="3136392"/>
            <a:ext cx="356616" cy="356616"/>
          </a:xfrm>
          <a:prstGeom prst="rect">
            <a:avLst/>
          </a:prstGeom>
        </p:spPr>
      </p:pic>
      <p:sp>
        <p:nvSpPr>
          <p:cNvPr id="8" name="Text 5"/>
          <p:cNvSpPr/>
          <p:nvPr/>
        </p:nvSpPr>
        <p:spPr>
          <a:xfrm>
            <a:off x="723748" y="3840480"/>
            <a:ext cx="3246120" cy="594360"/>
          </a:xfrm>
          <a:prstGeom prst="rect">
            <a:avLst/>
          </a:prstGeom>
          <a:noFill/>
          <a:ln/>
        </p:spPr>
        <p:txBody>
          <a:bodyPr wrap="square" lIns="0" tIns="0" rIns="0" bIns="0" rtlCol="0" anchor="t"/>
          <a:lstStyle/>
          <a:p>
            <a:pPr algn="ctr" indent="0" marL="0">
              <a:buNone/>
            </a:pPr>
            <a:r>
              <a:rPr lang="en-US" sz="1400" b="1" dirty="0">
                <a:solidFill>
                  <a:srgbClr val="0B3D91"/>
                </a:solidFill>
                <a:latin typeface="Cambria" pitchFamily="34" charset="0"/>
                <a:ea typeface="Cambria" pitchFamily="34" charset="-122"/>
                <a:cs typeface="Cambria" pitchFamily="34" charset="-120"/>
              </a:rPr>
              <a:t>Transaction Analysis</a:t>
            </a:r>
            <a:endParaRPr lang="en-US" sz="1400" dirty="0"/>
          </a:p>
        </p:txBody>
      </p:sp>
      <p:sp>
        <p:nvSpPr>
          <p:cNvPr id="9" name="Shape 6"/>
          <p:cNvSpPr/>
          <p:nvPr/>
        </p:nvSpPr>
        <p:spPr>
          <a:xfrm>
            <a:off x="4335628" y="2697480"/>
            <a:ext cx="3520440" cy="1874520"/>
          </a:xfrm>
          <a:prstGeom prst="roundRect">
            <a:avLst>
              <a:gd name="adj" fmla="val 3902"/>
            </a:avLst>
          </a:prstGeom>
          <a:solidFill>
            <a:srgbClr val="F4F8FE"/>
          </a:solidFill>
          <a:ln/>
          <a:effectLst>
            <a:outerShdw sx="100000" sy="100000" kx="0" ky="0" algn="bl" rotWithShape="0" blurRad="88900" dist="25400" dir="5400000">
              <a:srgbClr val="1B2A4A">
                <a:alpha val="10000"/>
              </a:srgbClr>
            </a:outerShdw>
          </a:effectLst>
        </p:spPr>
      </p:sp>
      <p:sp>
        <p:nvSpPr>
          <p:cNvPr id="10" name="Shape 7"/>
          <p:cNvSpPr/>
          <p:nvPr/>
        </p:nvSpPr>
        <p:spPr>
          <a:xfrm>
            <a:off x="5752948" y="2971800"/>
            <a:ext cx="685800" cy="685800"/>
          </a:xfrm>
          <a:prstGeom prst="ellipse">
            <a:avLst/>
          </a:prstGeom>
          <a:solidFill>
            <a:srgbClr val="0B3D91"/>
          </a:solidFill>
          <a:ln/>
        </p:spPr>
      </p:sp>
      <p:pic>
        <p:nvPicPr>
          <p:cNvPr id="11" name="Image 1" descr="icons/users_w.png">    </p:cNvPr>
          <p:cNvPicPr>
            <a:picLocks noChangeAspect="1"/>
          </p:cNvPicPr>
          <p:nvPr/>
        </p:nvPicPr>
        <p:blipFill>
          <a:blip r:embed="rId2"/>
          <a:stretch>
            <a:fillRect/>
          </a:stretch>
        </p:blipFill>
        <p:spPr>
          <a:xfrm>
            <a:off x="5917540" y="3136392"/>
            <a:ext cx="356616" cy="356616"/>
          </a:xfrm>
          <a:prstGeom prst="rect">
            <a:avLst/>
          </a:prstGeom>
        </p:spPr>
      </p:pic>
      <p:sp>
        <p:nvSpPr>
          <p:cNvPr id="12" name="Text 8"/>
          <p:cNvSpPr/>
          <p:nvPr/>
        </p:nvSpPr>
        <p:spPr>
          <a:xfrm>
            <a:off x="4472788" y="3840480"/>
            <a:ext cx="3246120" cy="594360"/>
          </a:xfrm>
          <a:prstGeom prst="rect">
            <a:avLst/>
          </a:prstGeom>
          <a:noFill/>
          <a:ln/>
        </p:spPr>
        <p:txBody>
          <a:bodyPr wrap="square" lIns="0" tIns="0" rIns="0" bIns="0" rtlCol="0" anchor="t"/>
          <a:lstStyle/>
          <a:p>
            <a:pPr algn="ctr" indent="0" marL="0">
              <a:buNone/>
            </a:pPr>
            <a:r>
              <a:rPr lang="en-US" sz="1400" b="1" dirty="0">
                <a:solidFill>
                  <a:srgbClr val="0B3D91"/>
                </a:solidFill>
                <a:latin typeface="Cambria" pitchFamily="34" charset="0"/>
                <a:ea typeface="Cambria" pitchFamily="34" charset="-122"/>
                <a:cs typeface="Cambria" pitchFamily="34" charset="-120"/>
              </a:rPr>
              <a:t>User Analysis</a:t>
            </a:r>
            <a:endParaRPr lang="en-US" sz="1400" dirty="0"/>
          </a:p>
        </p:txBody>
      </p:sp>
      <p:sp>
        <p:nvSpPr>
          <p:cNvPr id="13" name="Shape 9"/>
          <p:cNvSpPr/>
          <p:nvPr/>
        </p:nvSpPr>
        <p:spPr>
          <a:xfrm>
            <a:off x="8084668" y="2697480"/>
            <a:ext cx="3520440" cy="1874520"/>
          </a:xfrm>
          <a:prstGeom prst="roundRect">
            <a:avLst>
              <a:gd name="adj" fmla="val 3902"/>
            </a:avLst>
          </a:prstGeom>
          <a:solidFill>
            <a:srgbClr val="F4F8FE"/>
          </a:solidFill>
          <a:ln/>
          <a:effectLst>
            <a:outerShdw sx="100000" sy="100000" kx="0" ky="0" algn="bl" rotWithShape="0" blurRad="88900" dist="25400" dir="5400000">
              <a:srgbClr val="1B2A4A">
                <a:alpha val="10000"/>
              </a:srgbClr>
            </a:outerShdw>
          </a:effectLst>
        </p:spPr>
      </p:sp>
      <p:sp>
        <p:nvSpPr>
          <p:cNvPr id="14" name="Shape 10"/>
          <p:cNvSpPr/>
          <p:nvPr/>
        </p:nvSpPr>
        <p:spPr>
          <a:xfrm>
            <a:off x="9501988" y="2971800"/>
            <a:ext cx="685800" cy="685800"/>
          </a:xfrm>
          <a:prstGeom prst="ellipse">
            <a:avLst/>
          </a:prstGeom>
          <a:solidFill>
            <a:srgbClr val="0B3D91"/>
          </a:solidFill>
          <a:ln/>
        </p:spPr>
      </p:sp>
      <p:pic>
        <p:nvPicPr>
          <p:cNvPr id="15" name="Image 2" descr="icons/mobile_w.png">    </p:cNvPr>
          <p:cNvPicPr>
            <a:picLocks noChangeAspect="1"/>
          </p:cNvPicPr>
          <p:nvPr/>
        </p:nvPicPr>
        <p:blipFill>
          <a:blip r:embed="rId3"/>
          <a:stretch>
            <a:fillRect/>
          </a:stretch>
        </p:blipFill>
        <p:spPr>
          <a:xfrm>
            <a:off x="9666580" y="3136392"/>
            <a:ext cx="356616" cy="356616"/>
          </a:xfrm>
          <a:prstGeom prst="rect">
            <a:avLst/>
          </a:prstGeom>
        </p:spPr>
      </p:pic>
      <p:sp>
        <p:nvSpPr>
          <p:cNvPr id="16" name="Text 11"/>
          <p:cNvSpPr/>
          <p:nvPr/>
        </p:nvSpPr>
        <p:spPr>
          <a:xfrm>
            <a:off x="8221828" y="3840480"/>
            <a:ext cx="3246120" cy="594360"/>
          </a:xfrm>
          <a:prstGeom prst="rect">
            <a:avLst/>
          </a:prstGeom>
          <a:noFill/>
          <a:ln/>
        </p:spPr>
        <p:txBody>
          <a:bodyPr wrap="square" lIns="0" tIns="0" rIns="0" bIns="0" rtlCol="0" anchor="t"/>
          <a:lstStyle/>
          <a:p>
            <a:pPr algn="ctr" indent="0" marL="0">
              <a:buNone/>
            </a:pPr>
            <a:r>
              <a:rPr lang="en-US" sz="1400" b="1" dirty="0">
                <a:solidFill>
                  <a:srgbClr val="0B3D91"/>
                </a:solidFill>
                <a:latin typeface="Cambria" pitchFamily="34" charset="0"/>
                <a:ea typeface="Cambria" pitchFamily="34" charset="-122"/>
                <a:cs typeface="Cambria" pitchFamily="34" charset="-120"/>
              </a:rPr>
              <a:t>Mobile Brand Analysis</a:t>
            </a:r>
            <a:endParaRPr lang="en-US" sz="1400" dirty="0"/>
          </a:p>
        </p:txBody>
      </p:sp>
      <p:sp>
        <p:nvSpPr>
          <p:cNvPr id="17" name="Shape 12"/>
          <p:cNvSpPr/>
          <p:nvPr/>
        </p:nvSpPr>
        <p:spPr>
          <a:xfrm>
            <a:off x="586588" y="4828032"/>
            <a:ext cx="3520440" cy="1874520"/>
          </a:xfrm>
          <a:prstGeom prst="roundRect">
            <a:avLst>
              <a:gd name="adj" fmla="val 3902"/>
            </a:avLst>
          </a:prstGeom>
          <a:solidFill>
            <a:srgbClr val="F4F8FE"/>
          </a:solidFill>
          <a:ln/>
          <a:effectLst>
            <a:outerShdw sx="100000" sy="100000" kx="0" ky="0" algn="bl" rotWithShape="0" blurRad="88900" dist="25400" dir="5400000">
              <a:srgbClr val="1B2A4A">
                <a:alpha val="10000"/>
              </a:srgbClr>
            </a:outerShdw>
          </a:effectLst>
        </p:spPr>
      </p:sp>
      <p:sp>
        <p:nvSpPr>
          <p:cNvPr id="18" name="Shape 13"/>
          <p:cNvSpPr/>
          <p:nvPr/>
        </p:nvSpPr>
        <p:spPr>
          <a:xfrm>
            <a:off x="2003908" y="5102352"/>
            <a:ext cx="685800" cy="685800"/>
          </a:xfrm>
          <a:prstGeom prst="ellipse">
            <a:avLst/>
          </a:prstGeom>
          <a:solidFill>
            <a:srgbClr val="1859C4"/>
          </a:solidFill>
          <a:ln/>
        </p:spPr>
      </p:sp>
      <p:pic>
        <p:nvPicPr>
          <p:cNvPr id="19" name="Image 3" descr="icons/building_w.png">    </p:cNvPr>
          <p:cNvPicPr>
            <a:picLocks noChangeAspect="1"/>
          </p:cNvPicPr>
          <p:nvPr/>
        </p:nvPicPr>
        <p:blipFill>
          <a:blip r:embed="rId4"/>
          <a:stretch>
            <a:fillRect/>
          </a:stretch>
        </p:blipFill>
        <p:spPr>
          <a:xfrm>
            <a:off x="2168500" y="5266944"/>
            <a:ext cx="356616" cy="356616"/>
          </a:xfrm>
          <a:prstGeom prst="rect">
            <a:avLst/>
          </a:prstGeom>
        </p:spPr>
      </p:pic>
      <p:sp>
        <p:nvSpPr>
          <p:cNvPr id="20" name="Text 14"/>
          <p:cNvSpPr/>
          <p:nvPr/>
        </p:nvSpPr>
        <p:spPr>
          <a:xfrm>
            <a:off x="723748" y="5971032"/>
            <a:ext cx="3246120" cy="594360"/>
          </a:xfrm>
          <a:prstGeom prst="rect">
            <a:avLst/>
          </a:prstGeom>
          <a:noFill/>
          <a:ln/>
        </p:spPr>
        <p:txBody>
          <a:bodyPr wrap="square" lIns="0" tIns="0" rIns="0" bIns="0" rtlCol="0" anchor="t"/>
          <a:lstStyle/>
          <a:p>
            <a:pPr algn="ctr" indent="0" marL="0">
              <a:buNone/>
            </a:pPr>
            <a:r>
              <a:rPr lang="en-US" sz="1400" b="1" dirty="0">
                <a:solidFill>
                  <a:srgbClr val="0B3D91"/>
                </a:solidFill>
                <a:latin typeface="Cambria" pitchFamily="34" charset="0"/>
                <a:ea typeface="Cambria" pitchFamily="34" charset="-122"/>
                <a:cs typeface="Cambria" pitchFamily="34" charset="-120"/>
              </a:rPr>
              <a:t>District Analysis</a:t>
            </a:r>
            <a:endParaRPr lang="en-US" sz="1400" dirty="0"/>
          </a:p>
        </p:txBody>
      </p:sp>
      <p:sp>
        <p:nvSpPr>
          <p:cNvPr id="21" name="Shape 15"/>
          <p:cNvSpPr/>
          <p:nvPr/>
        </p:nvSpPr>
        <p:spPr>
          <a:xfrm>
            <a:off x="4335628" y="4828032"/>
            <a:ext cx="3520440" cy="1874520"/>
          </a:xfrm>
          <a:prstGeom prst="roundRect">
            <a:avLst>
              <a:gd name="adj" fmla="val 3902"/>
            </a:avLst>
          </a:prstGeom>
          <a:solidFill>
            <a:srgbClr val="F4F8FE"/>
          </a:solidFill>
          <a:ln/>
          <a:effectLst>
            <a:outerShdw sx="100000" sy="100000" kx="0" ky="0" algn="bl" rotWithShape="0" blurRad="88900" dist="25400" dir="5400000">
              <a:srgbClr val="1B2A4A">
                <a:alpha val="10000"/>
              </a:srgbClr>
            </a:outerShdw>
          </a:effectLst>
        </p:spPr>
      </p:sp>
      <p:sp>
        <p:nvSpPr>
          <p:cNvPr id="22" name="Shape 16"/>
          <p:cNvSpPr/>
          <p:nvPr/>
        </p:nvSpPr>
        <p:spPr>
          <a:xfrm>
            <a:off x="5752948" y="5102352"/>
            <a:ext cx="685800" cy="685800"/>
          </a:xfrm>
          <a:prstGeom prst="ellipse">
            <a:avLst/>
          </a:prstGeom>
          <a:solidFill>
            <a:srgbClr val="1859C4"/>
          </a:solidFill>
          <a:ln/>
        </p:spPr>
      </p:sp>
      <p:pic>
        <p:nvPicPr>
          <p:cNvPr id="23" name="Image 4" descr="icons/pin_w.png">    </p:cNvPr>
          <p:cNvPicPr>
            <a:picLocks noChangeAspect="1"/>
          </p:cNvPicPr>
          <p:nvPr/>
        </p:nvPicPr>
        <p:blipFill>
          <a:blip r:embed="rId5"/>
          <a:stretch>
            <a:fillRect/>
          </a:stretch>
        </p:blipFill>
        <p:spPr>
          <a:xfrm>
            <a:off x="5917540" y="5266944"/>
            <a:ext cx="356616" cy="356616"/>
          </a:xfrm>
          <a:prstGeom prst="rect">
            <a:avLst/>
          </a:prstGeom>
        </p:spPr>
      </p:pic>
      <p:sp>
        <p:nvSpPr>
          <p:cNvPr id="24" name="Text 17"/>
          <p:cNvSpPr/>
          <p:nvPr/>
        </p:nvSpPr>
        <p:spPr>
          <a:xfrm>
            <a:off x="4472788" y="5971032"/>
            <a:ext cx="3246120" cy="594360"/>
          </a:xfrm>
          <a:prstGeom prst="rect">
            <a:avLst/>
          </a:prstGeom>
          <a:noFill/>
          <a:ln/>
        </p:spPr>
        <p:txBody>
          <a:bodyPr wrap="square" lIns="0" tIns="0" rIns="0" bIns="0" rtlCol="0" anchor="t"/>
          <a:lstStyle/>
          <a:p>
            <a:pPr algn="ctr" indent="0" marL="0">
              <a:buNone/>
            </a:pPr>
            <a:r>
              <a:rPr lang="en-US" sz="1400" b="1" dirty="0">
                <a:solidFill>
                  <a:srgbClr val="0B3D91"/>
                </a:solidFill>
                <a:latin typeface="Cambria" pitchFamily="34" charset="0"/>
                <a:ea typeface="Cambria" pitchFamily="34" charset="-122"/>
                <a:cs typeface="Cambria" pitchFamily="34" charset="-120"/>
              </a:rPr>
              <a:t>Pincode Analysis</a:t>
            </a:r>
            <a:endParaRPr lang="en-US" sz="1400" dirty="0"/>
          </a:p>
        </p:txBody>
      </p:sp>
      <p:sp>
        <p:nvSpPr>
          <p:cNvPr id="25" name="Shape 18"/>
          <p:cNvSpPr/>
          <p:nvPr/>
        </p:nvSpPr>
        <p:spPr>
          <a:xfrm>
            <a:off x="8084668" y="4828032"/>
            <a:ext cx="3520440" cy="1874520"/>
          </a:xfrm>
          <a:prstGeom prst="roundRect">
            <a:avLst>
              <a:gd name="adj" fmla="val 3902"/>
            </a:avLst>
          </a:prstGeom>
          <a:solidFill>
            <a:srgbClr val="F4F8FE"/>
          </a:solidFill>
          <a:ln/>
          <a:effectLst>
            <a:outerShdw sx="100000" sy="100000" kx="0" ky="0" algn="bl" rotWithShape="0" blurRad="88900" dist="25400" dir="5400000">
              <a:srgbClr val="1B2A4A">
                <a:alpha val="10000"/>
              </a:srgbClr>
            </a:outerShdw>
          </a:effectLst>
        </p:spPr>
      </p:sp>
      <p:sp>
        <p:nvSpPr>
          <p:cNvPr id="26" name="Shape 19"/>
          <p:cNvSpPr/>
          <p:nvPr/>
        </p:nvSpPr>
        <p:spPr>
          <a:xfrm>
            <a:off x="9501988" y="5102352"/>
            <a:ext cx="685800" cy="685800"/>
          </a:xfrm>
          <a:prstGeom prst="ellipse">
            <a:avLst/>
          </a:prstGeom>
          <a:solidFill>
            <a:srgbClr val="1859C4"/>
          </a:solidFill>
          <a:ln/>
        </p:spPr>
      </p:sp>
      <p:pic>
        <p:nvPicPr>
          <p:cNvPr id="27" name="Image 5" descr="icons/map_w.png">    </p:cNvPr>
          <p:cNvPicPr>
            <a:picLocks noChangeAspect="1"/>
          </p:cNvPicPr>
          <p:nvPr/>
        </p:nvPicPr>
        <p:blipFill>
          <a:blip r:embed="rId6"/>
          <a:stretch>
            <a:fillRect/>
          </a:stretch>
        </p:blipFill>
        <p:spPr>
          <a:xfrm>
            <a:off x="9666580" y="5266944"/>
            <a:ext cx="356616" cy="356616"/>
          </a:xfrm>
          <a:prstGeom prst="rect">
            <a:avLst/>
          </a:prstGeom>
        </p:spPr>
      </p:pic>
      <p:sp>
        <p:nvSpPr>
          <p:cNvPr id="28" name="Text 20"/>
          <p:cNvSpPr/>
          <p:nvPr/>
        </p:nvSpPr>
        <p:spPr>
          <a:xfrm>
            <a:off x="8221828" y="5971032"/>
            <a:ext cx="3246120" cy="594360"/>
          </a:xfrm>
          <a:prstGeom prst="rect">
            <a:avLst/>
          </a:prstGeom>
          <a:noFill/>
          <a:ln/>
        </p:spPr>
        <p:txBody>
          <a:bodyPr wrap="square" lIns="0" tIns="0" rIns="0" bIns="0" rtlCol="0" anchor="t"/>
          <a:lstStyle/>
          <a:p>
            <a:pPr algn="ctr" indent="0" marL="0">
              <a:buNone/>
            </a:pPr>
            <a:r>
              <a:rPr lang="en-US" sz="1400" b="1" dirty="0">
                <a:solidFill>
                  <a:srgbClr val="0B3D91"/>
                </a:solidFill>
                <a:latin typeface="Cambria" pitchFamily="34" charset="0"/>
                <a:ea typeface="Cambria" pitchFamily="34" charset="-122"/>
                <a:cs typeface="Cambria" pitchFamily="34" charset="-120"/>
              </a:rPr>
              <a:t>Region Analysis</a:t>
            </a:r>
            <a:endParaRPr lang="en-US" sz="1400" dirty="0"/>
          </a:p>
        </p:txBody>
      </p:sp>
      <p:sp>
        <p:nvSpPr>
          <p:cNvPr id="29" name="Text 21"/>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30" name="Text 22"/>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TRANSACTION ANALYSIS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Total Transaction Amount by State</a:t>
            </a:r>
            <a:endParaRPr lang="en-US" sz="3000" dirty="0"/>
          </a:p>
        </p:txBody>
      </p:sp>
      <p:sp>
        <p:nvSpPr>
          <p:cNvPr id="4" name="Text 2"/>
          <p:cNvSpPr/>
          <p:nvPr/>
        </p:nvSpPr>
        <p:spPr>
          <a:xfrm>
            <a:off x="548640" y="141732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OBJECTIVE</a:t>
            </a:r>
            <a:endParaRPr lang="en-US" sz="1100" dirty="0"/>
          </a:p>
        </p:txBody>
      </p:sp>
      <p:sp>
        <p:nvSpPr>
          <p:cNvPr id="5" name="Text 3"/>
          <p:cNvSpPr/>
          <p:nvPr/>
        </p:nvSpPr>
        <p:spPr>
          <a:xfrm>
            <a:off x="548640" y="1709928"/>
            <a:ext cx="4160520" cy="64008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Identify which Indian states generate the highest digital transaction value on PhonePe.</a:t>
            </a:r>
            <a:endParaRPr lang="en-US" sz="1250" dirty="0"/>
          </a:p>
        </p:txBody>
      </p:sp>
      <p:sp>
        <p:nvSpPr>
          <p:cNvPr id="6" name="Text 4"/>
          <p:cNvSpPr/>
          <p:nvPr/>
        </p:nvSpPr>
        <p:spPr>
          <a:xfrm>
            <a:off x="548640" y="2487168"/>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KEY OBSERVATIONS</a:t>
            </a:r>
            <a:endParaRPr lang="en-US" sz="1100" dirty="0"/>
          </a:p>
        </p:txBody>
      </p:sp>
      <p:sp>
        <p:nvSpPr>
          <p:cNvPr id="7" name="Text 5"/>
          <p:cNvSpPr/>
          <p:nvPr/>
        </p:nvSpPr>
        <p:spPr>
          <a:xfrm>
            <a:off x="548640" y="2779776"/>
            <a:ext cx="41605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Uttar Pradesh recorded the highest total transaction amount, followed closely by Maharashtra and Telangana.</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Karnataka and Madhya Pradesh round out the top five performing states.</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A steep drop-off is visible after the top 10 states, showing concentrated activity.</a:t>
            </a:r>
            <a:endParaRPr lang="en-US" sz="1200" dirty="0"/>
          </a:p>
        </p:txBody>
      </p:sp>
      <p:sp>
        <p:nvSpPr>
          <p:cNvPr id="8" name="Shape 6"/>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0" descr="icons/lightbulb.png">    </p:cNvPr>
          <p:cNvPicPr>
            <a:picLocks noChangeAspect="1"/>
          </p:cNvPicPr>
          <p:nvPr/>
        </p:nvPicPr>
        <p:blipFill>
          <a:blip r:embed="rId1"/>
          <a:stretch>
            <a:fillRect/>
          </a:stretch>
        </p:blipFill>
        <p:spPr>
          <a:xfrm>
            <a:off x="713232" y="5422392"/>
            <a:ext cx="365760" cy="365760"/>
          </a:xfrm>
          <a:prstGeom prst="rect">
            <a:avLst/>
          </a:prstGeom>
        </p:spPr>
      </p:pic>
      <p:sp>
        <p:nvSpPr>
          <p:cNvPr id="10" name="Text 7"/>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8"/>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Digital payment growth is heavily concentrated in a handful of large states — marketing and infrastructure investment should prioritize these high-value regions.</a:t>
            </a:r>
            <a:endParaRPr lang="en-US" sz="1100" dirty="0"/>
          </a:p>
        </p:txBody>
      </p:sp>
      <p:sp>
        <p:nvSpPr>
          <p:cNvPr id="12" name="Shape 9"/>
          <p:cNvSpPr/>
          <p:nvPr/>
        </p:nvSpPr>
        <p:spPr>
          <a:xfrm>
            <a:off x="4983480" y="1371600"/>
            <a:ext cx="6675120" cy="4937760"/>
          </a:xfrm>
          <a:prstGeom prst="roundRect">
            <a:avLst>
              <a:gd name="adj" fmla="val 1481"/>
            </a:avLst>
          </a:prstGeom>
          <a:solidFill>
            <a:srgbClr val="FFFFFF"/>
          </a:solidFill>
          <a:ln/>
          <a:effectLst>
            <a:outerShdw sx="100000" sy="100000" kx="0" ky="0" algn="bl" rotWithShape="0" blurRad="88900" dist="25400" dir="5400000">
              <a:srgbClr val="1B2A4A">
                <a:alpha val="10000"/>
              </a:srgbClr>
            </a:outerShdw>
          </a:effectLst>
        </p:spPr>
      </p:sp>
      <p:pic>
        <p:nvPicPr>
          <p:cNvPr id="13" name="Image 1" descr="imgs/cell91_1.png">    </p:cNvPr>
          <p:cNvPicPr>
            <a:picLocks noChangeAspect="1"/>
          </p:cNvPicPr>
          <p:nvPr/>
        </p:nvPicPr>
        <p:blipFill>
          <a:blip r:embed="rId2"/>
          <a:stretch>
            <a:fillRect/>
          </a:stretch>
        </p:blipFill>
        <p:spPr>
          <a:xfrm>
            <a:off x="5215027" y="1572768"/>
            <a:ext cx="6212026" cy="4535424"/>
          </a:xfrm>
          <a:prstGeom prst="rect">
            <a:avLst/>
          </a:prstGeom>
        </p:spPr>
      </p:pic>
      <p:sp>
        <p:nvSpPr>
          <p:cNvPr id="14" name="Text 1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TOP DISTRICT ANALYSIS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Top 20 Districts by Registered Users</a:t>
            </a:r>
            <a:endParaRPr lang="en-US" sz="3000" dirty="0"/>
          </a:p>
        </p:txBody>
      </p:sp>
      <p:sp>
        <p:nvSpPr>
          <p:cNvPr id="4" name="Text 2"/>
          <p:cNvSpPr/>
          <p:nvPr/>
        </p:nvSpPr>
        <p:spPr>
          <a:xfrm>
            <a:off x="548640" y="141732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OBJECTIVE</a:t>
            </a:r>
            <a:endParaRPr lang="en-US" sz="1100" dirty="0"/>
          </a:p>
        </p:txBody>
      </p:sp>
      <p:sp>
        <p:nvSpPr>
          <p:cNvPr id="5" name="Text 3"/>
          <p:cNvSpPr/>
          <p:nvPr/>
        </p:nvSpPr>
        <p:spPr>
          <a:xfrm>
            <a:off x="548640" y="1709928"/>
            <a:ext cx="4160520" cy="64008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Pinpoint the districts driving the highest user registration volumes across India.</a:t>
            </a:r>
            <a:endParaRPr lang="en-US" sz="1250" dirty="0"/>
          </a:p>
        </p:txBody>
      </p:sp>
      <p:sp>
        <p:nvSpPr>
          <p:cNvPr id="6" name="Text 4"/>
          <p:cNvSpPr/>
          <p:nvPr/>
        </p:nvSpPr>
        <p:spPr>
          <a:xfrm>
            <a:off x="548640" y="2487168"/>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KEY OBSERVATIONS</a:t>
            </a:r>
            <a:endParaRPr lang="en-US" sz="1100" dirty="0"/>
          </a:p>
        </p:txBody>
      </p:sp>
      <p:sp>
        <p:nvSpPr>
          <p:cNvPr id="7" name="Text 5"/>
          <p:cNvSpPr/>
          <p:nvPr/>
        </p:nvSpPr>
        <p:spPr>
          <a:xfrm>
            <a:off x="548640" y="2779776"/>
            <a:ext cx="41605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Bengaluru Urban leads all districts with over 69 billion in registered-user activity.</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Pune, Jaipur, Thane, and Mumbai Suburban follow as the next top districts.</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Urban, metro-adjacent districts dominate the top 20 list.</a:t>
            </a:r>
            <a:endParaRPr lang="en-US" sz="1200" dirty="0"/>
          </a:p>
        </p:txBody>
      </p:sp>
      <p:sp>
        <p:nvSpPr>
          <p:cNvPr id="8" name="Shape 6"/>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0" descr="icons/lightbulb.png">    </p:cNvPr>
          <p:cNvPicPr>
            <a:picLocks noChangeAspect="1"/>
          </p:cNvPicPr>
          <p:nvPr/>
        </p:nvPicPr>
        <p:blipFill>
          <a:blip r:embed="rId1"/>
          <a:stretch>
            <a:fillRect/>
          </a:stretch>
        </p:blipFill>
        <p:spPr>
          <a:xfrm>
            <a:off x="713232" y="5422392"/>
            <a:ext cx="365760" cy="365760"/>
          </a:xfrm>
          <a:prstGeom prst="rect">
            <a:avLst/>
          </a:prstGeom>
        </p:spPr>
      </p:pic>
      <p:sp>
        <p:nvSpPr>
          <p:cNvPr id="10" name="Text 7"/>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8"/>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Metro and IT-hub districts are PhonePe's strongest user bases, making them ideal candidates for premium features, loyalty programs, and merchant partnerships.</a:t>
            </a:r>
            <a:endParaRPr lang="en-US" sz="1100" dirty="0"/>
          </a:p>
        </p:txBody>
      </p:sp>
      <p:sp>
        <p:nvSpPr>
          <p:cNvPr id="12" name="Shape 9"/>
          <p:cNvSpPr/>
          <p:nvPr/>
        </p:nvSpPr>
        <p:spPr>
          <a:xfrm>
            <a:off x="4983480" y="1371600"/>
            <a:ext cx="6675120" cy="4937760"/>
          </a:xfrm>
          <a:prstGeom prst="roundRect">
            <a:avLst>
              <a:gd name="adj" fmla="val 1481"/>
            </a:avLst>
          </a:prstGeom>
          <a:solidFill>
            <a:srgbClr val="FFFFFF"/>
          </a:solidFill>
          <a:ln/>
          <a:effectLst>
            <a:outerShdw sx="100000" sy="100000" kx="0" ky="0" algn="bl" rotWithShape="0" blurRad="88900" dist="25400" dir="5400000">
              <a:srgbClr val="1B2A4A">
                <a:alpha val="10000"/>
              </a:srgbClr>
            </a:outerShdw>
          </a:effectLst>
        </p:spPr>
      </p:sp>
      <p:pic>
        <p:nvPicPr>
          <p:cNvPr id="13" name="Image 1" descr="imgs/cell96_2.png">    </p:cNvPr>
          <p:cNvPicPr>
            <a:picLocks noChangeAspect="1"/>
          </p:cNvPicPr>
          <p:nvPr/>
        </p:nvPicPr>
        <p:blipFill>
          <a:blip r:embed="rId2"/>
          <a:stretch>
            <a:fillRect/>
          </a:stretch>
        </p:blipFill>
        <p:spPr>
          <a:xfrm>
            <a:off x="5184648" y="2284154"/>
            <a:ext cx="6272784" cy="3112651"/>
          </a:xfrm>
          <a:prstGeom prst="rect">
            <a:avLst/>
          </a:prstGeom>
        </p:spPr>
      </p:pic>
      <p:sp>
        <p:nvSpPr>
          <p:cNvPr id="14" name="Text 1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MOBILE BRAND ANALYSIS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Brand-Wise Market Share</a:t>
            </a:r>
            <a:endParaRPr lang="en-US" sz="3000" dirty="0"/>
          </a:p>
        </p:txBody>
      </p:sp>
      <p:sp>
        <p:nvSpPr>
          <p:cNvPr id="4" name="Text 2"/>
          <p:cNvSpPr/>
          <p:nvPr/>
        </p:nvSpPr>
        <p:spPr>
          <a:xfrm>
            <a:off x="548640" y="141732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OBJECTIVE</a:t>
            </a:r>
            <a:endParaRPr lang="en-US" sz="1100" dirty="0"/>
          </a:p>
        </p:txBody>
      </p:sp>
      <p:sp>
        <p:nvSpPr>
          <p:cNvPr id="5" name="Text 3"/>
          <p:cNvSpPr/>
          <p:nvPr/>
        </p:nvSpPr>
        <p:spPr>
          <a:xfrm>
            <a:off x="548640" y="1709928"/>
            <a:ext cx="4160520" cy="64008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Understand which mobile phone brands are most popular among PhonePe users.</a:t>
            </a:r>
            <a:endParaRPr lang="en-US" sz="1250" dirty="0"/>
          </a:p>
        </p:txBody>
      </p:sp>
      <p:sp>
        <p:nvSpPr>
          <p:cNvPr id="6" name="Text 4"/>
          <p:cNvSpPr/>
          <p:nvPr/>
        </p:nvSpPr>
        <p:spPr>
          <a:xfrm>
            <a:off x="548640" y="2487168"/>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KEY OBSERVATIONS</a:t>
            </a:r>
            <a:endParaRPr lang="en-US" sz="1100" dirty="0"/>
          </a:p>
        </p:txBody>
      </p:sp>
      <p:sp>
        <p:nvSpPr>
          <p:cNvPr id="7" name="Text 5"/>
          <p:cNvSpPr/>
          <p:nvPr/>
        </p:nvSpPr>
        <p:spPr>
          <a:xfrm>
            <a:off x="548640" y="2779776"/>
            <a:ext cx="41605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Xiaomi leads with an average market share of about 26.3%.</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Samsung (19.1%) and Vivo (16.9%) follow as strong runner-ups.</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Oppo (11.7%) and the 'Others' category (9.3%) complete the top five brands.</a:t>
            </a:r>
            <a:endParaRPr lang="en-US" sz="1200" dirty="0"/>
          </a:p>
        </p:txBody>
      </p:sp>
      <p:sp>
        <p:nvSpPr>
          <p:cNvPr id="8" name="Shape 6"/>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0" descr="icons/lightbulb.png">    </p:cNvPr>
          <p:cNvPicPr>
            <a:picLocks noChangeAspect="1"/>
          </p:cNvPicPr>
          <p:nvPr/>
        </p:nvPicPr>
        <p:blipFill>
          <a:blip r:embed="rId1"/>
          <a:stretch>
            <a:fillRect/>
          </a:stretch>
        </p:blipFill>
        <p:spPr>
          <a:xfrm>
            <a:off x="713232" y="5422392"/>
            <a:ext cx="365760" cy="365760"/>
          </a:xfrm>
          <a:prstGeom prst="rect">
            <a:avLst/>
          </a:prstGeom>
        </p:spPr>
      </p:pic>
      <p:sp>
        <p:nvSpPr>
          <p:cNvPr id="10" name="Text 7"/>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8"/>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Budget and mid-range Android brands (Xiaomi, Samsung, Vivo) dominate the user base — app performance should be optimized for these device segments first.</a:t>
            </a:r>
            <a:endParaRPr lang="en-US" sz="1100" dirty="0"/>
          </a:p>
        </p:txBody>
      </p:sp>
      <p:sp>
        <p:nvSpPr>
          <p:cNvPr id="12" name="Shape 9"/>
          <p:cNvSpPr/>
          <p:nvPr/>
        </p:nvSpPr>
        <p:spPr>
          <a:xfrm>
            <a:off x="4983480" y="1371600"/>
            <a:ext cx="6675120" cy="4937760"/>
          </a:xfrm>
          <a:prstGeom prst="roundRect">
            <a:avLst>
              <a:gd name="adj" fmla="val 1481"/>
            </a:avLst>
          </a:prstGeom>
          <a:solidFill>
            <a:srgbClr val="FFFFFF"/>
          </a:solidFill>
          <a:ln/>
          <a:effectLst>
            <a:outerShdw sx="100000" sy="100000" kx="0" ky="0" algn="bl" rotWithShape="0" blurRad="88900" dist="25400" dir="5400000">
              <a:srgbClr val="1B2A4A">
                <a:alpha val="10000"/>
              </a:srgbClr>
            </a:outerShdw>
          </a:effectLst>
        </p:spPr>
      </p:sp>
      <p:pic>
        <p:nvPicPr>
          <p:cNvPr id="13" name="Image 1" descr="imgs/cell135_10.png">    </p:cNvPr>
          <p:cNvPicPr>
            <a:picLocks noChangeAspect="1"/>
          </p:cNvPicPr>
          <p:nvPr/>
        </p:nvPicPr>
        <p:blipFill>
          <a:blip r:embed="rId2"/>
          <a:stretch>
            <a:fillRect/>
          </a:stretch>
        </p:blipFill>
        <p:spPr>
          <a:xfrm>
            <a:off x="5184648" y="1599134"/>
            <a:ext cx="6272784" cy="4482691"/>
          </a:xfrm>
          <a:prstGeom prst="rect">
            <a:avLst/>
          </a:prstGeom>
        </p:spPr>
      </p:pic>
      <p:sp>
        <p:nvSpPr>
          <p:cNvPr id="14" name="Text 1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USER ANALYSIS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App Opens by State and Year</a:t>
            </a:r>
            <a:endParaRPr lang="en-US" sz="3000" dirty="0"/>
          </a:p>
        </p:txBody>
      </p:sp>
      <p:sp>
        <p:nvSpPr>
          <p:cNvPr id="4" name="Text 2"/>
          <p:cNvSpPr/>
          <p:nvPr/>
        </p:nvSpPr>
        <p:spPr>
          <a:xfrm>
            <a:off x="548640" y="141732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OBJECTIVE</a:t>
            </a:r>
            <a:endParaRPr lang="en-US" sz="1100" dirty="0"/>
          </a:p>
        </p:txBody>
      </p:sp>
      <p:sp>
        <p:nvSpPr>
          <p:cNvPr id="5" name="Text 3"/>
          <p:cNvSpPr/>
          <p:nvPr/>
        </p:nvSpPr>
        <p:spPr>
          <a:xfrm>
            <a:off x="548640" y="1709928"/>
            <a:ext cx="4160520" cy="64008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Track how user engagement (app opens) has evolved across states and years.</a:t>
            </a:r>
            <a:endParaRPr lang="en-US" sz="1250" dirty="0"/>
          </a:p>
        </p:txBody>
      </p:sp>
      <p:sp>
        <p:nvSpPr>
          <p:cNvPr id="6" name="Text 4"/>
          <p:cNvSpPr/>
          <p:nvPr/>
        </p:nvSpPr>
        <p:spPr>
          <a:xfrm>
            <a:off x="548640" y="2487168"/>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KEY OBSERVATIONS</a:t>
            </a:r>
            <a:endParaRPr lang="en-US" sz="1100" dirty="0"/>
          </a:p>
        </p:txBody>
      </p:sp>
      <p:sp>
        <p:nvSpPr>
          <p:cNvPr id="7" name="Text 5"/>
          <p:cNvSpPr/>
          <p:nvPr/>
        </p:nvSpPr>
        <p:spPr>
          <a:xfrm>
            <a:off x="548640" y="2779776"/>
            <a:ext cx="41605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Maharashtra, Karnataka, and Andhra Pradesh show the darkest (highest) engagement cells.</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App opens rise consistently year-over-year for most large states.</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Smaller states and union territories show comparatively low, steady engagement.</a:t>
            </a:r>
            <a:endParaRPr lang="en-US" sz="1200" dirty="0"/>
          </a:p>
        </p:txBody>
      </p:sp>
      <p:sp>
        <p:nvSpPr>
          <p:cNvPr id="8" name="Shape 6"/>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0" descr="icons/lightbulb.png">    </p:cNvPr>
          <p:cNvPicPr>
            <a:picLocks noChangeAspect="1"/>
          </p:cNvPicPr>
          <p:nvPr/>
        </p:nvPicPr>
        <p:blipFill>
          <a:blip r:embed="rId1"/>
          <a:stretch>
            <a:fillRect/>
          </a:stretch>
        </p:blipFill>
        <p:spPr>
          <a:xfrm>
            <a:off x="713232" y="5422392"/>
            <a:ext cx="365760" cy="365760"/>
          </a:xfrm>
          <a:prstGeom prst="rect">
            <a:avLst/>
          </a:prstGeom>
        </p:spPr>
      </p:pic>
      <p:sp>
        <p:nvSpPr>
          <p:cNvPr id="10" name="Text 7"/>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8"/>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Sustained growth in app opens signals strengthening user habit and loyalty — a positive leading indicator for retention-focused product features.</a:t>
            </a:r>
            <a:endParaRPr lang="en-US" sz="1100" dirty="0"/>
          </a:p>
        </p:txBody>
      </p:sp>
      <p:sp>
        <p:nvSpPr>
          <p:cNvPr id="12" name="Shape 9"/>
          <p:cNvSpPr/>
          <p:nvPr/>
        </p:nvSpPr>
        <p:spPr>
          <a:xfrm>
            <a:off x="4983480" y="1371600"/>
            <a:ext cx="6675120" cy="4937760"/>
          </a:xfrm>
          <a:prstGeom prst="roundRect">
            <a:avLst>
              <a:gd name="adj" fmla="val 1481"/>
            </a:avLst>
          </a:prstGeom>
          <a:solidFill>
            <a:srgbClr val="FFFFFF"/>
          </a:solidFill>
          <a:ln/>
          <a:effectLst>
            <a:outerShdw sx="100000" sy="100000" kx="0" ky="0" algn="bl" rotWithShape="0" blurRad="88900" dist="25400" dir="5400000">
              <a:srgbClr val="1B2A4A">
                <a:alpha val="10000"/>
              </a:srgbClr>
            </a:outerShdw>
          </a:effectLst>
        </p:spPr>
      </p:sp>
      <p:pic>
        <p:nvPicPr>
          <p:cNvPr id="13" name="Image 1" descr="imgs/cell105_3.png">    </p:cNvPr>
          <p:cNvPicPr>
            <a:picLocks noChangeAspect="1"/>
          </p:cNvPicPr>
          <p:nvPr/>
        </p:nvPicPr>
        <p:blipFill>
          <a:blip r:embed="rId2"/>
          <a:stretch>
            <a:fillRect/>
          </a:stretch>
        </p:blipFill>
        <p:spPr>
          <a:xfrm>
            <a:off x="5184648" y="1644235"/>
            <a:ext cx="6272784" cy="4392490"/>
          </a:xfrm>
          <a:prstGeom prst="rect">
            <a:avLst/>
          </a:prstGeom>
        </p:spPr>
      </p:pic>
      <p:sp>
        <p:nvSpPr>
          <p:cNvPr id="14" name="Text 1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REGION ANALYSIS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App Opens by Region</a:t>
            </a:r>
            <a:endParaRPr lang="en-US" sz="3000" dirty="0"/>
          </a:p>
        </p:txBody>
      </p:sp>
      <p:sp>
        <p:nvSpPr>
          <p:cNvPr id="4" name="Text 2"/>
          <p:cNvSpPr/>
          <p:nvPr/>
        </p:nvSpPr>
        <p:spPr>
          <a:xfrm>
            <a:off x="548640" y="141732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OBJECTIVE</a:t>
            </a:r>
            <a:endParaRPr lang="en-US" sz="1100" dirty="0"/>
          </a:p>
        </p:txBody>
      </p:sp>
      <p:sp>
        <p:nvSpPr>
          <p:cNvPr id="5" name="Text 3"/>
          <p:cNvSpPr/>
          <p:nvPr/>
        </p:nvSpPr>
        <p:spPr>
          <a:xfrm>
            <a:off x="548640" y="1709928"/>
            <a:ext cx="4160520" cy="64008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Compare user engagement across India's six broad geographic regions.</a:t>
            </a:r>
            <a:endParaRPr lang="en-US" sz="1250" dirty="0"/>
          </a:p>
        </p:txBody>
      </p:sp>
      <p:sp>
        <p:nvSpPr>
          <p:cNvPr id="6" name="Text 4"/>
          <p:cNvSpPr/>
          <p:nvPr/>
        </p:nvSpPr>
        <p:spPr>
          <a:xfrm>
            <a:off x="548640" y="2487168"/>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KEY OBSERVATIONS</a:t>
            </a:r>
            <a:endParaRPr lang="en-US" sz="1100" dirty="0"/>
          </a:p>
        </p:txBody>
      </p:sp>
      <p:sp>
        <p:nvSpPr>
          <p:cNvPr id="7" name="Text 5"/>
          <p:cNvSpPr/>
          <p:nvPr/>
        </p:nvSpPr>
        <p:spPr>
          <a:xfrm>
            <a:off x="548640" y="2779776"/>
            <a:ext cx="41605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The Southern Region leads with roughly 18.45 trillion app opens.</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The Western Region follows at about 13.22 trillion.</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The North-Eastern Region records the lowest engagement at approximately 740 billion.</a:t>
            </a:r>
            <a:endParaRPr lang="en-US" sz="1200" dirty="0"/>
          </a:p>
        </p:txBody>
      </p:sp>
      <p:sp>
        <p:nvSpPr>
          <p:cNvPr id="8" name="Shape 6"/>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0" descr="icons/lightbulb.png">    </p:cNvPr>
          <p:cNvPicPr>
            <a:picLocks noChangeAspect="1"/>
          </p:cNvPicPr>
          <p:nvPr/>
        </p:nvPicPr>
        <p:blipFill>
          <a:blip r:embed="rId1"/>
          <a:stretch>
            <a:fillRect/>
          </a:stretch>
        </p:blipFill>
        <p:spPr>
          <a:xfrm>
            <a:off x="713232" y="5422392"/>
            <a:ext cx="365760" cy="365760"/>
          </a:xfrm>
          <a:prstGeom prst="rect">
            <a:avLst/>
          </a:prstGeom>
        </p:spPr>
      </p:pic>
      <p:sp>
        <p:nvSpPr>
          <p:cNvPr id="10" name="Text 7"/>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8"/>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Southern and Western India are PhonePe's engagement strongholds; the North-East represents a high-growth opportunity for targeted expansion campaigns.</a:t>
            </a:r>
            <a:endParaRPr lang="en-US" sz="1100" dirty="0"/>
          </a:p>
        </p:txBody>
      </p:sp>
      <p:sp>
        <p:nvSpPr>
          <p:cNvPr id="12" name="Shape 9"/>
          <p:cNvSpPr/>
          <p:nvPr/>
        </p:nvSpPr>
        <p:spPr>
          <a:xfrm>
            <a:off x="4983480" y="1371600"/>
            <a:ext cx="6675120" cy="4937760"/>
          </a:xfrm>
          <a:prstGeom prst="roundRect">
            <a:avLst>
              <a:gd name="adj" fmla="val 1481"/>
            </a:avLst>
          </a:prstGeom>
          <a:solidFill>
            <a:srgbClr val="FFFFFF"/>
          </a:solidFill>
          <a:ln/>
          <a:effectLst>
            <a:outerShdw sx="100000" sy="100000" kx="0" ky="0" algn="bl" rotWithShape="0" blurRad="88900" dist="25400" dir="5400000">
              <a:srgbClr val="1B2A4A">
                <a:alpha val="10000"/>
              </a:srgbClr>
            </a:outerShdw>
          </a:effectLst>
        </p:spPr>
      </p:sp>
      <p:graphicFrame>
        <p:nvGraphicFramePr>
          <p:cNvPr id="13" name="Chart 0" descr=""/>
          <p:cNvGraphicFramePr/>
          <p:nvPr/>
        </p:nvGraphicFramePr>
        <p:xfrm>
          <a:off x="5212080" y="1600200"/>
          <a:ext cx="6217920" cy="448056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TRANSACTION ANALYSIS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Transaction Count by Transaction Type</a:t>
            </a:r>
            <a:endParaRPr lang="en-US" sz="3000" dirty="0"/>
          </a:p>
        </p:txBody>
      </p:sp>
      <p:sp>
        <p:nvSpPr>
          <p:cNvPr id="4" name="Text 2"/>
          <p:cNvSpPr/>
          <p:nvPr/>
        </p:nvSpPr>
        <p:spPr>
          <a:xfrm>
            <a:off x="548640" y="141732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OBJECTIVE</a:t>
            </a:r>
            <a:endParaRPr lang="en-US" sz="1100" dirty="0"/>
          </a:p>
        </p:txBody>
      </p:sp>
      <p:sp>
        <p:nvSpPr>
          <p:cNvPr id="5" name="Text 3"/>
          <p:cNvSpPr/>
          <p:nvPr/>
        </p:nvSpPr>
        <p:spPr>
          <a:xfrm>
            <a:off x="548640" y="1709928"/>
            <a:ext cx="4160520" cy="64008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Break down PhonePe transactions by category to see what drives platform usage.</a:t>
            </a:r>
            <a:endParaRPr lang="en-US" sz="1250" dirty="0"/>
          </a:p>
        </p:txBody>
      </p:sp>
      <p:sp>
        <p:nvSpPr>
          <p:cNvPr id="6" name="Text 4"/>
          <p:cNvSpPr/>
          <p:nvPr/>
        </p:nvSpPr>
        <p:spPr>
          <a:xfrm>
            <a:off x="548640" y="2487168"/>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KEY OBSERVATIONS</a:t>
            </a:r>
            <a:endParaRPr lang="en-US" sz="1100" dirty="0"/>
          </a:p>
        </p:txBody>
      </p:sp>
      <p:sp>
        <p:nvSpPr>
          <p:cNvPr id="7" name="Text 5"/>
          <p:cNvSpPr/>
          <p:nvPr/>
        </p:nvSpPr>
        <p:spPr>
          <a:xfrm>
            <a:off x="548640" y="2779776"/>
            <a:ext cx="41605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Peer-to-peer payments form the largest share of total transaction count.</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Merchant payments are the second-largest contributor.</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Recharge &amp; bill payments and financial services make up smaller shares.</a:t>
            </a:r>
            <a:endParaRPr lang="en-US" sz="1200" dirty="0"/>
          </a:p>
        </p:txBody>
      </p:sp>
      <p:sp>
        <p:nvSpPr>
          <p:cNvPr id="8" name="Shape 6"/>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0" descr="icons/lightbulb.png">    </p:cNvPr>
          <p:cNvPicPr>
            <a:picLocks noChangeAspect="1"/>
          </p:cNvPicPr>
          <p:nvPr/>
        </p:nvPicPr>
        <p:blipFill>
          <a:blip r:embed="rId1"/>
          <a:stretch>
            <a:fillRect/>
          </a:stretch>
        </p:blipFill>
        <p:spPr>
          <a:xfrm>
            <a:off x="713232" y="5422392"/>
            <a:ext cx="365760" cy="365760"/>
          </a:xfrm>
          <a:prstGeom prst="rect">
            <a:avLst/>
          </a:prstGeom>
        </p:spPr>
      </p:pic>
      <p:sp>
        <p:nvSpPr>
          <p:cNvPr id="10" name="Text 7"/>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8"/>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P2P transfers are PhonePe's core habitual use case; growth in merchant payments signals the platform's expanding role in everyday commerce.</a:t>
            </a:r>
            <a:endParaRPr lang="en-US" sz="1100" dirty="0"/>
          </a:p>
        </p:txBody>
      </p:sp>
      <p:sp>
        <p:nvSpPr>
          <p:cNvPr id="12" name="Shape 9"/>
          <p:cNvSpPr/>
          <p:nvPr/>
        </p:nvSpPr>
        <p:spPr>
          <a:xfrm>
            <a:off x="4983480" y="1371600"/>
            <a:ext cx="6675120" cy="4937760"/>
          </a:xfrm>
          <a:prstGeom prst="roundRect">
            <a:avLst>
              <a:gd name="adj" fmla="val 1481"/>
            </a:avLst>
          </a:prstGeom>
          <a:solidFill>
            <a:srgbClr val="FFFFFF"/>
          </a:solidFill>
          <a:ln/>
          <a:effectLst>
            <a:outerShdw sx="100000" sy="100000" kx="0" ky="0" algn="bl" rotWithShape="0" blurRad="88900" dist="25400" dir="5400000">
              <a:srgbClr val="1B2A4A">
                <a:alpha val="10000"/>
              </a:srgbClr>
            </a:outerShdw>
          </a:effectLst>
        </p:spPr>
      </p:sp>
      <p:pic>
        <p:nvPicPr>
          <p:cNvPr id="13" name="Image 1" descr="imgs/cell108_4.png">    </p:cNvPr>
          <p:cNvPicPr>
            <a:picLocks noChangeAspect="1"/>
          </p:cNvPicPr>
          <p:nvPr/>
        </p:nvPicPr>
        <p:blipFill>
          <a:blip r:embed="rId2"/>
          <a:stretch>
            <a:fillRect/>
          </a:stretch>
        </p:blipFill>
        <p:spPr>
          <a:xfrm>
            <a:off x="5738368" y="1572768"/>
            <a:ext cx="5165344" cy="4535424"/>
          </a:xfrm>
          <a:prstGeom prst="rect">
            <a:avLst/>
          </a:prstGeom>
        </p:spPr>
      </p:pic>
      <p:sp>
        <p:nvSpPr>
          <p:cNvPr id="14" name="Text 1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TRANSACTION ANALYSIS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Distribution of Transaction Amount</a:t>
            </a:r>
            <a:endParaRPr lang="en-US" sz="3000" dirty="0"/>
          </a:p>
        </p:txBody>
      </p:sp>
      <p:sp>
        <p:nvSpPr>
          <p:cNvPr id="4" name="Text 2"/>
          <p:cNvSpPr/>
          <p:nvPr/>
        </p:nvSpPr>
        <p:spPr>
          <a:xfrm>
            <a:off x="548640" y="141732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OBJECTIVE</a:t>
            </a:r>
            <a:endParaRPr lang="en-US" sz="1100" dirty="0"/>
          </a:p>
        </p:txBody>
      </p:sp>
      <p:sp>
        <p:nvSpPr>
          <p:cNvPr id="5" name="Text 3"/>
          <p:cNvSpPr/>
          <p:nvPr/>
        </p:nvSpPr>
        <p:spPr>
          <a:xfrm>
            <a:off x="548640" y="1709928"/>
            <a:ext cx="4160520" cy="64008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Examine the spread and outliers in transaction amount values across all records.</a:t>
            </a:r>
            <a:endParaRPr lang="en-US" sz="1250" dirty="0"/>
          </a:p>
        </p:txBody>
      </p:sp>
      <p:sp>
        <p:nvSpPr>
          <p:cNvPr id="6" name="Text 4"/>
          <p:cNvSpPr/>
          <p:nvPr/>
        </p:nvSpPr>
        <p:spPr>
          <a:xfrm>
            <a:off x="548640" y="2487168"/>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KEY OBSERVATIONS</a:t>
            </a:r>
            <a:endParaRPr lang="en-US" sz="1100" dirty="0"/>
          </a:p>
        </p:txBody>
      </p:sp>
      <p:sp>
        <p:nvSpPr>
          <p:cNvPr id="7" name="Text 5"/>
          <p:cNvSpPr/>
          <p:nvPr/>
        </p:nvSpPr>
        <p:spPr>
          <a:xfrm>
            <a:off x="548640" y="2779776"/>
            <a:ext cx="41605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Transaction amounts are heavily right-skewed, with most values clustered near zero.</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A number of high-value outliers extend the range significantly.</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The median transaction amount is far lower than the maximum recorded value.</a:t>
            </a:r>
            <a:endParaRPr lang="en-US" sz="1200" dirty="0"/>
          </a:p>
        </p:txBody>
      </p:sp>
      <p:sp>
        <p:nvSpPr>
          <p:cNvPr id="8" name="Shape 6"/>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0" descr="icons/lightbulb.png">    </p:cNvPr>
          <p:cNvPicPr>
            <a:picLocks noChangeAspect="1"/>
          </p:cNvPicPr>
          <p:nvPr/>
        </p:nvPicPr>
        <p:blipFill>
          <a:blip r:embed="rId1"/>
          <a:stretch>
            <a:fillRect/>
          </a:stretch>
        </p:blipFill>
        <p:spPr>
          <a:xfrm>
            <a:off x="713232" y="5422392"/>
            <a:ext cx="365760" cy="365760"/>
          </a:xfrm>
          <a:prstGeom prst="rect">
            <a:avLst/>
          </a:prstGeom>
        </p:spPr>
      </p:pic>
      <p:sp>
        <p:nvSpPr>
          <p:cNvPr id="10" name="Text 7"/>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8"/>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A small number of very large transactions can distort simple averages — median-based and segment-level analysis gives a more reliable picture of typical user behavior.</a:t>
            </a:r>
            <a:endParaRPr lang="en-US" sz="1100" dirty="0"/>
          </a:p>
        </p:txBody>
      </p:sp>
      <p:sp>
        <p:nvSpPr>
          <p:cNvPr id="12" name="Shape 9"/>
          <p:cNvSpPr/>
          <p:nvPr/>
        </p:nvSpPr>
        <p:spPr>
          <a:xfrm>
            <a:off x="4983480" y="1371600"/>
            <a:ext cx="6675120" cy="4937760"/>
          </a:xfrm>
          <a:prstGeom prst="roundRect">
            <a:avLst>
              <a:gd name="adj" fmla="val 1481"/>
            </a:avLst>
          </a:prstGeom>
          <a:solidFill>
            <a:srgbClr val="FFFFFF"/>
          </a:solidFill>
          <a:ln/>
          <a:effectLst>
            <a:outerShdw sx="100000" sy="100000" kx="0" ky="0" algn="bl" rotWithShape="0" blurRad="88900" dist="25400" dir="5400000">
              <a:srgbClr val="1B2A4A">
                <a:alpha val="10000"/>
              </a:srgbClr>
            </a:outerShdw>
          </a:effectLst>
        </p:spPr>
      </p:sp>
      <p:pic>
        <p:nvPicPr>
          <p:cNvPr id="13" name="Image 1" descr="imgs/cell109_5.png">    </p:cNvPr>
          <p:cNvPicPr>
            <a:picLocks noChangeAspect="1"/>
          </p:cNvPicPr>
          <p:nvPr/>
        </p:nvPicPr>
        <p:blipFill>
          <a:blip r:embed="rId2"/>
          <a:stretch>
            <a:fillRect/>
          </a:stretch>
        </p:blipFill>
        <p:spPr>
          <a:xfrm>
            <a:off x="5597691" y="1572768"/>
            <a:ext cx="5446699" cy="4535424"/>
          </a:xfrm>
          <a:prstGeom prst="rect">
            <a:avLst/>
          </a:prstGeom>
        </p:spPr>
      </p:pic>
      <p:sp>
        <p:nvSpPr>
          <p:cNvPr id="14" name="Text 1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USER ANALYSIS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Registered Users by Region</a:t>
            </a:r>
            <a:endParaRPr lang="en-US" sz="3000" dirty="0"/>
          </a:p>
        </p:txBody>
      </p:sp>
      <p:sp>
        <p:nvSpPr>
          <p:cNvPr id="4" name="Text 2"/>
          <p:cNvSpPr/>
          <p:nvPr/>
        </p:nvSpPr>
        <p:spPr>
          <a:xfrm>
            <a:off x="548640" y="141732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OBJECTIVE</a:t>
            </a:r>
            <a:endParaRPr lang="en-US" sz="1100" dirty="0"/>
          </a:p>
        </p:txBody>
      </p:sp>
      <p:sp>
        <p:nvSpPr>
          <p:cNvPr id="5" name="Text 3"/>
          <p:cNvSpPr/>
          <p:nvPr/>
        </p:nvSpPr>
        <p:spPr>
          <a:xfrm>
            <a:off x="548640" y="1709928"/>
            <a:ext cx="4160520" cy="64008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Visualize the proportional share of registered users contributed by each region using a treemap.</a:t>
            </a:r>
            <a:endParaRPr lang="en-US" sz="1250" dirty="0"/>
          </a:p>
        </p:txBody>
      </p:sp>
      <p:sp>
        <p:nvSpPr>
          <p:cNvPr id="6" name="Text 4"/>
          <p:cNvSpPr/>
          <p:nvPr/>
        </p:nvSpPr>
        <p:spPr>
          <a:xfrm>
            <a:off x="548640" y="2487168"/>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KEY OBSERVATIONS</a:t>
            </a:r>
            <a:endParaRPr lang="en-US" sz="1100" dirty="0"/>
          </a:p>
        </p:txBody>
      </p:sp>
      <p:sp>
        <p:nvSpPr>
          <p:cNvPr id="7" name="Text 5"/>
          <p:cNvSpPr/>
          <p:nvPr/>
        </p:nvSpPr>
        <p:spPr>
          <a:xfrm>
            <a:off x="548640" y="2779776"/>
            <a:ext cx="41605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Southern Region contributes the largest share of registered users (~556 billion).</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Western Region is second at approximately 469 billion.</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North-Eastern Region remains the smallest contributor at about 31 billion.</a:t>
            </a:r>
            <a:endParaRPr lang="en-US" sz="1200" dirty="0"/>
          </a:p>
        </p:txBody>
      </p:sp>
      <p:sp>
        <p:nvSpPr>
          <p:cNvPr id="8" name="Shape 6"/>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0" descr="icons/lightbulb.png">    </p:cNvPr>
          <p:cNvPicPr>
            <a:picLocks noChangeAspect="1"/>
          </p:cNvPicPr>
          <p:nvPr/>
        </p:nvPicPr>
        <p:blipFill>
          <a:blip r:embed="rId1"/>
          <a:stretch>
            <a:fillRect/>
          </a:stretch>
        </p:blipFill>
        <p:spPr>
          <a:xfrm>
            <a:off x="713232" y="5422392"/>
            <a:ext cx="365760" cy="365760"/>
          </a:xfrm>
          <a:prstGeom prst="rect">
            <a:avLst/>
          </a:prstGeom>
        </p:spPr>
      </p:pic>
      <p:sp>
        <p:nvSpPr>
          <p:cNvPr id="10" name="Text 7"/>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8"/>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User base concentration mirrors engagement patterns — the same regions (South, West) that show high app opens also show the highest registrations, reinforcing them as priority markets.</a:t>
            </a:r>
            <a:endParaRPr lang="en-US" sz="1100" dirty="0"/>
          </a:p>
        </p:txBody>
      </p:sp>
      <p:sp>
        <p:nvSpPr>
          <p:cNvPr id="12" name="Shape 9"/>
          <p:cNvSpPr/>
          <p:nvPr/>
        </p:nvSpPr>
        <p:spPr>
          <a:xfrm>
            <a:off x="4983480" y="1371600"/>
            <a:ext cx="6675120" cy="4937760"/>
          </a:xfrm>
          <a:prstGeom prst="roundRect">
            <a:avLst>
              <a:gd name="adj" fmla="val 1481"/>
            </a:avLst>
          </a:prstGeom>
          <a:solidFill>
            <a:srgbClr val="FFFFFF"/>
          </a:solidFill>
          <a:ln/>
          <a:effectLst>
            <a:outerShdw sx="100000" sy="100000" kx="0" ky="0" algn="bl" rotWithShape="0" blurRad="88900" dist="25400" dir="5400000">
              <a:srgbClr val="1B2A4A">
                <a:alpha val="10000"/>
              </a:srgbClr>
            </a:outerShdw>
          </a:effectLst>
        </p:spPr>
      </p:sp>
      <p:graphicFrame>
        <p:nvGraphicFramePr>
          <p:cNvPr id="13" name="Chart 0" descr=""/>
          <p:cNvGraphicFramePr/>
          <p:nvPr/>
        </p:nvGraphicFramePr>
        <p:xfrm>
          <a:off x="5212080" y="1600200"/>
          <a:ext cx="6217920" cy="448056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USER ANALYSIS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Top 10 States by Registered Users</a:t>
            </a:r>
            <a:endParaRPr lang="en-US" sz="3000" dirty="0"/>
          </a:p>
        </p:txBody>
      </p:sp>
      <p:sp>
        <p:nvSpPr>
          <p:cNvPr id="4" name="Text 2"/>
          <p:cNvSpPr/>
          <p:nvPr/>
        </p:nvSpPr>
        <p:spPr>
          <a:xfrm>
            <a:off x="548640" y="141732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OBJECTIVE</a:t>
            </a:r>
            <a:endParaRPr lang="en-US" sz="1100" dirty="0"/>
          </a:p>
        </p:txBody>
      </p:sp>
      <p:sp>
        <p:nvSpPr>
          <p:cNvPr id="5" name="Text 3"/>
          <p:cNvSpPr/>
          <p:nvPr/>
        </p:nvSpPr>
        <p:spPr>
          <a:xfrm>
            <a:off x="548640" y="1709928"/>
            <a:ext cx="4160520" cy="64008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Rank the states with the strongest PhonePe user registration base.</a:t>
            </a:r>
            <a:endParaRPr lang="en-US" sz="1250" dirty="0"/>
          </a:p>
        </p:txBody>
      </p:sp>
      <p:sp>
        <p:nvSpPr>
          <p:cNvPr id="6" name="Text 4"/>
          <p:cNvSpPr/>
          <p:nvPr/>
        </p:nvSpPr>
        <p:spPr>
          <a:xfrm>
            <a:off x="548640" y="2487168"/>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KEY OBSERVATIONS</a:t>
            </a:r>
            <a:endParaRPr lang="en-US" sz="1100" dirty="0"/>
          </a:p>
        </p:txBody>
      </p:sp>
      <p:sp>
        <p:nvSpPr>
          <p:cNvPr id="7" name="Text 5"/>
          <p:cNvSpPr/>
          <p:nvPr/>
        </p:nvSpPr>
        <p:spPr>
          <a:xfrm>
            <a:off x="548640" y="2779776"/>
            <a:ext cx="41605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Maharashtra leads with about 248.6 billion registered users.</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Uttar Pradesh (195.8B) and Karnataka (160.3B) follow closely behind.</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The top 10 states show a smooth, gradual decline rather than a sharp cliff.</a:t>
            </a:r>
            <a:endParaRPr lang="en-US" sz="1200" dirty="0"/>
          </a:p>
        </p:txBody>
      </p:sp>
      <p:sp>
        <p:nvSpPr>
          <p:cNvPr id="8" name="Shape 6"/>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0" descr="icons/lightbulb.png">    </p:cNvPr>
          <p:cNvPicPr>
            <a:picLocks noChangeAspect="1"/>
          </p:cNvPicPr>
          <p:nvPr/>
        </p:nvPicPr>
        <p:blipFill>
          <a:blip r:embed="rId1"/>
          <a:stretch>
            <a:fillRect/>
          </a:stretch>
        </p:blipFill>
        <p:spPr>
          <a:xfrm>
            <a:off x="713232" y="5422392"/>
            <a:ext cx="365760" cy="365760"/>
          </a:xfrm>
          <a:prstGeom prst="rect">
            <a:avLst/>
          </a:prstGeom>
        </p:spPr>
      </p:pic>
      <p:sp>
        <p:nvSpPr>
          <p:cNvPr id="10" name="Text 7"/>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8"/>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A broad base of high-user states (not just one or two) means growth strategies can be replicated across multiple large markets rather than depending on a single region.</a:t>
            </a:r>
            <a:endParaRPr lang="en-US" sz="1100" dirty="0"/>
          </a:p>
        </p:txBody>
      </p:sp>
      <p:sp>
        <p:nvSpPr>
          <p:cNvPr id="12" name="Shape 9"/>
          <p:cNvSpPr/>
          <p:nvPr/>
        </p:nvSpPr>
        <p:spPr>
          <a:xfrm>
            <a:off x="4983480" y="1371600"/>
            <a:ext cx="6675120" cy="4937760"/>
          </a:xfrm>
          <a:prstGeom prst="roundRect">
            <a:avLst>
              <a:gd name="adj" fmla="val 1481"/>
            </a:avLst>
          </a:prstGeom>
          <a:solidFill>
            <a:srgbClr val="FFFFFF"/>
          </a:solidFill>
          <a:ln/>
          <a:effectLst>
            <a:outerShdw sx="100000" sy="100000" kx="0" ky="0" algn="bl" rotWithShape="0" blurRad="88900" dist="25400" dir="5400000">
              <a:srgbClr val="1B2A4A">
                <a:alpha val="10000"/>
              </a:srgbClr>
            </a:outerShdw>
          </a:effectLst>
        </p:spPr>
      </p:sp>
      <p:pic>
        <p:nvPicPr>
          <p:cNvPr id="13" name="Image 1" descr="imgs/cell123_6.png">    </p:cNvPr>
          <p:cNvPicPr>
            <a:picLocks noChangeAspect="1"/>
          </p:cNvPicPr>
          <p:nvPr/>
        </p:nvPicPr>
        <p:blipFill>
          <a:blip r:embed="rId2"/>
          <a:stretch>
            <a:fillRect/>
          </a:stretch>
        </p:blipFill>
        <p:spPr>
          <a:xfrm>
            <a:off x="5184648" y="2280218"/>
            <a:ext cx="6272784" cy="3120525"/>
          </a:xfrm>
          <a:prstGeom prst="rect">
            <a:avLst/>
          </a:prstGeom>
        </p:spPr>
      </p:pic>
      <p:sp>
        <p:nvSpPr>
          <p:cNvPr id="14" name="Text 1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YEAR-WISE ANALYSIS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Total Transaction Amount by Year</a:t>
            </a:r>
            <a:endParaRPr lang="en-US" sz="3000" dirty="0"/>
          </a:p>
        </p:txBody>
      </p:sp>
      <p:sp>
        <p:nvSpPr>
          <p:cNvPr id="4" name="Text 2"/>
          <p:cNvSpPr/>
          <p:nvPr/>
        </p:nvSpPr>
        <p:spPr>
          <a:xfrm>
            <a:off x="548640" y="141732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OBJECTIVE</a:t>
            </a:r>
            <a:endParaRPr lang="en-US" sz="1100" dirty="0"/>
          </a:p>
        </p:txBody>
      </p:sp>
      <p:sp>
        <p:nvSpPr>
          <p:cNvPr id="5" name="Text 3"/>
          <p:cNvSpPr/>
          <p:nvPr/>
        </p:nvSpPr>
        <p:spPr>
          <a:xfrm>
            <a:off x="548640" y="1709928"/>
            <a:ext cx="4160520" cy="64008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Track how total transaction value has grown across the years covered in the dataset (2018–2022).</a:t>
            </a:r>
            <a:endParaRPr lang="en-US" sz="1250" dirty="0"/>
          </a:p>
        </p:txBody>
      </p:sp>
      <p:sp>
        <p:nvSpPr>
          <p:cNvPr id="6" name="Text 4"/>
          <p:cNvSpPr/>
          <p:nvPr/>
        </p:nvSpPr>
        <p:spPr>
          <a:xfrm>
            <a:off x="548640" y="2487168"/>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KEY OBSERVATIONS</a:t>
            </a:r>
            <a:endParaRPr lang="en-US" sz="1100" dirty="0"/>
          </a:p>
        </p:txBody>
      </p:sp>
      <p:sp>
        <p:nvSpPr>
          <p:cNvPr id="7" name="Text 5"/>
          <p:cNvSpPr/>
          <p:nvPr/>
        </p:nvSpPr>
        <p:spPr>
          <a:xfrm>
            <a:off x="548640" y="2779776"/>
            <a:ext cx="41605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Transaction amount rose sharply from 2018 through 2021.</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2021 marks the peak year in the dataset at roughly 123.5 trillion.</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2022 shows a decline versus 2021, though data for 2022 covers only Quarter 1.</a:t>
            </a:r>
            <a:endParaRPr lang="en-US" sz="1200" dirty="0"/>
          </a:p>
        </p:txBody>
      </p:sp>
      <p:sp>
        <p:nvSpPr>
          <p:cNvPr id="8" name="Shape 6"/>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0" descr="icons/lightbulb.png">    </p:cNvPr>
          <p:cNvPicPr>
            <a:picLocks noChangeAspect="1"/>
          </p:cNvPicPr>
          <p:nvPr/>
        </p:nvPicPr>
        <p:blipFill>
          <a:blip r:embed="rId1"/>
          <a:stretch>
            <a:fillRect/>
          </a:stretch>
        </p:blipFill>
        <p:spPr>
          <a:xfrm>
            <a:off x="713232" y="5422392"/>
            <a:ext cx="365760" cy="365760"/>
          </a:xfrm>
          <a:prstGeom prst="rect">
            <a:avLst/>
          </a:prstGeom>
        </p:spPr>
      </p:pic>
      <p:sp>
        <p:nvSpPr>
          <p:cNvPr id="10" name="Text 7"/>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8"/>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The multi-year upward trend confirms strong platform adoption; the 2022 dip should be read in context of partial-year data rather than a genuine slowdown.</a:t>
            </a:r>
            <a:endParaRPr lang="en-US" sz="1100" dirty="0"/>
          </a:p>
        </p:txBody>
      </p:sp>
      <p:sp>
        <p:nvSpPr>
          <p:cNvPr id="12" name="Shape 9"/>
          <p:cNvSpPr/>
          <p:nvPr/>
        </p:nvSpPr>
        <p:spPr>
          <a:xfrm>
            <a:off x="4983480" y="1371600"/>
            <a:ext cx="6675120" cy="4937760"/>
          </a:xfrm>
          <a:prstGeom prst="roundRect">
            <a:avLst>
              <a:gd name="adj" fmla="val 1481"/>
            </a:avLst>
          </a:prstGeom>
          <a:solidFill>
            <a:srgbClr val="FFFFFF"/>
          </a:solidFill>
          <a:ln/>
          <a:effectLst>
            <a:outerShdw sx="100000" sy="100000" kx="0" ky="0" algn="bl" rotWithShape="0" blurRad="88900" dist="25400" dir="5400000">
              <a:srgbClr val="1B2A4A">
                <a:alpha val="10000"/>
              </a:srgbClr>
            </a:outerShdw>
          </a:effectLst>
        </p:spPr>
      </p:sp>
      <p:pic>
        <p:nvPicPr>
          <p:cNvPr id="13" name="Image 1" descr="imgs/cell126_7.png">    </p:cNvPr>
          <p:cNvPicPr>
            <a:picLocks noChangeAspect="1"/>
          </p:cNvPicPr>
          <p:nvPr/>
        </p:nvPicPr>
        <p:blipFill>
          <a:blip r:embed="rId2"/>
          <a:stretch>
            <a:fillRect/>
          </a:stretch>
        </p:blipFill>
        <p:spPr>
          <a:xfrm>
            <a:off x="5184648" y="1971317"/>
            <a:ext cx="6272784" cy="3738326"/>
          </a:xfrm>
          <a:prstGeom prst="rect">
            <a:avLst/>
          </a:prstGeom>
        </p:spPr>
      </p:pic>
      <p:sp>
        <p:nvSpPr>
          <p:cNvPr id="14" name="Text 1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QUARTER-WISE ANALYSIS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Quarter-wise Transaction Amount by Year</a:t>
            </a:r>
            <a:endParaRPr lang="en-US" sz="3000" dirty="0"/>
          </a:p>
        </p:txBody>
      </p:sp>
      <p:sp>
        <p:nvSpPr>
          <p:cNvPr id="4" name="Text 2"/>
          <p:cNvSpPr/>
          <p:nvPr/>
        </p:nvSpPr>
        <p:spPr>
          <a:xfrm>
            <a:off x="548640" y="141732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OBJECTIVE</a:t>
            </a:r>
            <a:endParaRPr lang="en-US" sz="1100" dirty="0"/>
          </a:p>
        </p:txBody>
      </p:sp>
      <p:sp>
        <p:nvSpPr>
          <p:cNvPr id="5" name="Text 3"/>
          <p:cNvSpPr/>
          <p:nvPr/>
        </p:nvSpPr>
        <p:spPr>
          <a:xfrm>
            <a:off x="548640" y="1709928"/>
            <a:ext cx="4160520" cy="64008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Study seasonal and quarterly patterns in transaction value across each year.</a:t>
            </a:r>
            <a:endParaRPr lang="en-US" sz="1250" dirty="0"/>
          </a:p>
        </p:txBody>
      </p:sp>
      <p:sp>
        <p:nvSpPr>
          <p:cNvPr id="6" name="Text 4"/>
          <p:cNvSpPr/>
          <p:nvPr/>
        </p:nvSpPr>
        <p:spPr>
          <a:xfrm>
            <a:off x="548640" y="2487168"/>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KEY OBSERVATIONS</a:t>
            </a:r>
            <a:endParaRPr lang="en-US" sz="1100" dirty="0"/>
          </a:p>
        </p:txBody>
      </p:sp>
      <p:sp>
        <p:nvSpPr>
          <p:cNvPr id="7" name="Text 5"/>
          <p:cNvSpPr/>
          <p:nvPr/>
        </p:nvSpPr>
        <p:spPr>
          <a:xfrm>
            <a:off x="548640" y="2779776"/>
            <a:ext cx="41605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Every year shows a consistent rise from Q1 to Q4.</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Q4 is the strongest quarter across nearly all years in the dataset.</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The gap between Q1 and Q4 widens as years progress, showing accelerating growth.</a:t>
            </a:r>
            <a:endParaRPr lang="en-US" sz="1200" dirty="0"/>
          </a:p>
        </p:txBody>
      </p:sp>
      <p:sp>
        <p:nvSpPr>
          <p:cNvPr id="8" name="Shape 6"/>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0" descr="icons/lightbulb.png">    </p:cNvPr>
          <p:cNvPicPr>
            <a:picLocks noChangeAspect="1"/>
          </p:cNvPicPr>
          <p:nvPr/>
        </p:nvPicPr>
        <p:blipFill>
          <a:blip r:embed="rId1"/>
          <a:stretch>
            <a:fillRect/>
          </a:stretch>
        </p:blipFill>
        <p:spPr>
          <a:xfrm>
            <a:off x="713232" y="5422392"/>
            <a:ext cx="365760" cy="365760"/>
          </a:xfrm>
          <a:prstGeom prst="rect">
            <a:avLst/>
          </a:prstGeom>
        </p:spPr>
      </p:pic>
      <p:sp>
        <p:nvSpPr>
          <p:cNvPr id="10" name="Text 7"/>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8"/>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Q4 consistently outperforms other quarters — likely tied to festive season spending — making it the ideal window for merchant offers and campaign pushes.</a:t>
            </a:r>
            <a:endParaRPr lang="en-US" sz="1100" dirty="0"/>
          </a:p>
        </p:txBody>
      </p:sp>
      <p:sp>
        <p:nvSpPr>
          <p:cNvPr id="12" name="Shape 9"/>
          <p:cNvSpPr/>
          <p:nvPr/>
        </p:nvSpPr>
        <p:spPr>
          <a:xfrm>
            <a:off x="4983480" y="1371600"/>
            <a:ext cx="6675120" cy="4937760"/>
          </a:xfrm>
          <a:prstGeom prst="roundRect">
            <a:avLst>
              <a:gd name="adj" fmla="val 1481"/>
            </a:avLst>
          </a:prstGeom>
          <a:solidFill>
            <a:srgbClr val="FFFFFF"/>
          </a:solidFill>
          <a:ln/>
          <a:effectLst>
            <a:outerShdw sx="100000" sy="100000" kx="0" ky="0" algn="bl" rotWithShape="0" blurRad="88900" dist="25400" dir="5400000">
              <a:srgbClr val="1B2A4A">
                <a:alpha val="10000"/>
              </a:srgbClr>
            </a:outerShdw>
          </a:effectLst>
        </p:spPr>
      </p:sp>
      <p:pic>
        <p:nvPicPr>
          <p:cNvPr id="13" name="Image 1" descr="imgs/cell129_8.png">    </p:cNvPr>
          <p:cNvPicPr>
            <a:picLocks noChangeAspect="1"/>
          </p:cNvPicPr>
          <p:nvPr/>
        </p:nvPicPr>
        <p:blipFill>
          <a:blip r:embed="rId2"/>
          <a:stretch>
            <a:fillRect/>
          </a:stretch>
        </p:blipFill>
        <p:spPr>
          <a:xfrm>
            <a:off x="5184648" y="2284154"/>
            <a:ext cx="6272784" cy="3112651"/>
          </a:xfrm>
          <a:prstGeom prst="rect">
            <a:avLst/>
          </a:prstGeom>
        </p:spPr>
      </p:pic>
      <p:sp>
        <p:nvSpPr>
          <p:cNvPr id="14" name="Text 1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GROWTH ANALYSIS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Yearly Growth in Transaction Amount</a:t>
            </a:r>
            <a:endParaRPr lang="en-US" sz="3000" dirty="0"/>
          </a:p>
        </p:txBody>
      </p:sp>
      <p:sp>
        <p:nvSpPr>
          <p:cNvPr id="4" name="Text 2"/>
          <p:cNvSpPr/>
          <p:nvPr/>
        </p:nvSpPr>
        <p:spPr>
          <a:xfrm>
            <a:off x="548640" y="141732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OBJECTIVE</a:t>
            </a:r>
            <a:endParaRPr lang="en-US" sz="1100" dirty="0"/>
          </a:p>
        </p:txBody>
      </p:sp>
      <p:sp>
        <p:nvSpPr>
          <p:cNvPr id="5" name="Text 3"/>
          <p:cNvSpPr/>
          <p:nvPr/>
        </p:nvSpPr>
        <p:spPr>
          <a:xfrm>
            <a:off x="548640" y="1709928"/>
            <a:ext cx="4160520" cy="64008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Measure year-over-year percentage growth in total transaction amount.</a:t>
            </a:r>
            <a:endParaRPr lang="en-US" sz="1250" dirty="0"/>
          </a:p>
        </p:txBody>
      </p:sp>
      <p:sp>
        <p:nvSpPr>
          <p:cNvPr id="6" name="Text 4"/>
          <p:cNvSpPr/>
          <p:nvPr/>
        </p:nvSpPr>
        <p:spPr>
          <a:xfrm>
            <a:off x="548640" y="2487168"/>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KEY OBSERVATIONS</a:t>
            </a:r>
            <a:endParaRPr lang="en-US" sz="1100" dirty="0"/>
          </a:p>
        </p:txBody>
      </p:sp>
      <p:sp>
        <p:nvSpPr>
          <p:cNvPr id="7" name="Text 5"/>
          <p:cNvSpPr/>
          <p:nvPr/>
        </p:nvSpPr>
        <p:spPr>
          <a:xfrm>
            <a:off x="548640" y="2779776"/>
            <a:ext cx="41605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2019 recorded the highest growth rate at about 283% over 2018.</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Growth moderated to 132% in 2020 and 139% in 2021.</a:t>
            </a:r>
            <a:endParaRPr lang="en-US" sz="1200" dirty="0"/>
          </a:p>
          <a:p>
            <a:pPr marL="342900" indent="-342900">
              <a:spcAft>
                <a:spcPts val="600"/>
              </a:spcAft>
              <a:buSzPct val="100000"/>
              <a:buChar char="•"/>
            </a:pPr>
            <a:r>
              <a:rPr lang="en-US" sz="1200" dirty="0">
                <a:solidFill>
                  <a:srgbClr val="42506B"/>
                </a:solidFill>
                <a:latin typeface="Calibri" pitchFamily="34" charset="0"/>
                <a:ea typeface="Calibri" pitchFamily="34" charset="-122"/>
                <a:cs typeface="Calibri" pitchFamily="34" charset="-120"/>
              </a:rPr>
              <a:t>2022 shows a negative growth rate of about -61%, driven by partial-year data.</a:t>
            </a:r>
            <a:endParaRPr lang="en-US" sz="1200" dirty="0"/>
          </a:p>
        </p:txBody>
      </p:sp>
      <p:sp>
        <p:nvSpPr>
          <p:cNvPr id="8" name="Shape 6"/>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0" descr="icons/lightbulb.png">    </p:cNvPr>
          <p:cNvPicPr>
            <a:picLocks noChangeAspect="1"/>
          </p:cNvPicPr>
          <p:nvPr/>
        </p:nvPicPr>
        <p:blipFill>
          <a:blip r:embed="rId1"/>
          <a:stretch>
            <a:fillRect/>
          </a:stretch>
        </p:blipFill>
        <p:spPr>
          <a:xfrm>
            <a:off x="713232" y="5422392"/>
            <a:ext cx="365760" cy="365760"/>
          </a:xfrm>
          <a:prstGeom prst="rect">
            <a:avLst/>
          </a:prstGeom>
        </p:spPr>
      </p:pic>
      <p:sp>
        <p:nvSpPr>
          <p:cNvPr id="10" name="Text 7"/>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8"/>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Explosive early growth (2019) has matured into steadier expansion — a healthy sign of a maturing platform, though the 2022 figure needs full-year data before drawing conclusions.</a:t>
            </a:r>
            <a:endParaRPr lang="en-US" sz="1100" dirty="0"/>
          </a:p>
        </p:txBody>
      </p:sp>
      <p:sp>
        <p:nvSpPr>
          <p:cNvPr id="12" name="Shape 9"/>
          <p:cNvSpPr/>
          <p:nvPr/>
        </p:nvSpPr>
        <p:spPr>
          <a:xfrm>
            <a:off x="4983480" y="1371600"/>
            <a:ext cx="6675120" cy="4937760"/>
          </a:xfrm>
          <a:prstGeom prst="roundRect">
            <a:avLst>
              <a:gd name="adj" fmla="val 1481"/>
            </a:avLst>
          </a:prstGeom>
          <a:solidFill>
            <a:srgbClr val="FFFFFF"/>
          </a:solidFill>
          <a:ln/>
          <a:effectLst>
            <a:outerShdw sx="100000" sy="100000" kx="0" ky="0" algn="bl" rotWithShape="0" blurRad="88900" dist="25400" dir="5400000">
              <a:srgbClr val="1B2A4A">
                <a:alpha val="10000"/>
              </a:srgbClr>
            </a:outerShdw>
          </a:effectLst>
        </p:spPr>
      </p:sp>
      <p:pic>
        <p:nvPicPr>
          <p:cNvPr id="13" name="Image 1" descr="imgs/cell144_11.png">    </p:cNvPr>
          <p:cNvPicPr>
            <a:picLocks noChangeAspect="1"/>
          </p:cNvPicPr>
          <p:nvPr/>
        </p:nvPicPr>
        <p:blipFill>
          <a:blip r:embed="rId2"/>
          <a:stretch>
            <a:fillRect/>
          </a:stretch>
        </p:blipFill>
        <p:spPr>
          <a:xfrm>
            <a:off x="5184648" y="2508247"/>
            <a:ext cx="6272784" cy="2664465"/>
          </a:xfrm>
          <a:prstGeom prst="rect">
            <a:avLst/>
          </a:prstGeom>
        </p:spPr>
      </p:pic>
      <p:sp>
        <p:nvSpPr>
          <p:cNvPr id="14" name="Text 10"/>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B3D91"/>
          </a:solidFill>
          <a:ln/>
        </p:spPr>
      </p:sp>
      <p:pic>
        <p:nvPicPr>
          <p:cNvPr id="3" name="Image 0" descr="icons/question_w.png">    </p:cNvPr>
          <p:cNvPicPr>
            <a:picLocks noChangeAspect="1"/>
          </p:cNvPicPr>
          <p:nvPr/>
        </p:nvPicPr>
        <p:blipFill>
          <a:blip r:embed="rId1"/>
          <a:stretch>
            <a:fillRect/>
          </a:stretch>
        </p:blipFill>
        <p:spPr>
          <a:xfrm>
            <a:off x="684703" y="520111"/>
            <a:ext cx="294803" cy="294803"/>
          </a:xfrm>
          <a:prstGeom prst="rect">
            <a:avLst/>
          </a:prstGeom>
        </p:spPr>
      </p:pic>
      <p:sp>
        <p:nvSpPr>
          <p:cNvPr id="4" name="Text 1"/>
          <p:cNvSpPr/>
          <p:nvPr/>
        </p:nvSpPr>
        <p:spPr>
          <a:xfrm>
            <a:off x="1261872" y="384048"/>
            <a:ext cx="5486400"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Calibri" pitchFamily="34" charset="0"/>
                <a:ea typeface="Calibri" pitchFamily="34" charset="-122"/>
                <a:cs typeface="Calibri" pitchFamily="34" charset="-120"/>
              </a:rPr>
              <a:t>BUSINESS QUESTION 1</a:t>
            </a:r>
            <a:endParaRPr lang="en-US" sz="1100" dirty="0"/>
          </a:p>
        </p:txBody>
      </p:sp>
      <p:sp>
        <p:nvSpPr>
          <p:cNvPr id="5" name="Text 2"/>
          <p:cNvSpPr/>
          <p:nvPr/>
        </p:nvSpPr>
        <p:spPr>
          <a:xfrm>
            <a:off x="1261872" y="640080"/>
            <a:ext cx="10241280" cy="594360"/>
          </a:xfrm>
          <a:prstGeom prst="rect">
            <a:avLst/>
          </a:prstGeom>
          <a:noFill/>
          <a:ln/>
        </p:spPr>
        <p:txBody>
          <a:bodyPr wrap="square" lIns="0" tIns="0" rIns="0" bIns="0" rtlCol="0" anchor="t"/>
          <a:lstStyle/>
          <a:p>
            <a:pPr indent="0" marL="0">
              <a:buNone/>
            </a:pPr>
            <a:r>
              <a:rPr lang="en-US" sz="2000" b="1" dirty="0">
                <a:solidFill>
                  <a:srgbClr val="0B3D91"/>
                </a:solidFill>
                <a:latin typeface="Cambria" pitchFamily="34" charset="0"/>
                <a:ea typeface="Cambria" pitchFamily="34" charset="-122"/>
                <a:cs typeface="Cambria" pitchFamily="34" charset="-120"/>
              </a:rPr>
              <a:t>Which state has the highest transaction amount?</a:t>
            </a:r>
            <a:endParaRPr lang="en-US" sz="2000" dirty="0"/>
          </a:p>
        </p:txBody>
      </p:sp>
      <p:sp>
        <p:nvSpPr>
          <p:cNvPr id="6" name="Text 3"/>
          <p:cNvSpPr/>
          <p:nvPr/>
        </p:nvSpPr>
        <p:spPr>
          <a:xfrm>
            <a:off x="548640" y="155448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ANSWER</a:t>
            </a:r>
            <a:endParaRPr lang="en-US" sz="1100" dirty="0"/>
          </a:p>
        </p:txBody>
      </p:sp>
      <p:sp>
        <p:nvSpPr>
          <p:cNvPr id="7" name="Text 4"/>
          <p:cNvSpPr/>
          <p:nvPr/>
        </p:nvSpPr>
        <p:spPr>
          <a:xfrm>
            <a:off x="548640" y="1847088"/>
            <a:ext cx="4160520" cy="228600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Uttar Pradesh recorded the highest total transaction amount in the dataset, ahead of Maharashtra and Telangana, based on grouping transaction amount by state and sorting in descending order.</a:t>
            </a:r>
            <a:endParaRPr lang="en-US" sz="1250" dirty="0"/>
          </a:p>
        </p:txBody>
      </p:sp>
      <p:sp>
        <p:nvSpPr>
          <p:cNvPr id="8" name="Shape 5"/>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1" descr="icons/lightbulb.png">    </p:cNvPr>
          <p:cNvPicPr>
            <a:picLocks noChangeAspect="1"/>
          </p:cNvPicPr>
          <p:nvPr/>
        </p:nvPicPr>
        <p:blipFill>
          <a:blip r:embed="rId2"/>
          <a:stretch>
            <a:fillRect/>
          </a:stretch>
        </p:blipFill>
        <p:spPr>
          <a:xfrm>
            <a:off x="713232" y="5422392"/>
            <a:ext cx="365760" cy="365760"/>
          </a:xfrm>
          <a:prstGeom prst="rect">
            <a:avLst/>
          </a:prstGeom>
        </p:spPr>
      </p:pic>
      <p:sp>
        <p:nvSpPr>
          <p:cNvPr id="10" name="Text 6"/>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7"/>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State-level dominance should guide where PhonePe deepens merchant tie-ups and where regional campaigns can unlock similar growth in mid-tier states.</a:t>
            </a:r>
            <a:endParaRPr lang="en-US" sz="1100" dirty="0"/>
          </a:p>
        </p:txBody>
      </p:sp>
      <p:sp>
        <p:nvSpPr>
          <p:cNvPr id="12" name="Shape 8"/>
          <p:cNvSpPr/>
          <p:nvPr/>
        </p:nvSpPr>
        <p:spPr>
          <a:xfrm>
            <a:off x="4983480" y="1554480"/>
            <a:ext cx="6675120" cy="4754880"/>
          </a:xfrm>
          <a:prstGeom prst="roundRect">
            <a:avLst>
              <a:gd name="adj" fmla="val 1538"/>
            </a:avLst>
          </a:prstGeom>
          <a:solidFill>
            <a:srgbClr val="FFFFFF"/>
          </a:solidFill>
          <a:ln/>
          <a:effectLst>
            <a:outerShdw sx="100000" sy="100000" kx="0" ky="0" algn="bl" rotWithShape="0" blurRad="88900" dist="25400" dir="5400000">
              <a:srgbClr val="1B2A4A">
                <a:alpha val="10000"/>
              </a:srgbClr>
            </a:outerShdw>
          </a:effectLst>
        </p:spPr>
      </p:sp>
      <p:graphicFrame>
        <p:nvGraphicFramePr>
          <p:cNvPr id="13" name="Chart 0" descr=""/>
          <p:cNvGraphicFramePr/>
          <p:nvPr/>
        </p:nvGraphicFramePr>
        <p:xfrm>
          <a:off x="5212080" y="1783080"/>
          <a:ext cx="6217920" cy="4297680"/>
        </p:xfrm>
        <a:graphic xmlns:a="http://schemas.openxmlformats.org/drawingml/2006/main">
          <a:graphicData uri="http://schemas.openxmlformats.org/drawingml/2006/chart">
            <c:chart xmlns:c="http://schemas.openxmlformats.org/drawingml/2006/chart" r:id="rId3"/>
          </a:graphicData>
        </a:graphic>
      </p:graphicFrame>
      <p:sp>
        <p:nvSpPr>
          <p:cNvPr id="14" name="Text 9"/>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0"/>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B3D91"/>
          </a:solidFill>
          <a:ln/>
        </p:spPr>
      </p:sp>
      <p:pic>
        <p:nvPicPr>
          <p:cNvPr id="3" name="Image 0" descr="icons/question_w.png">    </p:cNvPr>
          <p:cNvPicPr>
            <a:picLocks noChangeAspect="1"/>
          </p:cNvPicPr>
          <p:nvPr/>
        </p:nvPicPr>
        <p:blipFill>
          <a:blip r:embed="rId1"/>
          <a:stretch>
            <a:fillRect/>
          </a:stretch>
        </p:blipFill>
        <p:spPr>
          <a:xfrm>
            <a:off x="684703" y="520111"/>
            <a:ext cx="294803" cy="294803"/>
          </a:xfrm>
          <a:prstGeom prst="rect">
            <a:avLst/>
          </a:prstGeom>
        </p:spPr>
      </p:pic>
      <p:sp>
        <p:nvSpPr>
          <p:cNvPr id="4" name="Text 1"/>
          <p:cNvSpPr/>
          <p:nvPr/>
        </p:nvSpPr>
        <p:spPr>
          <a:xfrm>
            <a:off x="1261872" y="384048"/>
            <a:ext cx="5486400"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Calibri" pitchFamily="34" charset="0"/>
                <a:ea typeface="Calibri" pitchFamily="34" charset="-122"/>
                <a:cs typeface="Calibri" pitchFamily="34" charset="-120"/>
              </a:rPr>
              <a:t>BUSINESS QUESTION 2</a:t>
            </a:r>
            <a:endParaRPr lang="en-US" sz="1100" dirty="0"/>
          </a:p>
        </p:txBody>
      </p:sp>
      <p:sp>
        <p:nvSpPr>
          <p:cNvPr id="5" name="Text 2"/>
          <p:cNvSpPr/>
          <p:nvPr/>
        </p:nvSpPr>
        <p:spPr>
          <a:xfrm>
            <a:off x="1261872" y="640080"/>
            <a:ext cx="10241280" cy="594360"/>
          </a:xfrm>
          <a:prstGeom prst="rect">
            <a:avLst/>
          </a:prstGeom>
          <a:noFill/>
          <a:ln/>
        </p:spPr>
        <p:txBody>
          <a:bodyPr wrap="square" lIns="0" tIns="0" rIns="0" bIns="0" rtlCol="0" anchor="t"/>
          <a:lstStyle/>
          <a:p>
            <a:pPr indent="0" marL="0">
              <a:buNone/>
            </a:pPr>
            <a:r>
              <a:rPr lang="en-US" sz="2000" b="1" dirty="0">
                <a:solidFill>
                  <a:srgbClr val="0B3D91"/>
                </a:solidFill>
                <a:latin typeface="Cambria" pitchFamily="34" charset="0"/>
                <a:ea typeface="Cambria" pitchFamily="34" charset="-122"/>
                <a:cs typeface="Cambria" pitchFamily="34" charset="-120"/>
              </a:rPr>
              <a:t>Which district has the highest registered users?</a:t>
            </a:r>
            <a:endParaRPr lang="en-US" sz="2000" dirty="0"/>
          </a:p>
        </p:txBody>
      </p:sp>
      <p:sp>
        <p:nvSpPr>
          <p:cNvPr id="6" name="Text 3"/>
          <p:cNvSpPr/>
          <p:nvPr/>
        </p:nvSpPr>
        <p:spPr>
          <a:xfrm>
            <a:off x="548640" y="155448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ANSWER</a:t>
            </a:r>
            <a:endParaRPr lang="en-US" sz="1100" dirty="0"/>
          </a:p>
        </p:txBody>
      </p:sp>
      <p:sp>
        <p:nvSpPr>
          <p:cNvPr id="7" name="Text 4"/>
          <p:cNvSpPr/>
          <p:nvPr/>
        </p:nvSpPr>
        <p:spPr>
          <a:xfrm>
            <a:off x="548640" y="1847088"/>
            <a:ext cx="4160520" cy="228600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Bengaluru Urban has the highest registered-user count of any district, at approximately 69.3 billion, followed by Pune (44.4B) and Jaipur (28.0B).</a:t>
            </a:r>
            <a:endParaRPr lang="en-US" sz="1250" dirty="0"/>
          </a:p>
        </p:txBody>
      </p:sp>
      <p:sp>
        <p:nvSpPr>
          <p:cNvPr id="8" name="Shape 5"/>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1" descr="icons/lightbulb.png">    </p:cNvPr>
          <p:cNvPicPr>
            <a:picLocks noChangeAspect="1"/>
          </p:cNvPicPr>
          <p:nvPr/>
        </p:nvPicPr>
        <p:blipFill>
          <a:blip r:embed="rId2"/>
          <a:stretch>
            <a:fillRect/>
          </a:stretch>
        </p:blipFill>
        <p:spPr>
          <a:xfrm>
            <a:off x="713232" y="5422392"/>
            <a:ext cx="365760" cy="365760"/>
          </a:xfrm>
          <a:prstGeom prst="rect">
            <a:avLst/>
          </a:prstGeom>
        </p:spPr>
      </p:pic>
      <p:sp>
        <p:nvSpPr>
          <p:cNvPr id="10" name="Text 6"/>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7"/>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The strongest user districts are also strong candidates for pilot-testing new features before a nationwide rollout.</a:t>
            </a:r>
            <a:endParaRPr lang="en-US" sz="1100" dirty="0"/>
          </a:p>
        </p:txBody>
      </p:sp>
      <p:sp>
        <p:nvSpPr>
          <p:cNvPr id="12" name="Shape 8"/>
          <p:cNvSpPr/>
          <p:nvPr/>
        </p:nvSpPr>
        <p:spPr>
          <a:xfrm>
            <a:off x="4983480" y="1554480"/>
            <a:ext cx="6675120" cy="4754880"/>
          </a:xfrm>
          <a:prstGeom prst="roundRect">
            <a:avLst>
              <a:gd name="adj" fmla="val 1538"/>
            </a:avLst>
          </a:prstGeom>
          <a:solidFill>
            <a:srgbClr val="FFFFFF"/>
          </a:solidFill>
          <a:ln/>
          <a:effectLst>
            <a:outerShdw sx="100000" sy="100000" kx="0" ky="0" algn="bl" rotWithShape="0" blurRad="88900" dist="25400" dir="5400000">
              <a:srgbClr val="1B2A4A">
                <a:alpha val="10000"/>
              </a:srgbClr>
            </a:outerShdw>
          </a:effectLst>
        </p:spPr>
      </p:sp>
      <p:pic>
        <p:nvPicPr>
          <p:cNvPr id="13" name="Image 2" descr="imgs/cell96_2.png">    </p:cNvPr>
          <p:cNvPicPr>
            <a:picLocks noChangeAspect="1"/>
          </p:cNvPicPr>
          <p:nvPr/>
        </p:nvPicPr>
        <p:blipFill>
          <a:blip r:embed="rId3"/>
          <a:stretch>
            <a:fillRect/>
          </a:stretch>
        </p:blipFill>
        <p:spPr>
          <a:xfrm>
            <a:off x="5184648" y="2375594"/>
            <a:ext cx="6272784" cy="3112651"/>
          </a:xfrm>
          <a:prstGeom prst="rect">
            <a:avLst/>
          </a:prstGeom>
        </p:spPr>
      </p:pic>
      <p:sp>
        <p:nvSpPr>
          <p:cNvPr id="14" name="Text 9"/>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0"/>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B3D91"/>
          </a:solidFill>
          <a:ln/>
        </p:spPr>
      </p:sp>
      <p:pic>
        <p:nvPicPr>
          <p:cNvPr id="3" name="Image 0" descr="icons/question_w.png">    </p:cNvPr>
          <p:cNvPicPr>
            <a:picLocks noChangeAspect="1"/>
          </p:cNvPicPr>
          <p:nvPr/>
        </p:nvPicPr>
        <p:blipFill>
          <a:blip r:embed="rId1"/>
          <a:stretch>
            <a:fillRect/>
          </a:stretch>
        </p:blipFill>
        <p:spPr>
          <a:xfrm>
            <a:off x="684703" y="520111"/>
            <a:ext cx="294803" cy="294803"/>
          </a:xfrm>
          <a:prstGeom prst="rect">
            <a:avLst/>
          </a:prstGeom>
        </p:spPr>
      </p:pic>
      <p:sp>
        <p:nvSpPr>
          <p:cNvPr id="4" name="Text 1"/>
          <p:cNvSpPr/>
          <p:nvPr/>
        </p:nvSpPr>
        <p:spPr>
          <a:xfrm>
            <a:off x="1261872" y="384048"/>
            <a:ext cx="5486400"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Calibri" pitchFamily="34" charset="0"/>
                <a:ea typeface="Calibri" pitchFamily="34" charset="-122"/>
                <a:cs typeface="Calibri" pitchFamily="34" charset="-120"/>
              </a:rPr>
              <a:t>BUSINESS QUESTION 3</a:t>
            </a:r>
            <a:endParaRPr lang="en-US" sz="1100" dirty="0"/>
          </a:p>
        </p:txBody>
      </p:sp>
      <p:sp>
        <p:nvSpPr>
          <p:cNvPr id="5" name="Text 2"/>
          <p:cNvSpPr/>
          <p:nvPr/>
        </p:nvSpPr>
        <p:spPr>
          <a:xfrm>
            <a:off x="1261872" y="640080"/>
            <a:ext cx="10241280" cy="594360"/>
          </a:xfrm>
          <a:prstGeom prst="rect">
            <a:avLst/>
          </a:prstGeom>
          <a:noFill/>
          <a:ln/>
        </p:spPr>
        <p:txBody>
          <a:bodyPr wrap="square" lIns="0" tIns="0" rIns="0" bIns="0" rtlCol="0" anchor="t"/>
          <a:lstStyle/>
          <a:p>
            <a:pPr indent="0" marL="0">
              <a:buNone/>
            </a:pPr>
            <a:r>
              <a:rPr lang="en-US" sz="2000" b="1" dirty="0">
                <a:solidFill>
                  <a:srgbClr val="0B3D91"/>
                </a:solidFill>
                <a:latin typeface="Cambria" pitchFamily="34" charset="0"/>
                <a:ea typeface="Cambria" pitchFamily="34" charset="-122"/>
                <a:cs typeface="Cambria" pitchFamily="34" charset="-120"/>
              </a:rPr>
              <a:t>Which transaction type contributes the most revenue?</a:t>
            </a:r>
            <a:endParaRPr lang="en-US" sz="2000" dirty="0"/>
          </a:p>
        </p:txBody>
      </p:sp>
      <p:sp>
        <p:nvSpPr>
          <p:cNvPr id="6" name="Text 3"/>
          <p:cNvSpPr/>
          <p:nvPr/>
        </p:nvSpPr>
        <p:spPr>
          <a:xfrm>
            <a:off x="548640" y="155448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ANSWER</a:t>
            </a:r>
            <a:endParaRPr lang="en-US" sz="1100" dirty="0"/>
          </a:p>
        </p:txBody>
      </p:sp>
      <p:sp>
        <p:nvSpPr>
          <p:cNvPr id="7" name="Text 4"/>
          <p:cNvSpPr/>
          <p:nvPr/>
        </p:nvSpPr>
        <p:spPr>
          <a:xfrm>
            <a:off x="548640" y="1847088"/>
            <a:ext cx="4160520" cy="228600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Peer-to-peer payments contribute the most transaction value by far (~205.3 trillion), followed by merchant payments (~34.7 trillion) and recharge &amp; bill payments (~10.7 trillion).</a:t>
            </a:r>
            <a:endParaRPr lang="en-US" sz="1250" dirty="0"/>
          </a:p>
        </p:txBody>
      </p:sp>
      <p:sp>
        <p:nvSpPr>
          <p:cNvPr id="8" name="Shape 5"/>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1" descr="icons/lightbulb.png">    </p:cNvPr>
          <p:cNvPicPr>
            <a:picLocks noChangeAspect="1"/>
          </p:cNvPicPr>
          <p:nvPr/>
        </p:nvPicPr>
        <p:blipFill>
          <a:blip r:embed="rId2"/>
          <a:stretch>
            <a:fillRect/>
          </a:stretch>
        </p:blipFill>
        <p:spPr>
          <a:xfrm>
            <a:off x="713232" y="5422392"/>
            <a:ext cx="365760" cy="365760"/>
          </a:xfrm>
          <a:prstGeom prst="rect">
            <a:avLst/>
          </a:prstGeom>
        </p:spPr>
      </p:pic>
      <p:sp>
        <p:nvSpPr>
          <p:cNvPr id="10" name="Text 6"/>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7"/>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PhonePe's core habitual use case remains person-to-person transfers; the growing merchant-payments segment represents the platform's expansion into retail and commerce.</a:t>
            </a:r>
            <a:endParaRPr lang="en-US" sz="1100" dirty="0"/>
          </a:p>
        </p:txBody>
      </p:sp>
      <p:sp>
        <p:nvSpPr>
          <p:cNvPr id="12" name="Shape 8"/>
          <p:cNvSpPr/>
          <p:nvPr/>
        </p:nvSpPr>
        <p:spPr>
          <a:xfrm>
            <a:off x="4983480" y="1554480"/>
            <a:ext cx="6675120" cy="4754880"/>
          </a:xfrm>
          <a:prstGeom prst="roundRect">
            <a:avLst>
              <a:gd name="adj" fmla="val 1538"/>
            </a:avLst>
          </a:prstGeom>
          <a:solidFill>
            <a:srgbClr val="FFFFFF"/>
          </a:solidFill>
          <a:ln/>
          <a:effectLst>
            <a:outerShdw sx="100000" sy="100000" kx="0" ky="0" algn="bl" rotWithShape="0" blurRad="88900" dist="25400" dir="5400000">
              <a:srgbClr val="1B2A4A">
                <a:alpha val="10000"/>
              </a:srgbClr>
            </a:outerShdw>
          </a:effectLst>
        </p:spPr>
      </p:sp>
      <p:graphicFrame>
        <p:nvGraphicFramePr>
          <p:cNvPr id="13" name="Chart 0" descr=""/>
          <p:cNvGraphicFramePr/>
          <p:nvPr/>
        </p:nvGraphicFramePr>
        <p:xfrm>
          <a:off x="5212080" y="1783080"/>
          <a:ext cx="6217920" cy="4297680"/>
        </p:xfrm>
        <a:graphic xmlns:a="http://schemas.openxmlformats.org/drawingml/2006/main">
          <a:graphicData uri="http://schemas.openxmlformats.org/drawingml/2006/chart">
            <c:chart xmlns:c="http://schemas.openxmlformats.org/drawingml/2006/chart" r:id="rId3"/>
          </a:graphicData>
        </a:graphic>
      </p:graphicFrame>
      <p:sp>
        <p:nvSpPr>
          <p:cNvPr id="14" name="Text 9"/>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0"/>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B3D91"/>
          </a:solidFill>
          <a:ln/>
        </p:spPr>
      </p:sp>
      <p:pic>
        <p:nvPicPr>
          <p:cNvPr id="3" name="Image 0" descr="icons/question_w.png">    </p:cNvPr>
          <p:cNvPicPr>
            <a:picLocks noChangeAspect="1"/>
          </p:cNvPicPr>
          <p:nvPr/>
        </p:nvPicPr>
        <p:blipFill>
          <a:blip r:embed="rId1"/>
          <a:stretch>
            <a:fillRect/>
          </a:stretch>
        </p:blipFill>
        <p:spPr>
          <a:xfrm>
            <a:off x="684703" y="520111"/>
            <a:ext cx="294803" cy="294803"/>
          </a:xfrm>
          <a:prstGeom prst="rect">
            <a:avLst/>
          </a:prstGeom>
        </p:spPr>
      </p:pic>
      <p:sp>
        <p:nvSpPr>
          <p:cNvPr id="4" name="Text 1"/>
          <p:cNvSpPr/>
          <p:nvPr/>
        </p:nvSpPr>
        <p:spPr>
          <a:xfrm>
            <a:off x="1261872" y="384048"/>
            <a:ext cx="5486400"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Calibri" pitchFamily="34" charset="0"/>
                <a:ea typeface="Calibri" pitchFamily="34" charset="-122"/>
                <a:cs typeface="Calibri" pitchFamily="34" charset="-120"/>
              </a:rPr>
              <a:t>BUSINESS QUESTION 4</a:t>
            </a:r>
            <a:endParaRPr lang="en-US" sz="1100" dirty="0"/>
          </a:p>
        </p:txBody>
      </p:sp>
      <p:sp>
        <p:nvSpPr>
          <p:cNvPr id="5" name="Text 2"/>
          <p:cNvSpPr/>
          <p:nvPr/>
        </p:nvSpPr>
        <p:spPr>
          <a:xfrm>
            <a:off x="1261872" y="640080"/>
            <a:ext cx="10241280" cy="594360"/>
          </a:xfrm>
          <a:prstGeom prst="rect">
            <a:avLst/>
          </a:prstGeom>
          <a:noFill/>
          <a:ln/>
        </p:spPr>
        <p:txBody>
          <a:bodyPr wrap="square" lIns="0" tIns="0" rIns="0" bIns="0" rtlCol="0" anchor="t"/>
          <a:lstStyle/>
          <a:p>
            <a:pPr indent="0" marL="0">
              <a:buNone/>
            </a:pPr>
            <a:r>
              <a:rPr lang="en-US" sz="2000" b="1" dirty="0">
                <a:solidFill>
                  <a:srgbClr val="0B3D91"/>
                </a:solidFill>
                <a:latin typeface="Cambria" pitchFamily="34" charset="0"/>
                <a:ea typeface="Cambria" pitchFamily="34" charset="-122"/>
                <a:cs typeface="Cambria" pitchFamily="34" charset="-120"/>
              </a:rPr>
              <a:t>Which region has the highest app opens?</a:t>
            </a:r>
            <a:endParaRPr lang="en-US" sz="2000" dirty="0"/>
          </a:p>
        </p:txBody>
      </p:sp>
      <p:sp>
        <p:nvSpPr>
          <p:cNvPr id="6" name="Text 3"/>
          <p:cNvSpPr/>
          <p:nvPr/>
        </p:nvSpPr>
        <p:spPr>
          <a:xfrm>
            <a:off x="548640" y="155448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ANSWER</a:t>
            </a:r>
            <a:endParaRPr lang="en-US" sz="1100" dirty="0"/>
          </a:p>
        </p:txBody>
      </p:sp>
      <p:sp>
        <p:nvSpPr>
          <p:cNvPr id="7" name="Text 4"/>
          <p:cNvSpPr/>
          <p:nvPr/>
        </p:nvSpPr>
        <p:spPr>
          <a:xfrm>
            <a:off x="548640" y="1847088"/>
            <a:ext cx="4160520" cy="228600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The Southern Region records the highest app opens at roughly 18.45 trillion, ahead of the Western Region at about 13.22 trillion.</a:t>
            </a:r>
            <a:endParaRPr lang="en-US" sz="1250" dirty="0"/>
          </a:p>
        </p:txBody>
      </p:sp>
      <p:sp>
        <p:nvSpPr>
          <p:cNvPr id="8" name="Shape 5"/>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1" descr="icons/lightbulb.png">    </p:cNvPr>
          <p:cNvPicPr>
            <a:picLocks noChangeAspect="1"/>
          </p:cNvPicPr>
          <p:nvPr/>
        </p:nvPicPr>
        <p:blipFill>
          <a:blip r:embed="rId2"/>
          <a:stretch>
            <a:fillRect/>
          </a:stretch>
        </p:blipFill>
        <p:spPr>
          <a:xfrm>
            <a:off x="713232" y="5422392"/>
            <a:ext cx="365760" cy="365760"/>
          </a:xfrm>
          <a:prstGeom prst="rect">
            <a:avLst/>
          </a:prstGeom>
        </p:spPr>
      </p:pic>
      <p:sp>
        <p:nvSpPr>
          <p:cNvPr id="10" name="Text 6"/>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7"/>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Concentrated engagement in the South and West suggests these markets are ready for premium or value-added features ahead of other regions.</a:t>
            </a:r>
            <a:endParaRPr lang="en-US" sz="1100" dirty="0"/>
          </a:p>
        </p:txBody>
      </p:sp>
      <p:sp>
        <p:nvSpPr>
          <p:cNvPr id="12" name="Shape 8"/>
          <p:cNvSpPr/>
          <p:nvPr/>
        </p:nvSpPr>
        <p:spPr>
          <a:xfrm>
            <a:off x="4983480" y="1554480"/>
            <a:ext cx="6675120" cy="4754880"/>
          </a:xfrm>
          <a:prstGeom prst="roundRect">
            <a:avLst>
              <a:gd name="adj" fmla="val 1538"/>
            </a:avLst>
          </a:prstGeom>
          <a:solidFill>
            <a:srgbClr val="FFFFFF"/>
          </a:solidFill>
          <a:ln/>
          <a:effectLst>
            <a:outerShdw sx="100000" sy="100000" kx="0" ky="0" algn="bl" rotWithShape="0" blurRad="88900" dist="25400" dir="5400000">
              <a:srgbClr val="1B2A4A">
                <a:alpha val="10000"/>
              </a:srgbClr>
            </a:outerShdw>
          </a:effectLst>
        </p:spPr>
      </p:sp>
      <p:graphicFrame>
        <p:nvGraphicFramePr>
          <p:cNvPr id="13" name="Chart 0" descr=""/>
          <p:cNvGraphicFramePr/>
          <p:nvPr/>
        </p:nvGraphicFramePr>
        <p:xfrm>
          <a:off x="5212080" y="1783080"/>
          <a:ext cx="6217920" cy="4297680"/>
        </p:xfrm>
        <a:graphic xmlns:a="http://schemas.openxmlformats.org/drawingml/2006/main">
          <a:graphicData uri="http://schemas.openxmlformats.org/drawingml/2006/chart">
            <c:chart xmlns:c="http://schemas.openxmlformats.org/drawingml/2006/chart" r:id="rId3"/>
          </a:graphicData>
        </a:graphic>
      </p:graphicFrame>
      <p:sp>
        <p:nvSpPr>
          <p:cNvPr id="14" name="Text 9"/>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0"/>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B3D91"/>
          </a:solidFill>
          <a:ln/>
        </p:spPr>
      </p:sp>
      <p:pic>
        <p:nvPicPr>
          <p:cNvPr id="3" name="Image 0" descr="icons/question_w.png">    </p:cNvPr>
          <p:cNvPicPr>
            <a:picLocks noChangeAspect="1"/>
          </p:cNvPicPr>
          <p:nvPr/>
        </p:nvPicPr>
        <p:blipFill>
          <a:blip r:embed="rId1"/>
          <a:stretch>
            <a:fillRect/>
          </a:stretch>
        </p:blipFill>
        <p:spPr>
          <a:xfrm>
            <a:off x="684703" y="520111"/>
            <a:ext cx="294803" cy="294803"/>
          </a:xfrm>
          <a:prstGeom prst="rect">
            <a:avLst/>
          </a:prstGeom>
        </p:spPr>
      </p:pic>
      <p:sp>
        <p:nvSpPr>
          <p:cNvPr id="4" name="Text 1"/>
          <p:cNvSpPr/>
          <p:nvPr/>
        </p:nvSpPr>
        <p:spPr>
          <a:xfrm>
            <a:off x="1261872" y="384048"/>
            <a:ext cx="5486400"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Calibri" pitchFamily="34" charset="0"/>
                <a:ea typeface="Calibri" pitchFamily="34" charset="-122"/>
                <a:cs typeface="Calibri" pitchFamily="34" charset="-120"/>
              </a:rPr>
              <a:t>BUSINESS QUESTION 5</a:t>
            </a:r>
            <a:endParaRPr lang="en-US" sz="1100" dirty="0"/>
          </a:p>
        </p:txBody>
      </p:sp>
      <p:sp>
        <p:nvSpPr>
          <p:cNvPr id="5" name="Text 2"/>
          <p:cNvSpPr/>
          <p:nvPr/>
        </p:nvSpPr>
        <p:spPr>
          <a:xfrm>
            <a:off x="1261872" y="640080"/>
            <a:ext cx="10241280" cy="594360"/>
          </a:xfrm>
          <a:prstGeom prst="rect">
            <a:avLst/>
          </a:prstGeom>
          <a:noFill/>
          <a:ln/>
        </p:spPr>
        <p:txBody>
          <a:bodyPr wrap="square" lIns="0" tIns="0" rIns="0" bIns="0" rtlCol="0" anchor="t"/>
          <a:lstStyle/>
          <a:p>
            <a:pPr indent="0" marL="0">
              <a:buNone/>
            </a:pPr>
            <a:r>
              <a:rPr lang="en-US" sz="2000" b="1" dirty="0">
                <a:solidFill>
                  <a:srgbClr val="0B3D91"/>
                </a:solidFill>
                <a:latin typeface="Cambria" pitchFamily="34" charset="0"/>
                <a:ea typeface="Cambria" pitchFamily="34" charset="-122"/>
                <a:cs typeface="Cambria" pitchFamily="34" charset="-120"/>
              </a:rPr>
              <a:t>Which states show the fastest growth in registered users?</a:t>
            </a:r>
            <a:endParaRPr lang="en-US" sz="2000" dirty="0"/>
          </a:p>
        </p:txBody>
      </p:sp>
      <p:sp>
        <p:nvSpPr>
          <p:cNvPr id="6" name="Text 3"/>
          <p:cNvSpPr/>
          <p:nvPr/>
        </p:nvSpPr>
        <p:spPr>
          <a:xfrm>
            <a:off x="548640" y="155448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ANSWER</a:t>
            </a:r>
            <a:endParaRPr lang="en-US" sz="1100" dirty="0"/>
          </a:p>
        </p:txBody>
      </p:sp>
      <p:sp>
        <p:nvSpPr>
          <p:cNvPr id="7" name="Text 4"/>
          <p:cNvSpPr/>
          <p:nvPr/>
        </p:nvSpPr>
        <p:spPr>
          <a:xfrm>
            <a:off x="548640" y="1847088"/>
            <a:ext cx="4160520" cy="228600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Using year-over-year percentage change, Nagaland recorded the fastest growth at about 161% in 2019, followed by Arunachal Pradesh (156%), Meghalaya (145%), and Mizoram (143%) — mostly smaller, emerging states.</a:t>
            </a:r>
            <a:endParaRPr lang="en-US" sz="1250" dirty="0"/>
          </a:p>
        </p:txBody>
      </p:sp>
      <p:sp>
        <p:nvSpPr>
          <p:cNvPr id="8" name="Shape 5"/>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1" descr="icons/lightbulb.png">    </p:cNvPr>
          <p:cNvPicPr>
            <a:picLocks noChangeAspect="1"/>
          </p:cNvPicPr>
          <p:nvPr/>
        </p:nvPicPr>
        <p:blipFill>
          <a:blip r:embed="rId2"/>
          <a:stretch>
            <a:fillRect/>
          </a:stretch>
        </p:blipFill>
        <p:spPr>
          <a:xfrm>
            <a:off x="713232" y="5422392"/>
            <a:ext cx="365760" cy="365760"/>
          </a:xfrm>
          <a:prstGeom prst="rect">
            <a:avLst/>
          </a:prstGeom>
        </p:spPr>
      </p:pic>
      <p:sp>
        <p:nvSpPr>
          <p:cNvPr id="10" name="Text 6"/>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7"/>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Smaller states are growing fastest off a low base, signaling untapped headroom; large states remain the volume leaders shown in this chart of top states by total users.</a:t>
            </a:r>
            <a:endParaRPr lang="en-US" sz="1100" dirty="0"/>
          </a:p>
        </p:txBody>
      </p:sp>
      <p:sp>
        <p:nvSpPr>
          <p:cNvPr id="12" name="Shape 8"/>
          <p:cNvSpPr/>
          <p:nvPr/>
        </p:nvSpPr>
        <p:spPr>
          <a:xfrm>
            <a:off x="4983480" y="1554480"/>
            <a:ext cx="6675120" cy="4754880"/>
          </a:xfrm>
          <a:prstGeom prst="roundRect">
            <a:avLst>
              <a:gd name="adj" fmla="val 1538"/>
            </a:avLst>
          </a:prstGeom>
          <a:solidFill>
            <a:srgbClr val="FFFFFF"/>
          </a:solidFill>
          <a:ln/>
          <a:effectLst>
            <a:outerShdw sx="100000" sy="100000" kx="0" ky="0" algn="bl" rotWithShape="0" blurRad="88900" dist="25400" dir="5400000">
              <a:srgbClr val="1B2A4A">
                <a:alpha val="10000"/>
              </a:srgbClr>
            </a:outerShdw>
          </a:effectLst>
        </p:spPr>
      </p:sp>
      <p:pic>
        <p:nvPicPr>
          <p:cNvPr id="13" name="Image 2" descr="imgs/cell123_6.png">    </p:cNvPr>
          <p:cNvPicPr>
            <a:picLocks noChangeAspect="1"/>
          </p:cNvPicPr>
          <p:nvPr/>
        </p:nvPicPr>
        <p:blipFill>
          <a:blip r:embed="rId3"/>
          <a:stretch>
            <a:fillRect/>
          </a:stretch>
        </p:blipFill>
        <p:spPr>
          <a:xfrm>
            <a:off x="5184648" y="2371658"/>
            <a:ext cx="6272784" cy="3120525"/>
          </a:xfrm>
          <a:prstGeom prst="rect">
            <a:avLst/>
          </a:prstGeom>
        </p:spPr>
      </p:pic>
      <p:sp>
        <p:nvSpPr>
          <p:cNvPr id="14" name="Text 9"/>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0"/>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B3D91"/>
          </a:solidFill>
          <a:ln/>
        </p:spPr>
      </p:sp>
      <p:pic>
        <p:nvPicPr>
          <p:cNvPr id="3" name="Image 0" descr="icons/question_w.png">    </p:cNvPr>
          <p:cNvPicPr>
            <a:picLocks noChangeAspect="1"/>
          </p:cNvPicPr>
          <p:nvPr/>
        </p:nvPicPr>
        <p:blipFill>
          <a:blip r:embed="rId1"/>
          <a:stretch>
            <a:fillRect/>
          </a:stretch>
        </p:blipFill>
        <p:spPr>
          <a:xfrm>
            <a:off x="684703" y="520111"/>
            <a:ext cx="294803" cy="294803"/>
          </a:xfrm>
          <a:prstGeom prst="rect">
            <a:avLst/>
          </a:prstGeom>
        </p:spPr>
      </p:pic>
      <p:sp>
        <p:nvSpPr>
          <p:cNvPr id="4" name="Text 1"/>
          <p:cNvSpPr/>
          <p:nvPr/>
        </p:nvSpPr>
        <p:spPr>
          <a:xfrm>
            <a:off x="1261872" y="384048"/>
            <a:ext cx="5486400"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Calibri" pitchFamily="34" charset="0"/>
                <a:ea typeface="Calibri" pitchFamily="34" charset="-122"/>
                <a:cs typeface="Calibri" pitchFamily="34" charset="-120"/>
              </a:rPr>
              <a:t>BUSINESS QUESTION 6</a:t>
            </a:r>
            <a:endParaRPr lang="en-US" sz="1100" dirty="0"/>
          </a:p>
        </p:txBody>
      </p:sp>
      <p:sp>
        <p:nvSpPr>
          <p:cNvPr id="5" name="Text 2"/>
          <p:cNvSpPr/>
          <p:nvPr/>
        </p:nvSpPr>
        <p:spPr>
          <a:xfrm>
            <a:off x="1261872" y="640080"/>
            <a:ext cx="10241280" cy="594360"/>
          </a:xfrm>
          <a:prstGeom prst="rect">
            <a:avLst/>
          </a:prstGeom>
          <a:noFill/>
          <a:ln/>
        </p:spPr>
        <p:txBody>
          <a:bodyPr wrap="square" lIns="0" tIns="0" rIns="0" bIns="0" rtlCol="0" anchor="t"/>
          <a:lstStyle/>
          <a:p>
            <a:pPr indent="0" marL="0">
              <a:buNone/>
            </a:pPr>
            <a:r>
              <a:rPr lang="en-US" sz="2000" b="1" dirty="0">
                <a:solidFill>
                  <a:srgbClr val="0B3D91"/>
                </a:solidFill>
                <a:latin typeface="Cambria" pitchFamily="34" charset="0"/>
                <a:ea typeface="Cambria" pitchFamily="34" charset="-122"/>
                <a:cs typeface="Cambria" pitchFamily="34" charset="-120"/>
              </a:rPr>
              <a:t>What is the relationship between registered users and app opens?</a:t>
            </a:r>
            <a:endParaRPr lang="en-US" sz="2000" dirty="0"/>
          </a:p>
        </p:txBody>
      </p:sp>
      <p:sp>
        <p:nvSpPr>
          <p:cNvPr id="6" name="Text 3"/>
          <p:cNvSpPr/>
          <p:nvPr/>
        </p:nvSpPr>
        <p:spPr>
          <a:xfrm>
            <a:off x="548640" y="155448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ANSWER</a:t>
            </a:r>
            <a:endParaRPr lang="en-US" sz="1100" dirty="0"/>
          </a:p>
        </p:txBody>
      </p:sp>
      <p:sp>
        <p:nvSpPr>
          <p:cNvPr id="7" name="Text 4"/>
          <p:cNvSpPr/>
          <p:nvPr/>
        </p:nvSpPr>
        <p:spPr>
          <a:xfrm>
            <a:off x="548640" y="1847088"/>
            <a:ext cx="4160520" cy="228600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Registered users and app opens show a strong positive correlation of 0.80, meaning states with more registered users also tend to have proportionally more app opens.</a:t>
            </a:r>
            <a:endParaRPr lang="en-US" sz="1250" dirty="0"/>
          </a:p>
        </p:txBody>
      </p:sp>
      <p:sp>
        <p:nvSpPr>
          <p:cNvPr id="8" name="Shape 5"/>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1" descr="icons/lightbulb.png">    </p:cNvPr>
          <p:cNvPicPr>
            <a:picLocks noChangeAspect="1"/>
          </p:cNvPicPr>
          <p:nvPr/>
        </p:nvPicPr>
        <p:blipFill>
          <a:blip r:embed="rId2"/>
          <a:stretch>
            <a:fillRect/>
          </a:stretch>
        </p:blipFill>
        <p:spPr>
          <a:xfrm>
            <a:off x="713232" y="5422392"/>
            <a:ext cx="365760" cy="365760"/>
          </a:xfrm>
          <a:prstGeom prst="rect">
            <a:avLst/>
          </a:prstGeom>
        </p:spPr>
      </p:pic>
      <p:sp>
        <p:nvSpPr>
          <p:cNvPr id="10" name="Text 6"/>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7"/>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Because usage scales with registration, acquisition campaigns that grow the registered base will likely drive proportional engagement gains too.</a:t>
            </a:r>
            <a:endParaRPr lang="en-US" sz="1100" dirty="0"/>
          </a:p>
        </p:txBody>
      </p:sp>
      <p:sp>
        <p:nvSpPr>
          <p:cNvPr id="12" name="Shape 8"/>
          <p:cNvSpPr/>
          <p:nvPr/>
        </p:nvSpPr>
        <p:spPr>
          <a:xfrm>
            <a:off x="4983480" y="1554480"/>
            <a:ext cx="6675120" cy="4754880"/>
          </a:xfrm>
          <a:prstGeom prst="roundRect">
            <a:avLst>
              <a:gd name="adj" fmla="val 1538"/>
            </a:avLst>
          </a:prstGeom>
          <a:solidFill>
            <a:srgbClr val="FFFFFF"/>
          </a:solidFill>
          <a:ln/>
          <a:effectLst>
            <a:outerShdw sx="100000" sy="100000" kx="0" ky="0" algn="bl" rotWithShape="0" blurRad="88900" dist="25400" dir="5400000">
              <a:srgbClr val="1B2A4A">
                <a:alpha val="10000"/>
              </a:srgbClr>
            </a:outerShdw>
          </a:effectLst>
        </p:spPr>
      </p:sp>
      <p:sp>
        <p:nvSpPr>
          <p:cNvPr id="13" name="Shape 9"/>
          <p:cNvSpPr/>
          <p:nvPr/>
        </p:nvSpPr>
        <p:spPr>
          <a:xfrm>
            <a:off x="5212080" y="1783080"/>
            <a:ext cx="6217920" cy="4297680"/>
          </a:xfrm>
          <a:prstGeom prst="rect">
            <a:avLst/>
          </a:prstGeom>
          <a:solidFill>
            <a:srgbClr val="FFFFFF"/>
          </a:solidFill>
          <a:ln/>
        </p:spPr>
      </p:sp>
      <p:sp>
        <p:nvSpPr>
          <p:cNvPr id="14" name="Text 10"/>
          <p:cNvSpPr/>
          <p:nvPr/>
        </p:nvSpPr>
        <p:spPr>
          <a:xfrm>
            <a:off x="5212080" y="2926080"/>
            <a:ext cx="6217920" cy="1188720"/>
          </a:xfrm>
          <a:prstGeom prst="rect">
            <a:avLst/>
          </a:prstGeom>
          <a:noFill/>
          <a:ln/>
        </p:spPr>
        <p:txBody>
          <a:bodyPr wrap="square" lIns="0" tIns="0" rIns="0" bIns="0" rtlCol="0" anchor="ctr"/>
          <a:lstStyle/>
          <a:p>
            <a:pPr algn="ctr" indent="0" marL="0">
              <a:buNone/>
            </a:pPr>
            <a:r>
              <a:rPr lang="en-US" sz="7200" b="1" dirty="0">
                <a:solidFill>
                  <a:srgbClr val="0B3D91"/>
                </a:solidFill>
                <a:latin typeface="Cambria" pitchFamily="34" charset="0"/>
                <a:ea typeface="Cambria" pitchFamily="34" charset="-122"/>
                <a:cs typeface="Cambria" pitchFamily="34" charset="-120"/>
              </a:rPr>
              <a:t>0.80</a:t>
            </a:r>
            <a:endParaRPr lang="en-US" sz="7200" dirty="0"/>
          </a:p>
        </p:txBody>
      </p:sp>
      <p:sp>
        <p:nvSpPr>
          <p:cNvPr id="15" name="Text 11"/>
          <p:cNvSpPr/>
          <p:nvPr/>
        </p:nvSpPr>
        <p:spPr>
          <a:xfrm>
            <a:off x="5212080" y="4160520"/>
            <a:ext cx="6217920" cy="365760"/>
          </a:xfrm>
          <a:prstGeom prst="rect">
            <a:avLst/>
          </a:prstGeom>
          <a:noFill/>
          <a:ln/>
        </p:spPr>
        <p:txBody>
          <a:bodyPr wrap="square" lIns="0" tIns="0" rIns="0" bIns="0" rtlCol="0" anchor="ctr"/>
          <a:lstStyle/>
          <a:p>
            <a:pPr algn="ctr" indent="0" marL="0">
              <a:buNone/>
            </a:pPr>
            <a:r>
              <a:rPr lang="en-US" sz="1500" dirty="0">
                <a:solidFill>
                  <a:srgbClr val="6B7A99"/>
                </a:solidFill>
                <a:latin typeface="Calibri" pitchFamily="34" charset="0"/>
                <a:ea typeface="Calibri" pitchFamily="34" charset="-122"/>
                <a:cs typeface="Calibri" pitchFamily="34" charset="-120"/>
              </a:rPr>
              <a:t>Correlation Coefficient</a:t>
            </a:r>
            <a:endParaRPr lang="en-US" sz="1500" dirty="0"/>
          </a:p>
        </p:txBody>
      </p:sp>
      <p:sp>
        <p:nvSpPr>
          <p:cNvPr id="16" name="Text 12"/>
          <p:cNvSpPr/>
          <p:nvPr/>
        </p:nvSpPr>
        <p:spPr>
          <a:xfrm>
            <a:off x="5212080" y="4572000"/>
            <a:ext cx="6217920" cy="365760"/>
          </a:xfrm>
          <a:prstGeom prst="rect">
            <a:avLst/>
          </a:prstGeom>
          <a:noFill/>
          <a:ln/>
        </p:spPr>
        <p:txBody>
          <a:bodyPr wrap="square" lIns="0" tIns="0" rIns="0" bIns="0" rtlCol="0" anchor="ctr"/>
          <a:lstStyle/>
          <a:p>
            <a:pPr algn="ctr" indent="0" marL="0">
              <a:buNone/>
            </a:pPr>
            <a:r>
              <a:rPr lang="en-US" sz="1300" b="1" dirty="0">
                <a:solidFill>
                  <a:srgbClr val="1859C4"/>
                </a:solidFill>
                <a:latin typeface="Calibri" pitchFamily="34" charset="0"/>
                <a:ea typeface="Calibri" pitchFamily="34" charset="-122"/>
                <a:cs typeface="Calibri" pitchFamily="34" charset="-120"/>
              </a:rPr>
              <a:t>Strong Positive Correlation</a:t>
            </a:r>
            <a:endParaRPr lang="en-US" sz="1300" dirty="0"/>
          </a:p>
        </p:txBody>
      </p:sp>
      <p:sp>
        <p:nvSpPr>
          <p:cNvPr id="17" name="Text 13"/>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8" name="Text 14"/>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B3D91"/>
          </a:solidFill>
          <a:ln/>
        </p:spPr>
      </p:sp>
      <p:pic>
        <p:nvPicPr>
          <p:cNvPr id="3" name="Image 0" descr="icons/question_w.png">    </p:cNvPr>
          <p:cNvPicPr>
            <a:picLocks noChangeAspect="1"/>
          </p:cNvPicPr>
          <p:nvPr/>
        </p:nvPicPr>
        <p:blipFill>
          <a:blip r:embed="rId1"/>
          <a:stretch>
            <a:fillRect/>
          </a:stretch>
        </p:blipFill>
        <p:spPr>
          <a:xfrm>
            <a:off x="684703" y="520111"/>
            <a:ext cx="294803" cy="294803"/>
          </a:xfrm>
          <a:prstGeom prst="rect">
            <a:avLst/>
          </a:prstGeom>
        </p:spPr>
      </p:pic>
      <p:sp>
        <p:nvSpPr>
          <p:cNvPr id="4" name="Text 1"/>
          <p:cNvSpPr/>
          <p:nvPr/>
        </p:nvSpPr>
        <p:spPr>
          <a:xfrm>
            <a:off x="1261872" y="384048"/>
            <a:ext cx="5486400"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Calibri" pitchFamily="34" charset="0"/>
                <a:ea typeface="Calibri" pitchFamily="34" charset="-122"/>
                <a:cs typeface="Calibri" pitchFamily="34" charset="-120"/>
              </a:rPr>
              <a:t>BUSINESS QUESTION 7</a:t>
            </a:r>
            <a:endParaRPr lang="en-US" sz="1100" dirty="0"/>
          </a:p>
        </p:txBody>
      </p:sp>
      <p:sp>
        <p:nvSpPr>
          <p:cNvPr id="5" name="Text 2"/>
          <p:cNvSpPr/>
          <p:nvPr/>
        </p:nvSpPr>
        <p:spPr>
          <a:xfrm>
            <a:off x="1261872" y="640080"/>
            <a:ext cx="10241280" cy="594360"/>
          </a:xfrm>
          <a:prstGeom prst="rect">
            <a:avLst/>
          </a:prstGeom>
          <a:noFill/>
          <a:ln/>
        </p:spPr>
        <p:txBody>
          <a:bodyPr wrap="square" lIns="0" tIns="0" rIns="0" bIns="0" rtlCol="0" anchor="t"/>
          <a:lstStyle/>
          <a:p>
            <a:pPr indent="0" marL="0">
              <a:buNone/>
            </a:pPr>
            <a:r>
              <a:rPr lang="en-US" sz="2000" b="1" dirty="0">
                <a:solidFill>
                  <a:srgbClr val="0B3D91"/>
                </a:solidFill>
                <a:latin typeface="Cambria" pitchFamily="34" charset="0"/>
                <a:ea typeface="Cambria" pitchFamily="34" charset="-122"/>
                <a:cs typeface="Cambria" pitchFamily="34" charset="-120"/>
              </a:rPr>
              <a:t>Which states contribute the largest share of national transaction revenue?</a:t>
            </a:r>
            <a:endParaRPr lang="en-US" sz="2000" dirty="0"/>
          </a:p>
        </p:txBody>
      </p:sp>
      <p:sp>
        <p:nvSpPr>
          <p:cNvPr id="6" name="Text 3"/>
          <p:cNvSpPr/>
          <p:nvPr/>
        </p:nvSpPr>
        <p:spPr>
          <a:xfrm>
            <a:off x="548640" y="155448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ANSWER</a:t>
            </a:r>
            <a:endParaRPr lang="en-US" sz="1100" dirty="0"/>
          </a:p>
        </p:txBody>
      </p:sp>
      <p:sp>
        <p:nvSpPr>
          <p:cNvPr id="7" name="Text 4"/>
          <p:cNvSpPr/>
          <p:nvPr/>
        </p:nvSpPr>
        <p:spPr>
          <a:xfrm>
            <a:off x="548640" y="1847088"/>
            <a:ext cx="4160520" cy="228600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The top 10 states together account for the vast majority of national transaction value — Uttar Pradesh alone contributes about 15.2%, followed by Maharashtra (13.6%) and Telangana (12.8%).</a:t>
            </a:r>
            <a:endParaRPr lang="en-US" sz="1250" dirty="0"/>
          </a:p>
        </p:txBody>
      </p:sp>
      <p:sp>
        <p:nvSpPr>
          <p:cNvPr id="8" name="Shape 5"/>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1" descr="icons/lightbulb.png">    </p:cNvPr>
          <p:cNvPicPr>
            <a:picLocks noChangeAspect="1"/>
          </p:cNvPicPr>
          <p:nvPr/>
        </p:nvPicPr>
        <p:blipFill>
          <a:blip r:embed="rId2"/>
          <a:stretch>
            <a:fillRect/>
          </a:stretch>
        </p:blipFill>
        <p:spPr>
          <a:xfrm>
            <a:off x="713232" y="5422392"/>
            <a:ext cx="365760" cy="365760"/>
          </a:xfrm>
          <a:prstGeom prst="rect">
            <a:avLst/>
          </a:prstGeom>
        </p:spPr>
      </p:pic>
      <p:sp>
        <p:nvSpPr>
          <p:cNvPr id="10" name="Text 6"/>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7"/>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Revenue is concentrated in a small set of states; a 1% improvement in these top markets moves the national number more than gains anywhere else.</a:t>
            </a:r>
            <a:endParaRPr lang="en-US" sz="1100" dirty="0"/>
          </a:p>
        </p:txBody>
      </p:sp>
      <p:sp>
        <p:nvSpPr>
          <p:cNvPr id="12" name="Shape 8"/>
          <p:cNvSpPr/>
          <p:nvPr/>
        </p:nvSpPr>
        <p:spPr>
          <a:xfrm>
            <a:off x="4983480" y="1554480"/>
            <a:ext cx="6675120" cy="4754880"/>
          </a:xfrm>
          <a:prstGeom prst="roundRect">
            <a:avLst>
              <a:gd name="adj" fmla="val 1538"/>
            </a:avLst>
          </a:prstGeom>
          <a:solidFill>
            <a:srgbClr val="FFFFFF"/>
          </a:solidFill>
          <a:ln/>
          <a:effectLst>
            <a:outerShdw sx="100000" sy="100000" kx="0" ky="0" algn="bl" rotWithShape="0" blurRad="88900" dist="25400" dir="5400000">
              <a:srgbClr val="1B2A4A">
                <a:alpha val="10000"/>
              </a:srgbClr>
            </a:outerShdw>
          </a:effectLst>
        </p:spPr>
      </p:sp>
      <p:graphicFrame>
        <p:nvGraphicFramePr>
          <p:cNvPr id="13" name="Chart 0" descr=""/>
          <p:cNvGraphicFramePr/>
          <p:nvPr/>
        </p:nvGraphicFramePr>
        <p:xfrm>
          <a:off x="5212080" y="1783080"/>
          <a:ext cx="6217920" cy="4297680"/>
        </p:xfrm>
        <a:graphic xmlns:a="http://schemas.openxmlformats.org/drawingml/2006/main">
          <a:graphicData uri="http://schemas.openxmlformats.org/drawingml/2006/chart">
            <c:chart xmlns:c="http://schemas.openxmlformats.org/drawingml/2006/chart" r:id="rId3"/>
          </a:graphicData>
        </a:graphic>
      </p:graphicFrame>
      <p:sp>
        <p:nvSpPr>
          <p:cNvPr id="14" name="Text 9"/>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0"/>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B3D91"/>
          </a:solidFill>
          <a:ln/>
        </p:spPr>
      </p:sp>
      <p:pic>
        <p:nvPicPr>
          <p:cNvPr id="3" name="Image 0" descr="icons/question_w.png">    </p:cNvPr>
          <p:cNvPicPr>
            <a:picLocks noChangeAspect="1"/>
          </p:cNvPicPr>
          <p:nvPr/>
        </p:nvPicPr>
        <p:blipFill>
          <a:blip r:embed="rId1"/>
          <a:stretch>
            <a:fillRect/>
          </a:stretch>
        </p:blipFill>
        <p:spPr>
          <a:xfrm>
            <a:off x="684703" y="520111"/>
            <a:ext cx="294803" cy="294803"/>
          </a:xfrm>
          <a:prstGeom prst="rect">
            <a:avLst/>
          </a:prstGeom>
        </p:spPr>
      </p:pic>
      <p:sp>
        <p:nvSpPr>
          <p:cNvPr id="4" name="Text 1"/>
          <p:cNvSpPr/>
          <p:nvPr/>
        </p:nvSpPr>
        <p:spPr>
          <a:xfrm>
            <a:off x="1261872" y="384048"/>
            <a:ext cx="5486400"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Calibri" pitchFamily="34" charset="0"/>
                <a:ea typeface="Calibri" pitchFamily="34" charset="-122"/>
                <a:cs typeface="Calibri" pitchFamily="34" charset="-120"/>
              </a:rPr>
              <a:t>BUSINESS QUESTION 8</a:t>
            </a:r>
            <a:endParaRPr lang="en-US" sz="1100" dirty="0"/>
          </a:p>
        </p:txBody>
      </p:sp>
      <p:sp>
        <p:nvSpPr>
          <p:cNvPr id="5" name="Text 2"/>
          <p:cNvSpPr/>
          <p:nvPr/>
        </p:nvSpPr>
        <p:spPr>
          <a:xfrm>
            <a:off x="1261872" y="640080"/>
            <a:ext cx="10241280" cy="594360"/>
          </a:xfrm>
          <a:prstGeom prst="rect">
            <a:avLst/>
          </a:prstGeom>
          <a:noFill/>
          <a:ln/>
        </p:spPr>
        <p:txBody>
          <a:bodyPr wrap="square" lIns="0" tIns="0" rIns="0" bIns="0" rtlCol="0" anchor="t"/>
          <a:lstStyle/>
          <a:p>
            <a:pPr indent="0" marL="0">
              <a:buNone/>
            </a:pPr>
            <a:r>
              <a:rPr lang="en-US" sz="2000" b="1" dirty="0">
                <a:solidFill>
                  <a:srgbClr val="0B3D91"/>
                </a:solidFill>
                <a:latin typeface="Cambria" pitchFamily="34" charset="0"/>
                <a:ea typeface="Cambria" pitchFamily="34" charset="-122"/>
                <a:cs typeface="Cambria" pitchFamily="34" charset="-120"/>
              </a:rPr>
              <a:t>Which mobile brand holds the highest average market share?</a:t>
            </a:r>
            <a:endParaRPr lang="en-US" sz="2000" dirty="0"/>
          </a:p>
        </p:txBody>
      </p:sp>
      <p:sp>
        <p:nvSpPr>
          <p:cNvPr id="6" name="Text 3"/>
          <p:cNvSpPr/>
          <p:nvPr/>
        </p:nvSpPr>
        <p:spPr>
          <a:xfrm>
            <a:off x="548640" y="155448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ANSWER</a:t>
            </a:r>
            <a:endParaRPr lang="en-US" sz="1100" dirty="0"/>
          </a:p>
        </p:txBody>
      </p:sp>
      <p:sp>
        <p:nvSpPr>
          <p:cNvPr id="7" name="Text 4"/>
          <p:cNvSpPr/>
          <p:nvPr/>
        </p:nvSpPr>
        <p:spPr>
          <a:xfrm>
            <a:off x="548640" y="1847088"/>
            <a:ext cx="4160520" cy="228600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Xiaomi holds the highest average percentage share among device brands at approximately 26.25%, ahead of Samsung (19.14%) and Vivo (16.85%).</a:t>
            </a:r>
            <a:endParaRPr lang="en-US" sz="1250" dirty="0"/>
          </a:p>
        </p:txBody>
      </p:sp>
      <p:sp>
        <p:nvSpPr>
          <p:cNvPr id="8" name="Shape 5"/>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1" descr="icons/lightbulb.png">    </p:cNvPr>
          <p:cNvPicPr>
            <a:picLocks noChangeAspect="1"/>
          </p:cNvPicPr>
          <p:nvPr/>
        </p:nvPicPr>
        <p:blipFill>
          <a:blip r:embed="rId2"/>
          <a:stretch>
            <a:fillRect/>
          </a:stretch>
        </p:blipFill>
        <p:spPr>
          <a:xfrm>
            <a:off x="713232" y="5422392"/>
            <a:ext cx="365760" cy="365760"/>
          </a:xfrm>
          <a:prstGeom prst="rect">
            <a:avLst/>
          </a:prstGeom>
        </p:spPr>
      </p:pic>
      <p:sp>
        <p:nvSpPr>
          <p:cNvPr id="10" name="Text 6"/>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7"/>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Since Xiaomi and Samsung devices dominate usage, app performance testing and UI optimization should prioritize these device ecosystems.</a:t>
            </a:r>
            <a:endParaRPr lang="en-US" sz="1100" dirty="0"/>
          </a:p>
        </p:txBody>
      </p:sp>
      <p:sp>
        <p:nvSpPr>
          <p:cNvPr id="12" name="Shape 8"/>
          <p:cNvSpPr/>
          <p:nvPr/>
        </p:nvSpPr>
        <p:spPr>
          <a:xfrm>
            <a:off x="4983480" y="1554480"/>
            <a:ext cx="6675120" cy="4754880"/>
          </a:xfrm>
          <a:prstGeom prst="roundRect">
            <a:avLst>
              <a:gd name="adj" fmla="val 1538"/>
            </a:avLst>
          </a:prstGeom>
          <a:solidFill>
            <a:srgbClr val="FFFFFF"/>
          </a:solidFill>
          <a:ln/>
          <a:effectLst>
            <a:outerShdw sx="100000" sy="100000" kx="0" ky="0" algn="bl" rotWithShape="0" blurRad="88900" dist="25400" dir="5400000">
              <a:srgbClr val="1B2A4A">
                <a:alpha val="10000"/>
              </a:srgbClr>
            </a:outerShdw>
          </a:effectLst>
        </p:spPr>
      </p:sp>
      <p:pic>
        <p:nvPicPr>
          <p:cNvPr id="13" name="Image 2" descr="imgs/cell135_10.png">    </p:cNvPr>
          <p:cNvPicPr>
            <a:picLocks noChangeAspect="1"/>
          </p:cNvPicPr>
          <p:nvPr/>
        </p:nvPicPr>
        <p:blipFill>
          <a:blip r:embed="rId3"/>
          <a:stretch>
            <a:fillRect/>
          </a:stretch>
        </p:blipFill>
        <p:spPr>
          <a:xfrm>
            <a:off x="5275708" y="1755648"/>
            <a:ext cx="6090665" cy="4352544"/>
          </a:xfrm>
          <a:prstGeom prst="rect">
            <a:avLst/>
          </a:prstGeom>
        </p:spPr>
      </p:pic>
      <p:sp>
        <p:nvSpPr>
          <p:cNvPr id="14" name="Text 9"/>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0"/>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B3D91"/>
          </a:solidFill>
          <a:ln/>
        </p:spPr>
      </p:sp>
      <p:pic>
        <p:nvPicPr>
          <p:cNvPr id="3" name="Image 0" descr="icons/question_w.png">    </p:cNvPr>
          <p:cNvPicPr>
            <a:picLocks noChangeAspect="1"/>
          </p:cNvPicPr>
          <p:nvPr/>
        </p:nvPicPr>
        <p:blipFill>
          <a:blip r:embed="rId1"/>
          <a:stretch>
            <a:fillRect/>
          </a:stretch>
        </p:blipFill>
        <p:spPr>
          <a:xfrm>
            <a:off x="684703" y="520111"/>
            <a:ext cx="294803" cy="294803"/>
          </a:xfrm>
          <a:prstGeom prst="rect">
            <a:avLst/>
          </a:prstGeom>
        </p:spPr>
      </p:pic>
      <p:sp>
        <p:nvSpPr>
          <p:cNvPr id="4" name="Text 1"/>
          <p:cNvSpPr/>
          <p:nvPr/>
        </p:nvSpPr>
        <p:spPr>
          <a:xfrm>
            <a:off x="1261872" y="384048"/>
            <a:ext cx="5486400"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Calibri" pitchFamily="34" charset="0"/>
                <a:ea typeface="Calibri" pitchFamily="34" charset="-122"/>
                <a:cs typeface="Calibri" pitchFamily="34" charset="-120"/>
              </a:rPr>
              <a:t>BUSINESS QUESTION 9</a:t>
            </a:r>
            <a:endParaRPr lang="en-US" sz="1100" dirty="0"/>
          </a:p>
        </p:txBody>
      </p:sp>
      <p:sp>
        <p:nvSpPr>
          <p:cNvPr id="5" name="Text 2"/>
          <p:cNvSpPr/>
          <p:nvPr/>
        </p:nvSpPr>
        <p:spPr>
          <a:xfrm>
            <a:off x="1261872" y="640080"/>
            <a:ext cx="10241280" cy="594360"/>
          </a:xfrm>
          <a:prstGeom prst="rect">
            <a:avLst/>
          </a:prstGeom>
          <a:noFill/>
          <a:ln/>
        </p:spPr>
        <p:txBody>
          <a:bodyPr wrap="square" lIns="0" tIns="0" rIns="0" bIns="0" rtlCol="0" anchor="t"/>
          <a:lstStyle/>
          <a:p>
            <a:pPr indent="0" marL="0">
              <a:buNone/>
            </a:pPr>
            <a:r>
              <a:rPr lang="en-US" sz="2000" b="1" dirty="0">
                <a:solidFill>
                  <a:srgbClr val="0B3D91"/>
                </a:solidFill>
                <a:latin typeface="Cambria" pitchFamily="34" charset="0"/>
                <a:ea typeface="Cambria" pitchFamily="34" charset="-122"/>
                <a:cs typeface="Cambria" pitchFamily="34" charset="-120"/>
              </a:rPr>
              <a:t>Which pincodes have the highest registered users?</a:t>
            </a:r>
            <a:endParaRPr lang="en-US" sz="2000" dirty="0"/>
          </a:p>
        </p:txBody>
      </p:sp>
      <p:sp>
        <p:nvSpPr>
          <p:cNvPr id="6" name="Text 3"/>
          <p:cNvSpPr/>
          <p:nvPr/>
        </p:nvSpPr>
        <p:spPr>
          <a:xfrm>
            <a:off x="548640" y="155448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ANSWER</a:t>
            </a:r>
            <a:endParaRPr lang="en-US" sz="1100" dirty="0"/>
          </a:p>
        </p:txBody>
      </p:sp>
      <p:sp>
        <p:nvSpPr>
          <p:cNvPr id="7" name="Text 4"/>
          <p:cNvSpPr/>
          <p:nvPr/>
        </p:nvSpPr>
        <p:spPr>
          <a:xfrm>
            <a:off x="548640" y="1847088"/>
            <a:ext cx="4160520" cy="228600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Maharashtra's pincodes 411033, 411057, and 411014 (Pune area) top the list with about 24.86 billion registered users each, followed by pincode 410501 and Uttar Pradesh's 201307 cluster.</a:t>
            </a:r>
            <a:endParaRPr lang="en-US" sz="1250" dirty="0"/>
          </a:p>
        </p:txBody>
      </p:sp>
      <p:sp>
        <p:nvSpPr>
          <p:cNvPr id="8" name="Shape 5"/>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1" descr="icons/lightbulb.png">    </p:cNvPr>
          <p:cNvPicPr>
            <a:picLocks noChangeAspect="1"/>
          </p:cNvPicPr>
          <p:nvPr/>
        </p:nvPicPr>
        <p:blipFill>
          <a:blip r:embed="rId2"/>
          <a:stretch>
            <a:fillRect/>
          </a:stretch>
        </p:blipFill>
        <p:spPr>
          <a:xfrm>
            <a:off x="713232" y="5422392"/>
            <a:ext cx="365760" cy="365760"/>
          </a:xfrm>
          <a:prstGeom prst="rect">
            <a:avLst/>
          </a:prstGeom>
        </p:spPr>
      </p:pic>
      <p:sp>
        <p:nvSpPr>
          <p:cNvPr id="10" name="Text 6"/>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7"/>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High-density pincodes in Pune and the Delhi-NCR belt (Uttar Pradesh 201xxx) are prime targets for hyperlocal merchant partnerships and localized promotions.</a:t>
            </a:r>
            <a:endParaRPr lang="en-US" sz="1100" dirty="0"/>
          </a:p>
        </p:txBody>
      </p:sp>
      <p:sp>
        <p:nvSpPr>
          <p:cNvPr id="12" name="Shape 8"/>
          <p:cNvSpPr/>
          <p:nvPr/>
        </p:nvSpPr>
        <p:spPr>
          <a:xfrm>
            <a:off x="4983480" y="1554480"/>
            <a:ext cx="6675120" cy="4754880"/>
          </a:xfrm>
          <a:prstGeom prst="roundRect">
            <a:avLst>
              <a:gd name="adj" fmla="val 1538"/>
            </a:avLst>
          </a:prstGeom>
          <a:solidFill>
            <a:srgbClr val="FFFFFF"/>
          </a:solidFill>
          <a:ln/>
          <a:effectLst>
            <a:outerShdw sx="100000" sy="100000" kx="0" ky="0" algn="bl" rotWithShape="0" blurRad="88900" dist="25400" dir="5400000">
              <a:srgbClr val="1B2A4A">
                <a:alpha val="10000"/>
              </a:srgbClr>
            </a:outerShdw>
          </a:effectLst>
        </p:spPr>
      </p:sp>
      <p:pic>
        <p:nvPicPr>
          <p:cNvPr id="13" name="Image 2" descr="imgs/cell96_2.png">    </p:cNvPr>
          <p:cNvPicPr>
            <a:picLocks noChangeAspect="1"/>
          </p:cNvPicPr>
          <p:nvPr/>
        </p:nvPicPr>
        <p:blipFill>
          <a:blip r:embed="rId3"/>
          <a:stretch>
            <a:fillRect/>
          </a:stretch>
        </p:blipFill>
        <p:spPr>
          <a:xfrm>
            <a:off x="5184648" y="2375594"/>
            <a:ext cx="6272784" cy="3112651"/>
          </a:xfrm>
          <a:prstGeom prst="rect">
            <a:avLst/>
          </a:prstGeom>
        </p:spPr>
      </p:pic>
      <p:sp>
        <p:nvSpPr>
          <p:cNvPr id="14" name="Text 9"/>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0"/>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B3D91"/>
          </a:solidFill>
          <a:ln/>
        </p:spPr>
      </p:sp>
      <p:pic>
        <p:nvPicPr>
          <p:cNvPr id="3" name="Image 0" descr="icons/question_w.png">    </p:cNvPr>
          <p:cNvPicPr>
            <a:picLocks noChangeAspect="1"/>
          </p:cNvPicPr>
          <p:nvPr/>
        </p:nvPicPr>
        <p:blipFill>
          <a:blip r:embed="rId1"/>
          <a:stretch>
            <a:fillRect/>
          </a:stretch>
        </p:blipFill>
        <p:spPr>
          <a:xfrm>
            <a:off x="684703" y="520111"/>
            <a:ext cx="294803" cy="294803"/>
          </a:xfrm>
          <a:prstGeom prst="rect">
            <a:avLst/>
          </a:prstGeom>
        </p:spPr>
      </p:pic>
      <p:sp>
        <p:nvSpPr>
          <p:cNvPr id="4" name="Text 1"/>
          <p:cNvSpPr/>
          <p:nvPr/>
        </p:nvSpPr>
        <p:spPr>
          <a:xfrm>
            <a:off x="1261872" y="384048"/>
            <a:ext cx="5486400"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Calibri" pitchFamily="34" charset="0"/>
                <a:ea typeface="Calibri" pitchFamily="34" charset="-122"/>
                <a:cs typeface="Calibri" pitchFamily="34" charset="-120"/>
              </a:rPr>
              <a:t>BUSINESS QUESTION 10</a:t>
            </a:r>
            <a:endParaRPr lang="en-US" sz="1100" dirty="0"/>
          </a:p>
        </p:txBody>
      </p:sp>
      <p:sp>
        <p:nvSpPr>
          <p:cNvPr id="5" name="Text 2"/>
          <p:cNvSpPr/>
          <p:nvPr/>
        </p:nvSpPr>
        <p:spPr>
          <a:xfrm>
            <a:off x="1261872" y="640080"/>
            <a:ext cx="10241280" cy="594360"/>
          </a:xfrm>
          <a:prstGeom prst="rect">
            <a:avLst/>
          </a:prstGeom>
          <a:noFill/>
          <a:ln/>
        </p:spPr>
        <p:txBody>
          <a:bodyPr wrap="square" lIns="0" tIns="0" rIns="0" bIns="0" rtlCol="0" anchor="t"/>
          <a:lstStyle/>
          <a:p>
            <a:pPr indent="0" marL="0">
              <a:buNone/>
            </a:pPr>
            <a:r>
              <a:rPr lang="en-US" sz="2000" b="1" dirty="0">
                <a:solidFill>
                  <a:srgbClr val="0B3D91"/>
                </a:solidFill>
                <a:latin typeface="Cambria" pitchFamily="34" charset="0"/>
                <a:ea typeface="Cambria" pitchFamily="34" charset="-122"/>
                <a:cs typeface="Cambria" pitchFamily="34" charset="-120"/>
              </a:rPr>
              <a:t>Which single state records the maximum app opens?</a:t>
            </a:r>
            <a:endParaRPr lang="en-US" sz="2000" dirty="0"/>
          </a:p>
        </p:txBody>
      </p:sp>
      <p:sp>
        <p:nvSpPr>
          <p:cNvPr id="6" name="Text 3"/>
          <p:cNvSpPr/>
          <p:nvPr/>
        </p:nvSpPr>
        <p:spPr>
          <a:xfrm>
            <a:off x="548640" y="155448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ANSWER</a:t>
            </a:r>
            <a:endParaRPr lang="en-US" sz="1100" dirty="0"/>
          </a:p>
        </p:txBody>
      </p:sp>
      <p:sp>
        <p:nvSpPr>
          <p:cNvPr id="7" name="Text 4"/>
          <p:cNvSpPr/>
          <p:nvPr/>
        </p:nvSpPr>
        <p:spPr>
          <a:xfrm>
            <a:off x="548640" y="1847088"/>
            <a:ext cx="4160520" cy="228600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Maharashtra records the maximum total app opens among all individual states, confirmed using idxmax() on the state-wise app-opens aggregation.</a:t>
            </a:r>
            <a:endParaRPr lang="en-US" sz="1250" dirty="0"/>
          </a:p>
        </p:txBody>
      </p:sp>
      <p:sp>
        <p:nvSpPr>
          <p:cNvPr id="8" name="Shape 5"/>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1" descr="icons/lightbulb.png">    </p:cNvPr>
          <p:cNvPicPr>
            <a:picLocks noChangeAspect="1"/>
          </p:cNvPicPr>
          <p:nvPr/>
        </p:nvPicPr>
        <p:blipFill>
          <a:blip r:embed="rId2"/>
          <a:stretch>
            <a:fillRect/>
          </a:stretch>
        </p:blipFill>
        <p:spPr>
          <a:xfrm>
            <a:off x="713232" y="5422392"/>
            <a:ext cx="365760" cy="365760"/>
          </a:xfrm>
          <a:prstGeom prst="rect">
            <a:avLst/>
          </a:prstGeom>
        </p:spPr>
      </p:pic>
      <p:sp>
        <p:nvSpPr>
          <p:cNvPr id="10" name="Text 6"/>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7"/>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As both the top state for registered users and app opens, Maharashtra is PhonePe's single most important state market and a benchmark for measuring success elsewhere.</a:t>
            </a:r>
            <a:endParaRPr lang="en-US" sz="1100" dirty="0"/>
          </a:p>
        </p:txBody>
      </p:sp>
      <p:sp>
        <p:nvSpPr>
          <p:cNvPr id="12" name="Shape 8"/>
          <p:cNvSpPr/>
          <p:nvPr/>
        </p:nvSpPr>
        <p:spPr>
          <a:xfrm>
            <a:off x="4983480" y="1554480"/>
            <a:ext cx="6675120" cy="4754880"/>
          </a:xfrm>
          <a:prstGeom prst="roundRect">
            <a:avLst>
              <a:gd name="adj" fmla="val 1538"/>
            </a:avLst>
          </a:prstGeom>
          <a:solidFill>
            <a:srgbClr val="FFFFFF"/>
          </a:solidFill>
          <a:ln/>
          <a:effectLst>
            <a:outerShdw sx="100000" sy="100000" kx="0" ky="0" algn="bl" rotWithShape="0" blurRad="88900" dist="25400" dir="5400000">
              <a:srgbClr val="1B2A4A">
                <a:alpha val="10000"/>
              </a:srgbClr>
            </a:outerShdw>
          </a:effectLst>
        </p:spPr>
      </p:sp>
      <p:sp>
        <p:nvSpPr>
          <p:cNvPr id="13" name="Shape 9"/>
          <p:cNvSpPr/>
          <p:nvPr/>
        </p:nvSpPr>
        <p:spPr>
          <a:xfrm>
            <a:off x="5212080" y="1783080"/>
            <a:ext cx="6217920" cy="4297680"/>
          </a:xfrm>
          <a:prstGeom prst="rect">
            <a:avLst/>
          </a:prstGeom>
          <a:solidFill>
            <a:srgbClr val="FFFFFF"/>
          </a:solidFill>
          <a:ln/>
        </p:spPr>
      </p:sp>
      <p:sp>
        <p:nvSpPr>
          <p:cNvPr id="14" name="Shape 10"/>
          <p:cNvSpPr/>
          <p:nvPr/>
        </p:nvSpPr>
        <p:spPr>
          <a:xfrm>
            <a:off x="7726680" y="2240280"/>
            <a:ext cx="1188720" cy="1188720"/>
          </a:xfrm>
          <a:prstGeom prst="ellipse">
            <a:avLst/>
          </a:prstGeom>
          <a:solidFill>
            <a:srgbClr val="0B3D91"/>
          </a:solidFill>
          <a:ln/>
        </p:spPr>
      </p:sp>
      <p:pic>
        <p:nvPicPr>
          <p:cNvPr id="15" name="Image 2" descr="icons/mobile_w.png">    </p:cNvPr>
          <p:cNvPicPr>
            <a:picLocks noChangeAspect="1"/>
          </p:cNvPicPr>
          <p:nvPr/>
        </p:nvPicPr>
        <p:blipFill>
          <a:blip r:embed="rId3"/>
          <a:stretch>
            <a:fillRect/>
          </a:stretch>
        </p:blipFill>
        <p:spPr>
          <a:xfrm>
            <a:off x="8011973" y="2525573"/>
            <a:ext cx="618134" cy="618134"/>
          </a:xfrm>
          <a:prstGeom prst="rect">
            <a:avLst/>
          </a:prstGeom>
        </p:spPr>
      </p:pic>
      <p:sp>
        <p:nvSpPr>
          <p:cNvPr id="16" name="Text 11"/>
          <p:cNvSpPr/>
          <p:nvPr/>
        </p:nvSpPr>
        <p:spPr>
          <a:xfrm>
            <a:off x="5212080" y="3703320"/>
            <a:ext cx="6217920" cy="640080"/>
          </a:xfrm>
          <a:prstGeom prst="rect">
            <a:avLst/>
          </a:prstGeom>
          <a:noFill/>
          <a:ln/>
        </p:spPr>
        <p:txBody>
          <a:bodyPr wrap="square" lIns="0" tIns="0" rIns="0" bIns="0" rtlCol="0" anchor="ctr"/>
          <a:lstStyle/>
          <a:p>
            <a:pPr algn="ctr" indent="0" marL="0">
              <a:buNone/>
            </a:pPr>
            <a:r>
              <a:rPr lang="en-US" sz="3400" b="1" dirty="0">
                <a:solidFill>
                  <a:srgbClr val="0B3D91"/>
                </a:solidFill>
                <a:latin typeface="Cambria" pitchFamily="34" charset="0"/>
                <a:ea typeface="Cambria" pitchFamily="34" charset="-122"/>
                <a:cs typeface="Cambria" pitchFamily="34" charset="-120"/>
              </a:rPr>
              <a:t>Maharashtra</a:t>
            </a:r>
            <a:endParaRPr lang="en-US" sz="3400" dirty="0"/>
          </a:p>
        </p:txBody>
      </p:sp>
      <p:sp>
        <p:nvSpPr>
          <p:cNvPr id="17" name="Text 12"/>
          <p:cNvSpPr/>
          <p:nvPr/>
        </p:nvSpPr>
        <p:spPr>
          <a:xfrm>
            <a:off x="5212080" y="4389120"/>
            <a:ext cx="6217920" cy="365760"/>
          </a:xfrm>
          <a:prstGeom prst="rect">
            <a:avLst/>
          </a:prstGeom>
          <a:noFill/>
          <a:ln/>
        </p:spPr>
        <p:txBody>
          <a:bodyPr wrap="square" lIns="0" tIns="0" rIns="0" bIns="0" rtlCol="0" anchor="ctr"/>
          <a:lstStyle/>
          <a:p>
            <a:pPr algn="ctr" indent="0" marL="0">
              <a:buNone/>
            </a:pPr>
            <a:r>
              <a:rPr lang="en-US" sz="1300" dirty="0">
                <a:solidFill>
                  <a:srgbClr val="6B7A99"/>
                </a:solidFill>
                <a:latin typeface="Calibri" pitchFamily="34" charset="0"/>
                <a:ea typeface="Calibri" pitchFamily="34" charset="-122"/>
                <a:cs typeface="Calibri" pitchFamily="34" charset="-120"/>
              </a:rPr>
              <a:t>Highest App Opens of Any Single State</a:t>
            </a:r>
            <a:endParaRPr lang="en-US" sz="1300" dirty="0"/>
          </a:p>
        </p:txBody>
      </p:sp>
      <p:sp>
        <p:nvSpPr>
          <p:cNvPr id="18" name="Text 13"/>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9" name="Text 14"/>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B3D91"/>
          </a:solidFill>
          <a:ln/>
        </p:spPr>
      </p:sp>
      <p:pic>
        <p:nvPicPr>
          <p:cNvPr id="3" name="Image 0" descr="icons/question_w.png">    </p:cNvPr>
          <p:cNvPicPr>
            <a:picLocks noChangeAspect="1"/>
          </p:cNvPicPr>
          <p:nvPr/>
        </p:nvPicPr>
        <p:blipFill>
          <a:blip r:embed="rId1"/>
          <a:stretch>
            <a:fillRect/>
          </a:stretch>
        </p:blipFill>
        <p:spPr>
          <a:xfrm>
            <a:off x="684703" y="520111"/>
            <a:ext cx="294803" cy="294803"/>
          </a:xfrm>
          <a:prstGeom prst="rect">
            <a:avLst/>
          </a:prstGeom>
        </p:spPr>
      </p:pic>
      <p:sp>
        <p:nvSpPr>
          <p:cNvPr id="4" name="Text 1"/>
          <p:cNvSpPr/>
          <p:nvPr/>
        </p:nvSpPr>
        <p:spPr>
          <a:xfrm>
            <a:off x="1261872" y="384048"/>
            <a:ext cx="5486400"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Calibri" pitchFamily="34" charset="0"/>
                <a:ea typeface="Calibri" pitchFamily="34" charset="-122"/>
                <a:cs typeface="Calibri" pitchFamily="34" charset="-120"/>
              </a:rPr>
              <a:t>BUSINESS QUESTION 11</a:t>
            </a:r>
            <a:endParaRPr lang="en-US" sz="1100" dirty="0"/>
          </a:p>
        </p:txBody>
      </p:sp>
      <p:sp>
        <p:nvSpPr>
          <p:cNvPr id="5" name="Text 2"/>
          <p:cNvSpPr/>
          <p:nvPr/>
        </p:nvSpPr>
        <p:spPr>
          <a:xfrm>
            <a:off x="1261872" y="640080"/>
            <a:ext cx="10241280" cy="594360"/>
          </a:xfrm>
          <a:prstGeom prst="rect">
            <a:avLst/>
          </a:prstGeom>
          <a:noFill/>
          <a:ln/>
        </p:spPr>
        <p:txBody>
          <a:bodyPr wrap="square" lIns="0" tIns="0" rIns="0" bIns="0" rtlCol="0" anchor="t"/>
          <a:lstStyle/>
          <a:p>
            <a:pPr indent="0" marL="0">
              <a:buNone/>
            </a:pPr>
            <a:r>
              <a:rPr lang="en-US" sz="2000" b="1" dirty="0">
                <a:solidFill>
                  <a:srgbClr val="0B3D91"/>
                </a:solidFill>
                <a:latin typeface="Cambria" pitchFamily="34" charset="0"/>
                <a:ea typeface="Cambria" pitchFamily="34" charset="-122"/>
                <a:cs typeface="Cambria" pitchFamily="34" charset="-120"/>
              </a:rPr>
              <a:t>Which district records the highest transaction amount?</a:t>
            </a:r>
            <a:endParaRPr lang="en-US" sz="2000" dirty="0"/>
          </a:p>
        </p:txBody>
      </p:sp>
      <p:sp>
        <p:nvSpPr>
          <p:cNvPr id="6" name="Text 3"/>
          <p:cNvSpPr/>
          <p:nvPr/>
        </p:nvSpPr>
        <p:spPr>
          <a:xfrm>
            <a:off x="548640" y="155448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ANSWER</a:t>
            </a:r>
            <a:endParaRPr lang="en-US" sz="1100" dirty="0"/>
          </a:p>
        </p:txBody>
      </p:sp>
      <p:sp>
        <p:nvSpPr>
          <p:cNvPr id="7" name="Text 4"/>
          <p:cNvSpPr/>
          <p:nvPr/>
        </p:nvSpPr>
        <p:spPr>
          <a:xfrm>
            <a:off x="548640" y="1847088"/>
            <a:ext cx="4160520" cy="228600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Aurangabad recorded the highest total transaction amount among districts, followed by Pratapgarh, Jagtial, Hyderabad, and Adilabad.</a:t>
            </a:r>
            <a:endParaRPr lang="en-US" sz="1250" dirty="0"/>
          </a:p>
        </p:txBody>
      </p:sp>
      <p:sp>
        <p:nvSpPr>
          <p:cNvPr id="8" name="Shape 5"/>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1" descr="icons/lightbulb.png">    </p:cNvPr>
          <p:cNvPicPr>
            <a:picLocks noChangeAspect="1"/>
          </p:cNvPicPr>
          <p:nvPr/>
        </p:nvPicPr>
        <p:blipFill>
          <a:blip r:embed="rId2"/>
          <a:stretch>
            <a:fillRect/>
          </a:stretch>
        </p:blipFill>
        <p:spPr>
          <a:xfrm>
            <a:off x="713232" y="5422392"/>
            <a:ext cx="365760" cy="365760"/>
          </a:xfrm>
          <a:prstGeom prst="rect">
            <a:avLst/>
          </a:prstGeom>
        </p:spPr>
      </p:pic>
      <p:sp>
        <p:nvSpPr>
          <p:cNvPr id="10" name="Text 6"/>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7"/>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District-level transaction leaders don't always match the districts with the most registered users — showing that transaction value and user count should be tracked as separate KPIs.</a:t>
            </a:r>
            <a:endParaRPr lang="en-US" sz="1100" dirty="0"/>
          </a:p>
        </p:txBody>
      </p:sp>
      <p:sp>
        <p:nvSpPr>
          <p:cNvPr id="12" name="Shape 8"/>
          <p:cNvSpPr/>
          <p:nvPr/>
        </p:nvSpPr>
        <p:spPr>
          <a:xfrm>
            <a:off x="4983480" y="1554480"/>
            <a:ext cx="6675120" cy="4754880"/>
          </a:xfrm>
          <a:prstGeom prst="roundRect">
            <a:avLst>
              <a:gd name="adj" fmla="val 1538"/>
            </a:avLst>
          </a:prstGeom>
          <a:solidFill>
            <a:srgbClr val="FFFFFF"/>
          </a:solidFill>
          <a:ln/>
          <a:effectLst>
            <a:outerShdw sx="100000" sy="100000" kx="0" ky="0" algn="bl" rotWithShape="0" blurRad="88900" dist="25400" dir="5400000">
              <a:srgbClr val="1B2A4A">
                <a:alpha val="10000"/>
              </a:srgbClr>
            </a:outerShdw>
          </a:effectLst>
        </p:spPr>
      </p:sp>
      <p:pic>
        <p:nvPicPr>
          <p:cNvPr id="13" name="Image 2" descr="imgs/cell96_2.png">    </p:cNvPr>
          <p:cNvPicPr>
            <a:picLocks noChangeAspect="1"/>
          </p:cNvPicPr>
          <p:nvPr/>
        </p:nvPicPr>
        <p:blipFill>
          <a:blip r:embed="rId3"/>
          <a:stretch>
            <a:fillRect/>
          </a:stretch>
        </p:blipFill>
        <p:spPr>
          <a:xfrm>
            <a:off x="5184648" y="2375594"/>
            <a:ext cx="6272784" cy="3112651"/>
          </a:xfrm>
          <a:prstGeom prst="rect">
            <a:avLst/>
          </a:prstGeom>
        </p:spPr>
      </p:pic>
      <p:sp>
        <p:nvSpPr>
          <p:cNvPr id="14" name="Text 9"/>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0"/>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B3D91"/>
          </a:solidFill>
          <a:ln/>
        </p:spPr>
      </p:sp>
      <p:pic>
        <p:nvPicPr>
          <p:cNvPr id="3" name="Image 0" descr="icons/question_w.png">    </p:cNvPr>
          <p:cNvPicPr>
            <a:picLocks noChangeAspect="1"/>
          </p:cNvPicPr>
          <p:nvPr/>
        </p:nvPicPr>
        <p:blipFill>
          <a:blip r:embed="rId1"/>
          <a:stretch>
            <a:fillRect/>
          </a:stretch>
        </p:blipFill>
        <p:spPr>
          <a:xfrm>
            <a:off x="684703" y="520111"/>
            <a:ext cx="294803" cy="294803"/>
          </a:xfrm>
          <a:prstGeom prst="rect">
            <a:avLst/>
          </a:prstGeom>
        </p:spPr>
      </p:pic>
      <p:sp>
        <p:nvSpPr>
          <p:cNvPr id="4" name="Text 1"/>
          <p:cNvSpPr/>
          <p:nvPr/>
        </p:nvSpPr>
        <p:spPr>
          <a:xfrm>
            <a:off x="1261872" y="384048"/>
            <a:ext cx="5486400" cy="274320"/>
          </a:xfrm>
          <a:prstGeom prst="rect">
            <a:avLst/>
          </a:prstGeom>
          <a:noFill/>
          <a:ln/>
        </p:spPr>
        <p:txBody>
          <a:bodyPr wrap="square" lIns="0" tIns="0" rIns="0" bIns="0" rtlCol="0" anchor="ctr"/>
          <a:lstStyle/>
          <a:p>
            <a:pPr indent="0" marL="0">
              <a:buNone/>
            </a:pPr>
            <a:r>
              <a:rPr lang="en-US" sz="1100" b="1" spc="100" kern="0" dirty="0">
                <a:solidFill>
                  <a:srgbClr val="00B4D8"/>
                </a:solidFill>
                <a:latin typeface="Calibri" pitchFamily="34" charset="0"/>
                <a:ea typeface="Calibri" pitchFamily="34" charset="-122"/>
                <a:cs typeface="Calibri" pitchFamily="34" charset="-120"/>
              </a:rPr>
              <a:t>BUSINESS QUESTION 12</a:t>
            </a:r>
            <a:endParaRPr lang="en-US" sz="1100" dirty="0"/>
          </a:p>
        </p:txBody>
      </p:sp>
      <p:sp>
        <p:nvSpPr>
          <p:cNvPr id="5" name="Text 2"/>
          <p:cNvSpPr/>
          <p:nvPr/>
        </p:nvSpPr>
        <p:spPr>
          <a:xfrm>
            <a:off x="1261872" y="640080"/>
            <a:ext cx="10241280" cy="594360"/>
          </a:xfrm>
          <a:prstGeom prst="rect">
            <a:avLst/>
          </a:prstGeom>
          <a:noFill/>
          <a:ln/>
        </p:spPr>
        <p:txBody>
          <a:bodyPr wrap="square" lIns="0" tIns="0" rIns="0" bIns="0" rtlCol="0" anchor="t"/>
          <a:lstStyle/>
          <a:p>
            <a:pPr indent="0" marL="0">
              <a:buNone/>
            </a:pPr>
            <a:r>
              <a:rPr lang="en-US" sz="2000" b="1" dirty="0">
                <a:solidFill>
                  <a:srgbClr val="0B3D91"/>
                </a:solidFill>
                <a:latin typeface="Cambria" pitchFamily="34" charset="0"/>
                <a:ea typeface="Cambria" pitchFamily="34" charset="-122"/>
                <a:cs typeface="Cambria" pitchFamily="34" charset="-120"/>
              </a:rPr>
              <a:t>What is the year-over-year growth trend in transaction amount?</a:t>
            </a:r>
            <a:endParaRPr lang="en-US" sz="2000" dirty="0"/>
          </a:p>
        </p:txBody>
      </p:sp>
      <p:sp>
        <p:nvSpPr>
          <p:cNvPr id="6" name="Text 3"/>
          <p:cNvSpPr/>
          <p:nvPr/>
        </p:nvSpPr>
        <p:spPr>
          <a:xfrm>
            <a:off x="548640" y="1554480"/>
            <a:ext cx="4160520" cy="256032"/>
          </a:xfrm>
          <a:prstGeom prst="rect">
            <a:avLst/>
          </a:prstGeom>
          <a:noFill/>
          <a:ln/>
        </p:spPr>
        <p:txBody>
          <a:bodyPr wrap="square" lIns="0" tIns="0" rIns="0" bIns="0" rtlCol="0" anchor="ctr"/>
          <a:lstStyle/>
          <a:p>
            <a:pPr indent="0" marL="0">
              <a:buNone/>
            </a:pPr>
            <a:r>
              <a:rPr lang="en-US" sz="1100" b="1" dirty="0">
                <a:solidFill>
                  <a:srgbClr val="1859C4"/>
                </a:solidFill>
                <a:latin typeface="Calibri" pitchFamily="34" charset="0"/>
                <a:ea typeface="Calibri" pitchFamily="34" charset="-122"/>
                <a:cs typeface="Calibri" pitchFamily="34" charset="-120"/>
              </a:rPr>
              <a:t>ANSWER</a:t>
            </a:r>
            <a:endParaRPr lang="en-US" sz="1100" dirty="0"/>
          </a:p>
        </p:txBody>
      </p:sp>
      <p:sp>
        <p:nvSpPr>
          <p:cNvPr id="7" name="Text 4"/>
          <p:cNvSpPr/>
          <p:nvPr/>
        </p:nvSpPr>
        <p:spPr>
          <a:xfrm>
            <a:off x="548640" y="1847088"/>
            <a:ext cx="4160520" cy="2286000"/>
          </a:xfrm>
          <a:prstGeom prst="rect">
            <a:avLst/>
          </a:prstGeom>
          <a:noFill/>
          <a:ln/>
        </p:spPr>
        <p:txBody>
          <a:bodyPr wrap="square" lIns="0" tIns="0" rIns="0" bIns="0" rtlCol="0" anchor="t"/>
          <a:lstStyle/>
          <a:p>
            <a:pPr indent="0" marL="0">
              <a:buNone/>
            </a:pPr>
            <a:r>
              <a:rPr lang="en-US" sz="1250" dirty="0">
                <a:solidFill>
                  <a:srgbClr val="42506B"/>
                </a:solidFill>
                <a:latin typeface="Calibri" pitchFamily="34" charset="0"/>
                <a:ea typeface="Calibri" pitchFamily="34" charset="-122"/>
                <a:cs typeface="Calibri" pitchFamily="34" charset="-120"/>
              </a:rPr>
              <a:t>Transaction amount grew 283% year-over-year in 2019, then moderated to 132% (2020) and 139% (2021); 2022 shows -61% because the dataset only includes Q1 of that year.</a:t>
            </a:r>
            <a:endParaRPr lang="en-US" sz="1250" dirty="0"/>
          </a:p>
        </p:txBody>
      </p:sp>
      <p:sp>
        <p:nvSpPr>
          <p:cNvPr id="8" name="Shape 5"/>
          <p:cNvSpPr/>
          <p:nvPr/>
        </p:nvSpPr>
        <p:spPr>
          <a:xfrm>
            <a:off x="548640" y="5257800"/>
            <a:ext cx="4160520" cy="1051560"/>
          </a:xfrm>
          <a:prstGeom prst="roundRect">
            <a:avLst>
              <a:gd name="adj" fmla="val 6957"/>
            </a:avLst>
          </a:prstGeom>
          <a:solidFill>
            <a:srgbClr val="EAF2FC"/>
          </a:solidFill>
          <a:ln/>
          <a:effectLst>
            <a:outerShdw sx="100000" sy="100000" kx="0" ky="0" algn="bl" rotWithShape="0" blurRad="88900" dist="25400" dir="5400000">
              <a:srgbClr val="1B2A4A">
                <a:alpha val="10000"/>
              </a:srgbClr>
            </a:outerShdw>
          </a:effectLst>
        </p:spPr>
      </p:sp>
      <p:pic>
        <p:nvPicPr>
          <p:cNvPr id="9" name="Image 1" descr="icons/lightbulb.png">    </p:cNvPr>
          <p:cNvPicPr>
            <a:picLocks noChangeAspect="1"/>
          </p:cNvPicPr>
          <p:nvPr/>
        </p:nvPicPr>
        <p:blipFill>
          <a:blip r:embed="rId2"/>
          <a:stretch>
            <a:fillRect/>
          </a:stretch>
        </p:blipFill>
        <p:spPr>
          <a:xfrm>
            <a:off x="713232" y="5422392"/>
            <a:ext cx="365760" cy="365760"/>
          </a:xfrm>
          <a:prstGeom prst="rect">
            <a:avLst/>
          </a:prstGeom>
        </p:spPr>
      </p:pic>
      <p:sp>
        <p:nvSpPr>
          <p:cNvPr id="10" name="Text 6"/>
          <p:cNvSpPr/>
          <p:nvPr/>
        </p:nvSpPr>
        <p:spPr>
          <a:xfrm>
            <a:off x="1188720" y="5376672"/>
            <a:ext cx="3337560" cy="256032"/>
          </a:xfrm>
          <a:prstGeom prst="rect">
            <a:avLst/>
          </a:prstGeom>
          <a:noFill/>
          <a:ln/>
        </p:spPr>
        <p:txBody>
          <a:bodyPr wrap="square" lIns="0" tIns="0" rIns="0" bIns="0" rtlCol="0" anchor="ctr"/>
          <a:lstStyle/>
          <a:p>
            <a:pPr indent="0" marL="0">
              <a:buNone/>
            </a:pPr>
            <a:r>
              <a:rPr lang="en-US" sz="1050" b="1" dirty="0">
                <a:solidFill>
                  <a:srgbClr val="0B3D91"/>
                </a:solidFill>
                <a:latin typeface="Calibri" pitchFamily="34" charset="0"/>
                <a:ea typeface="Calibri" pitchFamily="34" charset="-122"/>
                <a:cs typeface="Calibri" pitchFamily="34" charset="-120"/>
              </a:rPr>
              <a:t>BUSINESS INSIGHT</a:t>
            </a:r>
            <a:endParaRPr lang="en-US" sz="1050" dirty="0"/>
          </a:p>
        </p:txBody>
      </p:sp>
      <p:sp>
        <p:nvSpPr>
          <p:cNvPr id="11" name="Text 7"/>
          <p:cNvSpPr/>
          <p:nvPr/>
        </p:nvSpPr>
        <p:spPr>
          <a:xfrm>
            <a:off x="1188720" y="5641848"/>
            <a:ext cx="3337560" cy="59436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Growth-rate trends should always be paired with a check on data completeness — the 2022 figure is a data-coverage artifact, not a real business decline.</a:t>
            </a:r>
            <a:endParaRPr lang="en-US" sz="1100" dirty="0"/>
          </a:p>
        </p:txBody>
      </p:sp>
      <p:sp>
        <p:nvSpPr>
          <p:cNvPr id="12" name="Shape 8"/>
          <p:cNvSpPr/>
          <p:nvPr/>
        </p:nvSpPr>
        <p:spPr>
          <a:xfrm>
            <a:off x="4983480" y="1554480"/>
            <a:ext cx="6675120" cy="4754880"/>
          </a:xfrm>
          <a:prstGeom prst="roundRect">
            <a:avLst>
              <a:gd name="adj" fmla="val 1538"/>
            </a:avLst>
          </a:prstGeom>
          <a:solidFill>
            <a:srgbClr val="FFFFFF"/>
          </a:solidFill>
          <a:ln/>
          <a:effectLst>
            <a:outerShdw sx="100000" sy="100000" kx="0" ky="0" algn="bl" rotWithShape="0" blurRad="88900" dist="25400" dir="5400000">
              <a:srgbClr val="1B2A4A">
                <a:alpha val="10000"/>
              </a:srgbClr>
            </a:outerShdw>
          </a:effectLst>
        </p:spPr>
      </p:sp>
      <p:graphicFrame>
        <p:nvGraphicFramePr>
          <p:cNvPr id="13" name="Chart 0" descr=""/>
          <p:cNvGraphicFramePr/>
          <p:nvPr/>
        </p:nvGraphicFramePr>
        <p:xfrm>
          <a:off x="5212080" y="1783080"/>
          <a:ext cx="6217920" cy="4297680"/>
        </p:xfrm>
        <a:graphic xmlns:a="http://schemas.openxmlformats.org/drawingml/2006/main">
          <a:graphicData uri="http://schemas.openxmlformats.org/drawingml/2006/chart">
            <c:chart xmlns:c="http://schemas.openxmlformats.org/drawingml/2006/chart" r:id="rId3"/>
          </a:graphicData>
        </a:graphic>
      </p:graphicFrame>
      <p:sp>
        <p:nvSpPr>
          <p:cNvPr id="14" name="Text 9"/>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15" name="Text 10"/>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WHAT THE DATA TOLD US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Key Findings</a:t>
            </a:r>
            <a:endParaRPr lang="en-US" sz="3000" dirty="0"/>
          </a:p>
        </p:txBody>
      </p:sp>
      <p:sp>
        <p:nvSpPr>
          <p:cNvPr id="4" name="Shape 2"/>
          <p:cNvSpPr/>
          <p:nvPr/>
        </p:nvSpPr>
        <p:spPr>
          <a:xfrm>
            <a:off x="586588" y="1600200"/>
            <a:ext cx="35204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5" name="Shape 3"/>
          <p:cNvSpPr/>
          <p:nvPr/>
        </p:nvSpPr>
        <p:spPr>
          <a:xfrm>
            <a:off x="787756" y="1801368"/>
            <a:ext cx="548640" cy="548640"/>
          </a:xfrm>
          <a:prstGeom prst="ellipse">
            <a:avLst/>
          </a:prstGeom>
          <a:solidFill>
            <a:srgbClr val="0B3D91"/>
          </a:solidFill>
          <a:ln/>
        </p:spPr>
      </p:sp>
      <p:pic>
        <p:nvPicPr>
          <p:cNvPr id="6" name="Image 0" descr="icons/trend_up_w.png">    </p:cNvPr>
          <p:cNvPicPr>
            <a:picLocks noChangeAspect="1"/>
          </p:cNvPicPr>
          <p:nvPr/>
        </p:nvPicPr>
        <p:blipFill>
          <a:blip r:embed="rId1"/>
          <a:stretch>
            <a:fillRect/>
          </a:stretch>
        </p:blipFill>
        <p:spPr>
          <a:xfrm>
            <a:off x="919429" y="1933042"/>
            <a:ext cx="285293" cy="285293"/>
          </a:xfrm>
          <a:prstGeom prst="rect">
            <a:avLst/>
          </a:prstGeom>
        </p:spPr>
      </p:pic>
      <p:sp>
        <p:nvSpPr>
          <p:cNvPr id="7" name="Text 4"/>
          <p:cNvSpPr/>
          <p:nvPr/>
        </p:nvSpPr>
        <p:spPr>
          <a:xfrm>
            <a:off x="1455268" y="1783080"/>
            <a:ext cx="2514600" cy="457200"/>
          </a:xfrm>
          <a:prstGeom prst="rect">
            <a:avLst/>
          </a:prstGeom>
          <a:noFill/>
          <a:ln/>
        </p:spPr>
        <p:txBody>
          <a:bodyPr wrap="square" lIns="0" tIns="0" rIns="0" bIns="0" rtlCol="0" anchor="ctr"/>
          <a:lstStyle/>
          <a:p>
            <a:pPr indent="0" marL="0">
              <a:buNone/>
            </a:pPr>
            <a:r>
              <a:rPr lang="en-US" sz="1700" b="1" dirty="0">
                <a:solidFill>
                  <a:srgbClr val="0B3D91"/>
                </a:solidFill>
                <a:latin typeface="Cambria" pitchFamily="34" charset="0"/>
                <a:ea typeface="Cambria" pitchFamily="34" charset="-122"/>
                <a:cs typeface="Cambria" pitchFamily="34" charset="-120"/>
              </a:rPr>
              <a:t>₹1,375B+</a:t>
            </a:r>
            <a:endParaRPr lang="en-US" sz="1700" dirty="0"/>
          </a:p>
        </p:txBody>
      </p:sp>
      <p:sp>
        <p:nvSpPr>
          <p:cNvPr id="8" name="Text 5"/>
          <p:cNvSpPr/>
          <p:nvPr/>
        </p:nvSpPr>
        <p:spPr>
          <a:xfrm>
            <a:off x="787756" y="2468880"/>
            <a:ext cx="3118104" cy="114300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Average transaction value observed, with total volume growing from 2018 to a 2021 peak of ₹123.5T</a:t>
            </a:r>
            <a:endParaRPr lang="en-US" sz="1100" dirty="0"/>
          </a:p>
        </p:txBody>
      </p:sp>
      <p:sp>
        <p:nvSpPr>
          <p:cNvPr id="9" name="Shape 6"/>
          <p:cNvSpPr/>
          <p:nvPr/>
        </p:nvSpPr>
        <p:spPr>
          <a:xfrm>
            <a:off x="4335628" y="1600200"/>
            <a:ext cx="35204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10" name="Shape 7"/>
          <p:cNvSpPr/>
          <p:nvPr/>
        </p:nvSpPr>
        <p:spPr>
          <a:xfrm>
            <a:off x="4536796" y="1801368"/>
            <a:ext cx="548640" cy="548640"/>
          </a:xfrm>
          <a:prstGeom prst="ellipse">
            <a:avLst/>
          </a:prstGeom>
          <a:solidFill>
            <a:srgbClr val="0B3D91"/>
          </a:solidFill>
          <a:ln/>
        </p:spPr>
      </p:sp>
      <p:pic>
        <p:nvPicPr>
          <p:cNvPr id="11" name="Image 1" descr="icons/building_w.png">    </p:cNvPr>
          <p:cNvPicPr>
            <a:picLocks noChangeAspect="1"/>
          </p:cNvPicPr>
          <p:nvPr/>
        </p:nvPicPr>
        <p:blipFill>
          <a:blip r:embed="rId2"/>
          <a:stretch>
            <a:fillRect/>
          </a:stretch>
        </p:blipFill>
        <p:spPr>
          <a:xfrm>
            <a:off x="4668469" y="1933042"/>
            <a:ext cx="285293" cy="285293"/>
          </a:xfrm>
          <a:prstGeom prst="rect">
            <a:avLst/>
          </a:prstGeom>
        </p:spPr>
      </p:pic>
      <p:sp>
        <p:nvSpPr>
          <p:cNvPr id="12" name="Text 8"/>
          <p:cNvSpPr/>
          <p:nvPr/>
        </p:nvSpPr>
        <p:spPr>
          <a:xfrm>
            <a:off x="5204308" y="1783080"/>
            <a:ext cx="2514600" cy="457200"/>
          </a:xfrm>
          <a:prstGeom prst="rect">
            <a:avLst/>
          </a:prstGeom>
          <a:noFill/>
          <a:ln/>
        </p:spPr>
        <p:txBody>
          <a:bodyPr wrap="square" lIns="0" tIns="0" rIns="0" bIns="0" rtlCol="0" anchor="ctr"/>
          <a:lstStyle/>
          <a:p>
            <a:pPr indent="0" marL="0">
              <a:buNone/>
            </a:pPr>
            <a:r>
              <a:rPr lang="en-US" sz="1700" b="1" dirty="0">
                <a:solidFill>
                  <a:srgbClr val="0B3D91"/>
                </a:solidFill>
                <a:latin typeface="Cambria" pitchFamily="34" charset="0"/>
                <a:ea typeface="Cambria" pitchFamily="34" charset="-122"/>
                <a:cs typeface="Cambria" pitchFamily="34" charset="-120"/>
              </a:rPr>
              <a:t>Uttar Pradesh</a:t>
            </a:r>
            <a:endParaRPr lang="en-US" sz="1700" dirty="0"/>
          </a:p>
        </p:txBody>
      </p:sp>
      <p:sp>
        <p:nvSpPr>
          <p:cNvPr id="13" name="Text 9"/>
          <p:cNvSpPr/>
          <p:nvPr/>
        </p:nvSpPr>
        <p:spPr>
          <a:xfrm>
            <a:off x="4536796" y="2468880"/>
            <a:ext cx="3118104" cy="114300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Top state by transaction amount; Bengaluru Urban leads all districts in registered users</a:t>
            </a:r>
            <a:endParaRPr lang="en-US" sz="1100" dirty="0"/>
          </a:p>
        </p:txBody>
      </p:sp>
      <p:sp>
        <p:nvSpPr>
          <p:cNvPr id="14" name="Shape 10"/>
          <p:cNvSpPr/>
          <p:nvPr/>
        </p:nvSpPr>
        <p:spPr>
          <a:xfrm>
            <a:off x="8084668" y="1600200"/>
            <a:ext cx="35204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15" name="Shape 11"/>
          <p:cNvSpPr/>
          <p:nvPr/>
        </p:nvSpPr>
        <p:spPr>
          <a:xfrm>
            <a:off x="8285836" y="1801368"/>
            <a:ext cx="548640" cy="548640"/>
          </a:xfrm>
          <a:prstGeom prst="ellipse">
            <a:avLst/>
          </a:prstGeom>
          <a:solidFill>
            <a:srgbClr val="0B3D91"/>
          </a:solidFill>
          <a:ln/>
        </p:spPr>
      </p:sp>
      <p:pic>
        <p:nvPicPr>
          <p:cNvPr id="16" name="Image 2" descr="icons/mobile_w.png">    </p:cNvPr>
          <p:cNvPicPr>
            <a:picLocks noChangeAspect="1"/>
          </p:cNvPicPr>
          <p:nvPr/>
        </p:nvPicPr>
        <p:blipFill>
          <a:blip r:embed="rId3"/>
          <a:stretch>
            <a:fillRect/>
          </a:stretch>
        </p:blipFill>
        <p:spPr>
          <a:xfrm>
            <a:off x="8417509" y="1933042"/>
            <a:ext cx="285293" cy="285293"/>
          </a:xfrm>
          <a:prstGeom prst="rect">
            <a:avLst/>
          </a:prstGeom>
        </p:spPr>
      </p:pic>
      <p:sp>
        <p:nvSpPr>
          <p:cNvPr id="17" name="Text 12"/>
          <p:cNvSpPr/>
          <p:nvPr/>
        </p:nvSpPr>
        <p:spPr>
          <a:xfrm>
            <a:off x="8953348" y="1783080"/>
            <a:ext cx="2514600" cy="457200"/>
          </a:xfrm>
          <a:prstGeom prst="rect">
            <a:avLst/>
          </a:prstGeom>
          <a:noFill/>
          <a:ln/>
        </p:spPr>
        <p:txBody>
          <a:bodyPr wrap="square" lIns="0" tIns="0" rIns="0" bIns="0" rtlCol="0" anchor="ctr"/>
          <a:lstStyle/>
          <a:p>
            <a:pPr indent="0" marL="0">
              <a:buNone/>
            </a:pPr>
            <a:r>
              <a:rPr lang="en-US" sz="1700" b="1" dirty="0">
                <a:solidFill>
                  <a:srgbClr val="0B3D91"/>
                </a:solidFill>
                <a:latin typeface="Cambria" pitchFamily="34" charset="0"/>
                <a:ea typeface="Cambria" pitchFamily="34" charset="-122"/>
                <a:cs typeface="Cambria" pitchFamily="34" charset="-120"/>
              </a:rPr>
              <a:t>26.25%</a:t>
            </a:r>
            <a:endParaRPr lang="en-US" sz="1700" dirty="0"/>
          </a:p>
        </p:txBody>
      </p:sp>
      <p:sp>
        <p:nvSpPr>
          <p:cNvPr id="18" name="Text 13"/>
          <p:cNvSpPr/>
          <p:nvPr/>
        </p:nvSpPr>
        <p:spPr>
          <a:xfrm>
            <a:off x="8285836" y="2468880"/>
            <a:ext cx="3118104" cy="114300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Xiaomi's average market share — the most popular device brand among PhonePe users</a:t>
            </a:r>
            <a:endParaRPr lang="en-US" sz="1100" dirty="0"/>
          </a:p>
        </p:txBody>
      </p:sp>
      <p:sp>
        <p:nvSpPr>
          <p:cNvPr id="19" name="Shape 14"/>
          <p:cNvSpPr/>
          <p:nvPr/>
        </p:nvSpPr>
        <p:spPr>
          <a:xfrm>
            <a:off x="586588" y="3977640"/>
            <a:ext cx="35204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20" name="Shape 15"/>
          <p:cNvSpPr/>
          <p:nvPr/>
        </p:nvSpPr>
        <p:spPr>
          <a:xfrm>
            <a:off x="787756" y="4178808"/>
            <a:ext cx="548640" cy="548640"/>
          </a:xfrm>
          <a:prstGeom prst="ellipse">
            <a:avLst/>
          </a:prstGeom>
          <a:solidFill>
            <a:srgbClr val="0B3D91"/>
          </a:solidFill>
          <a:ln/>
        </p:spPr>
      </p:sp>
      <p:pic>
        <p:nvPicPr>
          <p:cNvPr id="21" name="Image 3" descr="icons/users_w.png">    </p:cNvPr>
          <p:cNvPicPr>
            <a:picLocks noChangeAspect="1"/>
          </p:cNvPicPr>
          <p:nvPr/>
        </p:nvPicPr>
        <p:blipFill>
          <a:blip r:embed="rId4"/>
          <a:stretch>
            <a:fillRect/>
          </a:stretch>
        </p:blipFill>
        <p:spPr>
          <a:xfrm>
            <a:off x="919429" y="4310482"/>
            <a:ext cx="285293" cy="285293"/>
          </a:xfrm>
          <a:prstGeom prst="rect">
            <a:avLst/>
          </a:prstGeom>
        </p:spPr>
      </p:pic>
      <p:sp>
        <p:nvSpPr>
          <p:cNvPr id="22" name="Text 16"/>
          <p:cNvSpPr/>
          <p:nvPr/>
        </p:nvSpPr>
        <p:spPr>
          <a:xfrm>
            <a:off x="1455268" y="4160520"/>
            <a:ext cx="2514600" cy="457200"/>
          </a:xfrm>
          <a:prstGeom prst="rect">
            <a:avLst/>
          </a:prstGeom>
          <a:noFill/>
          <a:ln/>
        </p:spPr>
        <p:txBody>
          <a:bodyPr wrap="square" lIns="0" tIns="0" rIns="0" bIns="0" rtlCol="0" anchor="ctr"/>
          <a:lstStyle/>
          <a:p>
            <a:pPr indent="0" marL="0">
              <a:buNone/>
            </a:pPr>
            <a:r>
              <a:rPr lang="en-US" sz="1700" b="1" dirty="0">
                <a:solidFill>
                  <a:srgbClr val="0B3D91"/>
                </a:solidFill>
                <a:latin typeface="Cambria" pitchFamily="34" charset="0"/>
                <a:ea typeface="Cambria" pitchFamily="34" charset="-122"/>
                <a:cs typeface="Cambria" pitchFamily="34" charset="-120"/>
              </a:rPr>
              <a:t>0.80</a:t>
            </a:r>
            <a:endParaRPr lang="en-US" sz="1700" dirty="0"/>
          </a:p>
        </p:txBody>
      </p:sp>
      <p:sp>
        <p:nvSpPr>
          <p:cNvPr id="23" name="Text 17"/>
          <p:cNvSpPr/>
          <p:nvPr/>
        </p:nvSpPr>
        <p:spPr>
          <a:xfrm>
            <a:off x="787756" y="4846320"/>
            <a:ext cx="3118104" cy="114300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Correlation between registered users and app opens — a strong, consistent relationship</a:t>
            </a:r>
            <a:endParaRPr lang="en-US" sz="1100" dirty="0"/>
          </a:p>
        </p:txBody>
      </p:sp>
      <p:sp>
        <p:nvSpPr>
          <p:cNvPr id="24" name="Shape 18"/>
          <p:cNvSpPr/>
          <p:nvPr/>
        </p:nvSpPr>
        <p:spPr>
          <a:xfrm>
            <a:off x="4335628" y="3977640"/>
            <a:ext cx="35204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25" name="Shape 19"/>
          <p:cNvSpPr/>
          <p:nvPr/>
        </p:nvSpPr>
        <p:spPr>
          <a:xfrm>
            <a:off x="4536796" y="4178808"/>
            <a:ext cx="548640" cy="548640"/>
          </a:xfrm>
          <a:prstGeom prst="ellipse">
            <a:avLst/>
          </a:prstGeom>
          <a:solidFill>
            <a:srgbClr val="0B3D91"/>
          </a:solidFill>
          <a:ln/>
        </p:spPr>
      </p:sp>
      <p:pic>
        <p:nvPicPr>
          <p:cNvPr id="26" name="Image 4" descr="icons/map_w.png">    </p:cNvPr>
          <p:cNvPicPr>
            <a:picLocks noChangeAspect="1"/>
          </p:cNvPicPr>
          <p:nvPr/>
        </p:nvPicPr>
        <p:blipFill>
          <a:blip r:embed="rId5"/>
          <a:stretch>
            <a:fillRect/>
          </a:stretch>
        </p:blipFill>
        <p:spPr>
          <a:xfrm>
            <a:off x="4668469" y="4310482"/>
            <a:ext cx="285293" cy="285293"/>
          </a:xfrm>
          <a:prstGeom prst="rect">
            <a:avLst/>
          </a:prstGeom>
        </p:spPr>
      </p:pic>
      <p:sp>
        <p:nvSpPr>
          <p:cNvPr id="27" name="Text 20"/>
          <p:cNvSpPr/>
          <p:nvPr/>
        </p:nvSpPr>
        <p:spPr>
          <a:xfrm>
            <a:off x="5204308" y="4160520"/>
            <a:ext cx="2514600" cy="457200"/>
          </a:xfrm>
          <a:prstGeom prst="rect">
            <a:avLst/>
          </a:prstGeom>
          <a:noFill/>
          <a:ln/>
        </p:spPr>
        <p:txBody>
          <a:bodyPr wrap="square" lIns="0" tIns="0" rIns="0" bIns="0" rtlCol="0" anchor="ctr"/>
          <a:lstStyle/>
          <a:p>
            <a:pPr indent="0" marL="0">
              <a:buNone/>
            </a:pPr>
            <a:r>
              <a:rPr lang="en-US" sz="1700" b="1" dirty="0">
                <a:solidFill>
                  <a:srgbClr val="0B3D91"/>
                </a:solidFill>
                <a:latin typeface="Cambria" pitchFamily="34" charset="0"/>
                <a:ea typeface="Cambria" pitchFamily="34" charset="-122"/>
                <a:cs typeface="Cambria" pitchFamily="34" charset="-120"/>
              </a:rPr>
              <a:t>Southern Region</a:t>
            </a:r>
            <a:endParaRPr lang="en-US" sz="1700" dirty="0"/>
          </a:p>
        </p:txBody>
      </p:sp>
      <p:sp>
        <p:nvSpPr>
          <p:cNvPr id="28" name="Text 21"/>
          <p:cNvSpPr/>
          <p:nvPr/>
        </p:nvSpPr>
        <p:spPr>
          <a:xfrm>
            <a:off x="4536796" y="4846320"/>
            <a:ext cx="3118104" cy="114300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Leads in both app opens (18.45T) and registered users (555.8B) — India's top-performing region</a:t>
            </a:r>
            <a:endParaRPr lang="en-US" sz="1100" dirty="0"/>
          </a:p>
        </p:txBody>
      </p:sp>
      <p:sp>
        <p:nvSpPr>
          <p:cNvPr id="29" name="Shape 22"/>
          <p:cNvSpPr/>
          <p:nvPr/>
        </p:nvSpPr>
        <p:spPr>
          <a:xfrm>
            <a:off x="8084668" y="3977640"/>
            <a:ext cx="35204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30" name="Shape 23"/>
          <p:cNvSpPr/>
          <p:nvPr/>
        </p:nvSpPr>
        <p:spPr>
          <a:xfrm>
            <a:off x="8285836" y="4178808"/>
            <a:ext cx="548640" cy="548640"/>
          </a:xfrm>
          <a:prstGeom prst="ellipse">
            <a:avLst/>
          </a:prstGeom>
          <a:solidFill>
            <a:srgbClr val="0B3D91"/>
          </a:solidFill>
          <a:ln/>
        </p:spPr>
      </p:sp>
      <p:pic>
        <p:nvPicPr>
          <p:cNvPr id="31" name="Image 5" descr="icons/chart_w.png">    </p:cNvPr>
          <p:cNvPicPr>
            <a:picLocks noChangeAspect="1"/>
          </p:cNvPicPr>
          <p:nvPr/>
        </p:nvPicPr>
        <p:blipFill>
          <a:blip r:embed="rId6"/>
          <a:stretch>
            <a:fillRect/>
          </a:stretch>
        </p:blipFill>
        <p:spPr>
          <a:xfrm>
            <a:off x="8417509" y="4310482"/>
            <a:ext cx="285293" cy="285293"/>
          </a:xfrm>
          <a:prstGeom prst="rect">
            <a:avLst/>
          </a:prstGeom>
        </p:spPr>
      </p:pic>
      <p:sp>
        <p:nvSpPr>
          <p:cNvPr id="32" name="Text 24"/>
          <p:cNvSpPr/>
          <p:nvPr/>
        </p:nvSpPr>
        <p:spPr>
          <a:xfrm>
            <a:off x="8953348" y="4160520"/>
            <a:ext cx="2514600" cy="457200"/>
          </a:xfrm>
          <a:prstGeom prst="rect">
            <a:avLst/>
          </a:prstGeom>
          <a:noFill/>
          <a:ln/>
        </p:spPr>
        <p:txBody>
          <a:bodyPr wrap="square" lIns="0" tIns="0" rIns="0" bIns="0" rtlCol="0" anchor="ctr"/>
          <a:lstStyle/>
          <a:p>
            <a:pPr indent="0" marL="0">
              <a:buNone/>
            </a:pPr>
            <a:r>
              <a:rPr lang="en-US" sz="1700" b="1" dirty="0">
                <a:solidFill>
                  <a:srgbClr val="0B3D91"/>
                </a:solidFill>
                <a:latin typeface="Cambria" pitchFamily="34" charset="0"/>
                <a:ea typeface="Cambria" pitchFamily="34" charset="-122"/>
                <a:cs typeface="Cambria" pitchFamily="34" charset="-120"/>
              </a:rPr>
              <a:t>Q4 Every Year</a:t>
            </a:r>
            <a:endParaRPr lang="en-US" sz="1700" dirty="0"/>
          </a:p>
        </p:txBody>
      </p:sp>
      <p:sp>
        <p:nvSpPr>
          <p:cNvPr id="33" name="Text 25"/>
          <p:cNvSpPr/>
          <p:nvPr/>
        </p:nvSpPr>
        <p:spPr>
          <a:xfrm>
            <a:off x="8285836" y="4846320"/>
            <a:ext cx="3118104" cy="1143000"/>
          </a:xfrm>
          <a:prstGeom prst="rect">
            <a:avLst/>
          </a:prstGeom>
          <a:noFill/>
          <a:ln/>
        </p:spPr>
        <p:txBody>
          <a:bodyPr wrap="square" lIns="0" tIns="0" rIns="0" bIns="0" rtlCol="0" anchor="t"/>
          <a:lstStyle/>
          <a:p>
            <a:pPr indent="0" marL="0">
              <a:buNone/>
            </a:pPr>
            <a:r>
              <a:rPr lang="en-US" sz="1100" dirty="0">
                <a:solidFill>
                  <a:srgbClr val="42506B"/>
                </a:solidFill>
                <a:latin typeface="Calibri" pitchFamily="34" charset="0"/>
                <a:ea typeface="Calibri" pitchFamily="34" charset="-122"/>
                <a:cs typeface="Calibri" pitchFamily="34" charset="-120"/>
              </a:rPr>
              <a:t>Consistently the strongest quarter for transactions, suggesting a seasonal, festive-driven pattern</a:t>
            </a:r>
            <a:endParaRPr lang="en-US" sz="1100" dirty="0"/>
          </a:p>
        </p:txBody>
      </p:sp>
      <p:sp>
        <p:nvSpPr>
          <p:cNvPr id="34" name="Text 26"/>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35" name="Text 27"/>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TURNING INSIGHT INTO ACTION</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Business Recommendations</a:t>
            </a:r>
            <a:endParaRPr lang="en-US" sz="3000" dirty="0"/>
          </a:p>
        </p:txBody>
      </p:sp>
      <p:sp>
        <p:nvSpPr>
          <p:cNvPr id="4" name="Shape 2"/>
          <p:cNvSpPr/>
          <p:nvPr/>
        </p:nvSpPr>
        <p:spPr>
          <a:xfrm>
            <a:off x="609448" y="1554480"/>
            <a:ext cx="5349240" cy="1417320"/>
          </a:xfrm>
          <a:prstGeom prst="roundRect">
            <a:avLst>
              <a:gd name="adj" fmla="val 5161"/>
            </a:avLst>
          </a:prstGeom>
          <a:solidFill>
            <a:srgbClr val="F4F8FE"/>
          </a:solidFill>
          <a:ln/>
          <a:effectLst>
            <a:outerShdw sx="100000" sy="100000" kx="0" ky="0" algn="bl" rotWithShape="0" blurRad="88900" dist="25400" dir="5400000">
              <a:srgbClr val="1B2A4A">
                <a:alpha val="10000"/>
              </a:srgbClr>
            </a:outerShdw>
          </a:effectLst>
        </p:spPr>
      </p:sp>
      <p:sp>
        <p:nvSpPr>
          <p:cNvPr id="5" name="Shape 3"/>
          <p:cNvSpPr/>
          <p:nvPr/>
        </p:nvSpPr>
        <p:spPr>
          <a:xfrm>
            <a:off x="774040" y="1952244"/>
            <a:ext cx="621792" cy="621792"/>
          </a:xfrm>
          <a:prstGeom prst="ellipse">
            <a:avLst/>
          </a:prstGeom>
          <a:solidFill>
            <a:srgbClr val="1859C4"/>
          </a:solidFill>
          <a:ln/>
        </p:spPr>
      </p:sp>
      <p:pic>
        <p:nvPicPr>
          <p:cNvPr id="6" name="Image 0" descr="icons/target_w.png">    </p:cNvPr>
          <p:cNvPicPr>
            <a:picLocks noChangeAspect="1"/>
          </p:cNvPicPr>
          <p:nvPr/>
        </p:nvPicPr>
        <p:blipFill>
          <a:blip r:embed="rId1"/>
          <a:stretch>
            <a:fillRect/>
          </a:stretch>
        </p:blipFill>
        <p:spPr>
          <a:xfrm>
            <a:off x="923270" y="2101474"/>
            <a:ext cx="323332" cy="323332"/>
          </a:xfrm>
          <a:prstGeom prst="rect">
            <a:avLst/>
          </a:prstGeom>
        </p:spPr>
      </p:pic>
      <p:sp>
        <p:nvSpPr>
          <p:cNvPr id="7" name="Text 4"/>
          <p:cNvSpPr/>
          <p:nvPr/>
        </p:nvSpPr>
        <p:spPr>
          <a:xfrm>
            <a:off x="1523848" y="1691640"/>
            <a:ext cx="4251960" cy="320040"/>
          </a:xfrm>
          <a:prstGeom prst="rect">
            <a:avLst/>
          </a:prstGeom>
          <a:noFill/>
          <a:ln/>
        </p:spPr>
        <p:txBody>
          <a:bodyPr wrap="square" lIns="0" tIns="0" rIns="0" bIns="0" rtlCol="0" anchor="ctr"/>
          <a:lstStyle/>
          <a:p>
            <a:pPr indent="0" marL="0">
              <a:buNone/>
            </a:pPr>
            <a:r>
              <a:rPr lang="en-US" sz="1350" b="1" dirty="0">
                <a:solidFill>
                  <a:srgbClr val="0B3D91"/>
                </a:solidFill>
                <a:latin typeface="Cambria" pitchFamily="34" charset="0"/>
                <a:ea typeface="Cambria" pitchFamily="34" charset="-122"/>
                <a:cs typeface="Cambria" pitchFamily="34" charset="-120"/>
              </a:rPr>
              <a:t>Prioritize Top States</a:t>
            </a:r>
            <a:endParaRPr lang="en-US" sz="1350" dirty="0"/>
          </a:p>
        </p:txBody>
      </p:sp>
      <p:sp>
        <p:nvSpPr>
          <p:cNvPr id="8" name="Text 5"/>
          <p:cNvSpPr/>
          <p:nvPr/>
        </p:nvSpPr>
        <p:spPr>
          <a:xfrm>
            <a:off x="1523848" y="2011680"/>
            <a:ext cx="4251960" cy="868680"/>
          </a:xfrm>
          <a:prstGeom prst="rect">
            <a:avLst/>
          </a:prstGeom>
          <a:noFill/>
          <a:ln/>
        </p:spPr>
        <p:txBody>
          <a:bodyPr wrap="square" lIns="0" tIns="0" rIns="0" bIns="0" rtlCol="0" anchor="t"/>
          <a:lstStyle/>
          <a:p>
            <a:pPr indent="0" marL="0">
              <a:buNone/>
            </a:pPr>
            <a:r>
              <a:rPr lang="en-US" sz="1050" dirty="0">
                <a:solidFill>
                  <a:srgbClr val="42506B"/>
                </a:solidFill>
                <a:latin typeface="Calibri" pitchFamily="34" charset="0"/>
                <a:ea typeface="Calibri" pitchFamily="34" charset="-122"/>
                <a:cs typeface="Calibri" pitchFamily="34" charset="-120"/>
              </a:rPr>
              <a:t>Focus merchant onboarding and marketing spend on Uttar Pradesh, Maharashtra, Telangana, and Karnataka, which drive the largest transaction share.</a:t>
            </a:r>
            <a:endParaRPr lang="en-US" sz="1050" dirty="0"/>
          </a:p>
        </p:txBody>
      </p:sp>
      <p:sp>
        <p:nvSpPr>
          <p:cNvPr id="9" name="Shape 6"/>
          <p:cNvSpPr/>
          <p:nvPr/>
        </p:nvSpPr>
        <p:spPr>
          <a:xfrm>
            <a:off x="6233008" y="1554480"/>
            <a:ext cx="5349240" cy="1417320"/>
          </a:xfrm>
          <a:prstGeom prst="roundRect">
            <a:avLst>
              <a:gd name="adj" fmla="val 5161"/>
            </a:avLst>
          </a:prstGeom>
          <a:solidFill>
            <a:srgbClr val="F4F8FE"/>
          </a:solidFill>
          <a:ln/>
          <a:effectLst>
            <a:outerShdw sx="100000" sy="100000" kx="0" ky="0" algn="bl" rotWithShape="0" blurRad="88900" dist="25400" dir="5400000">
              <a:srgbClr val="1B2A4A">
                <a:alpha val="10000"/>
              </a:srgbClr>
            </a:outerShdw>
          </a:effectLst>
        </p:spPr>
      </p:sp>
      <p:sp>
        <p:nvSpPr>
          <p:cNvPr id="10" name="Shape 7"/>
          <p:cNvSpPr/>
          <p:nvPr/>
        </p:nvSpPr>
        <p:spPr>
          <a:xfrm>
            <a:off x="6397600" y="1952244"/>
            <a:ext cx="621792" cy="621792"/>
          </a:xfrm>
          <a:prstGeom prst="ellipse">
            <a:avLst/>
          </a:prstGeom>
          <a:solidFill>
            <a:srgbClr val="1859C4"/>
          </a:solidFill>
          <a:ln/>
        </p:spPr>
      </p:sp>
      <p:pic>
        <p:nvPicPr>
          <p:cNvPr id="11" name="Image 1" descr="icons/rocket_w.png">    </p:cNvPr>
          <p:cNvPicPr>
            <a:picLocks noChangeAspect="1"/>
          </p:cNvPicPr>
          <p:nvPr/>
        </p:nvPicPr>
        <p:blipFill>
          <a:blip r:embed="rId2"/>
          <a:stretch>
            <a:fillRect/>
          </a:stretch>
        </p:blipFill>
        <p:spPr>
          <a:xfrm>
            <a:off x="6546830" y="2101474"/>
            <a:ext cx="323332" cy="323332"/>
          </a:xfrm>
          <a:prstGeom prst="rect">
            <a:avLst/>
          </a:prstGeom>
        </p:spPr>
      </p:pic>
      <p:sp>
        <p:nvSpPr>
          <p:cNvPr id="12" name="Text 8"/>
          <p:cNvSpPr/>
          <p:nvPr/>
        </p:nvSpPr>
        <p:spPr>
          <a:xfrm>
            <a:off x="7147408" y="1691640"/>
            <a:ext cx="4251960" cy="320040"/>
          </a:xfrm>
          <a:prstGeom prst="rect">
            <a:avLst/>
          </a:prstGeom>
          <a:noFill/>
          <a:ln/>
        </p:spPr>
        <p:txBody>
          <a:bodyPr wrap="square" lIns="0" tIns="0" rIns="0" bIns="0" rtlCol="0" anchor="ctr"/>
          <a:lstStyle/>
          <a:p>
            <a:pPr indent="0" marL="0">
              <a:buNone/>
            </a:pPr>
            <a:r>
              <a:rPr lang="en-US" sz="1350" b="1" dirty="0">
                <a:solidFill>
                  <a:srgbClr val="0B3D91"/>
                </a:solidFill>
                <a:latin typeface="Cambria" pitchFamily="34" charset="0"/>
                <a:ea typeface="Cambria" pitchFamily="34" charset="-122"/>
                <a:cs typeface="Cambria" pitchFamily="34" charset="-120"/>
              </a:rPr>
              <a:t>Invest In Emerging States</a:t>
            </a:r>
            <a:endParaRPr lang="en-US" sz="1350" dirty="0"/>
          </a:p>
        </p:txBody>
      </p:sp>
      <p:sp>
        <p:nvSpPr>
          <p:cNvPr id="13" name="Text 9"/>
          <p:cNvSpPr/>
          <p:nvPr/>
        </p:nvSpPr>
        <p:spPr>
          <a:xfrm>
            <a:off x="7147408" y="2011680"/>
            <a:ext cx="4251960" cy="868680"/>
          </a:xfrm>
          <a:prstGeom prst="rect">
            <a:avLst/>
          </a:prstGeom>
          <a:noFill/>
          <a:ln/>
        </p:spPr>
        <p:txBody>
          <a:bodyPr wrap="square" lIns="0" tIns="0" rIns="0" bIns="0" rtlCol="0" anchor="t"/>
          <a:lstStyle/>
          <a:p>
            <a:pPr indent="0" marL="0">
              <a:buNone/>
            </a:pPr>
            <a:r>
              <a:rPr lang="en-US" sz="1050" dirty="0">
                <a:solidFill>
                  <a:srgbClr val="42506B"/>
                </a:solidFill>
                <a:latin typeface="Calibri" pitchFamily="34" charset="0"/>
                <a:ea typeface="Calibri" pitchFamily="34" charset="-122"/>
                <a:cs typeface="Calibri" pitchFamily="34" charset="-120"/>
              </a:rPr>
              <a:t>States like Nagaland, Arunachal Pradesh, and Meghalaya show the fastest user growth — early investment here can compound over time.</a:t>
            </a:r>
            <a:endParaRPr lang="en-US" sz="1050" dirty="0"/>
          </a:p>
        </p:txBody>
      </p:sp>
      <p:sp>
        <p:nvSpPr>
          <p:cNvPr id="14" name="Shape 10"/>
          <p:cNvSpPr/>
          <p:nvPr/>
        </p:nvSpPr>
        <p:spPr>
          <a:xfrm>
            <a:off x="609448" y="3154680"/>
            <a:ext cx="5349240" cy="1417320"/>
          </a:xfrm>
          <a:prstGeom prst="roundRect">
            <a:avLst>
              <a:gd name="adj" fmla="val 5161"/>
            </a:avLst>
          </a:prstGeom>
          <a:solidFill>
            <a:srgbClr val="F4F8FE"/>
          </a:solidFill>
          <a:ln/>
          <a:effectLst>
            <a:outerShdw sx="100000" sy="100000" kx="0" ky="0" algn="bl" rotWithShape="0" blurRad="88900" dist="25400" dir="5400000">
              <a:srgbClr val="1B2A4A">
                <a:alpha val="10000"/>
              </a:srgbClr>
            </a:outerShdw>
          </a:effectLst>
        </p:spPr>
      </p:sp>
      <p:sp>
        <p:nvSpPr>
          <p:cNvPr id="15" name="Shape 11"/>
          <p:cNvSpPr/>
          <p:nvPr/>
        </p:nvSpPr>
        <p:spPr>
          <a:xfrm>
            <a:off x="774040" y="3552444"/>
            <a:ext cx="621792" cy="621792"/>
          </a:xfrm>
          <a:prstGeom prst="ellipse">
            <a:avLst/>
          </a:prstGeom>
          <a:solidFill>
            <a:srgbClr val="1859C4"/>
          </a:solidFill>
          <a:ln/>
        </p:spPr>
      </p:sp>
      <p:pic>
        <p:nvPicPr>
          <p:cNvPr id="16" name="Image 2" descr="icons/mobile_w.png">    </p:cNvPr>
          <p:cNvPicPr>
            <a:picLocks noChangeAspect="1"/>
          </p:cNvPicPr>
          <p:nvPr/>
        </p:nvPicPr>
        <p:blipFill>
          <a:blip r:embed="rId3"/>
          <a:stretch>
            <a:fillRect/>
          </a:stretch>
        </p:blipFill>
        <p:spPr>
          <a:xfrm>
            <a:off x="923270" y="3701674"/>
            <a:ext cx="323332" cy="323332"/>
          </a:xfrm>
          <a:prstGeom prst="rect">
            <a:avLst/>
          </a:prstGeom>
        </p:spPr>
      </p:pic>
      <p:sp>
        <p:nvSpPr>
          <p:cNvPr id="17" name="Text 12"/>
          <p:cNvSpPr/>
          <p:nvPr/>
        </p:nvSpPr>
        <p:spPr>
          <a:xfrm>
            <a:off x="1523848" y="3291840"/>
            <a:ext cx="4251960" cy="320040"/>
          </a:xfrm>
          <a:prstGeom prst="rect">
            <a:avLst/>
          </a:prstGeom>
          <a:noFill/>
          <a:ln/>
        </p:spPr>
        <p:txBody>
          <a:bodyPr wrap="square" lIns="0" tIns="0" rIns="0" bIns="0" rtlCol="0" anchor="ctr"/>
          <a:lstStyle/>
          <a:p>
            <a:pPr indent="0" marL="0">
              <a:buNone/>
            </a:pPr>
            <a:r>
              <a:rPr lang="en-US" sz="1350" b="1" dirty="0">
                <a:solidFill>
                  <a:srgbClr val="0B3D91"/>
                </a:solidFill>
                <a:latin typeface="Cambria" pitchFamily="34" charset="0"/>
                <a:ea typeface="Cambria" pitchFamily="34" charset="-122"/>
                <a:cs typeface="Cambria" pitchFamily="34" charset="-120"/>
              </a:rPr>
              <a:t>Optimize For Leading Devices</a:t>
            </a:r>
            <a:endParaRPr lang="en-US" sz="1350" dirty="0"/>
          </a:p>
        </p:txBody>
      </p:sp>
      <p:sp>
        <p:nvSpPr>
          <p:cNvPr id="18" name="Text 13"/>
          <p:cNvSpPr/>
          <p:nvPr/>
        </p:nvSpPr>
        <p:spPr>
          <a:xfrm>
            <a:off x="1523848" y="3611880"/>
            <a:ext cx="4251960" cy="868680"/>
          </a:xfrm>
          <a:prstGeom prst="rect">
            <a:avLst/>
          </a:prstGeom>
          <a:noFill/>
          <a:ln/>
        </p:spPr>
        <p:txBody>
          <a:bodyPr wrap="square" lIns="0" tIns="0" rIns="0" bIns="0" rtlCol="0" anchor="t"/>
          <a:lstStyle/>
          <a:p>
            <a:pPr indent="0" marL="0">
              <a:buNone/>
            </a:pPr>
            <a:r>
              <a:rPr lang="en-US" sz="1050" dirty="0">
                <a:solidFill>
                  <a:srgbClr val="42506B"/>
                </a:solidFill>
                <a:latin typeface="Calibri" pitchFamily="34" charset="0"/>
                <a:ea typeface="Calibri" pitchFamily="34" charset="-122"/>
                <a:cs typeface="Calibri" pitchFamily="34" charset="-120"/>
              </a:rPr>
              <a:t>Since Xiaomi, Samsung, and Vivo account for the majority of usage, prioritize app performance and testing on these device ecosystems.</a:t>
            </a:r>
            <a:endParaRPr lang="en-US" sz="1050" dirty="0"/>
          </a:p>
        </p:txBody>
      </p:sp>
      <p:sp>
        <p:nvSpPr>
          <p:cNvPr id="19" name="Shape 14"/>
          <p:cNvSpPr/>
          <p:nvPr/>
        </p:nvSpPr>
        <p:spPr>
          <a:xfrm>
            <a:off x="6233008" y="3154680"/>
            <a:ext cx="5349240" cy="1417320"/>
          </a:xfrm>
          <a:prstGeom prst="roundRect">
            <a:avLst>
              <a:gd name="adj" fmla="val 5161"/>
            </a:avLst>
          </a:prstGeom>
          <a:solidFill>
            <a:srgbClr val="F4F8FE"/>
          </a:solidFill>
          <a:ln/>
          <a:effectLst>
            <a:outerShdw sx="100000" sy="100000" kx="0" ky="0" algn="bl" rotWithShape="0" blurRad="88900" dist="25400" dir="5400000">
              <a:srgbClr val="1B2A4A">
                <a:alpha val="10000"/>
              </a:srgbClr>
            </a:outerShdw>
          </a:effectLst>
        </p:spPr>
      </p:sp>
      <p:sp>
        <p:nvSpPr>
          <p:cNvPr id="20" name="Shape 15"/>
          <p:cNvSpPr/>
          <p:nvPr/>
        </p:nvSpPr>
        <p:spPr>
          <a:xfrm>
            <a:off x="6397600" y="3552444"/>
            <a:ext cx="621792" cy="621792"/>
          </a:xfrm>
          <a:prstGeom prst="ellipse">
            <a:avLst/>
          </a:prstGeom>
          <a:solidFill>
            <a:srgbClr val="1859C4"/>
          </a:solidFill>
          <a:ln/>
        </p:spPr>
      </p:sp>
      <p:pic>
        <p:nvPicPr>
          <p:cNvPr id="21" name="Image 3" descr="icons/calendar_w.png">    </p:cNvPr>
          <p:cNvPicPr>
            <a:picLocks noChangeAspect="1"/>
          </p:cNvPicPr>
          <p:nvPr/>
        </p:nvPicPr>
        <p:blipFill>
          <a:blip r:embed="rId4"/>
          <a:stretch>
            <a:fillRect/>
          </a:stretch>
        </p:blipFill>
        <p:spPr>
          <a:xfrm>
            <a:off x="6546830" y="3701674"/>
            <a:ext cx="323332" cy="323332"/>
          </a:xfrm>
          <a:prstGeom prst="rect">
            <a:avLst/>
          </a:prstGeom>
        </p:spPr>
      </p:pic>
      <p:sp>
        <p:nvSpPr>
          <p:cNvPr id="22" name="Text 16"/>
          <p:cNvSpPr/>
          <p:nvPr/>
        </p:nvSpPr>
        <p:spPr>
          <a:xfrm>
            <a:off x="7147408" y="3291840"/>
            <a:ext cx="4251960" cy="320040"/>
          </a:xfrm>
          <a:prstGeom prst="rect">
            <a:avLst/>
          </a:prstGeom>
          <a:noFill/>
          <a:ln/>
        </p:spPr>
        <p:txBody>
          <a:bodyPr wrap="square" lIns="0" tIns="0" rIns="0" bIns="0" rtlCol="0" anchor="ctr"/>
          <a:lstStyle/>
          <a:p>
            <a:pPr indent="0" marL="0">
              <a:buNone/>
            </a:pPr>
            <a:r>
              <a:rPr lang="en-US" sz="1350" b="1" dirty="0">
                <a:solidFill>
                  <a:srgbClr val="0B3D91"/>
                </a:solidFill>
                <a:latin typeface="Cambria" pitchFamily="34" charset="0"/>
                <a:ea typeface="Cambria" pitchFamily="34" charset="-122"/>
                <a:cs typeface="Cambria" pitchFamily="34" charset="-120"/>
              </a:rPr>
              <a:t>Plan Around Q4 Seasonality</a:t>
            </a:r>
            <a:endParaRPr lang="en-US" sz="1350" dirty="0"/>
          </a:p>
        </p:txBody>
      </p:sp>
      <p:sp>
        <p:nvSpPr>
          <p:cNvPr id="23" name="Text 17"/>
          <p:cNvSpPr/>
          <p:nvPr/>
        </p:nvSpPr>
        <p:spPr>
          <a:xfrm>
            <a:off x="7147408" y="3611880"/>
            <a:ext cx="4251960" cy="868680"/>
          </a:xfrm>
          <a:prstGeom prst="rect">
            <a:avLst/>
          </a:prstGeom>
          <a:noFill/>
          <a:ln/>
        </p:spPr>
        <p:txBody>
          <a:bodyPr wrap="square" lIns="0" tIns="0" rIns="0" bIns="0" rtlCol="0" anchor="t"/>
          <a:lstStyle/>
          <a:p>
            <a:pPr indent="0" marL="0">
              <a:buNone/>
            </a:pPr>
            <a:r>
              <a:rPr lang="en-US" sz="1050" dirty="0">
                <a:solidFill>
                  <a:srgbClr val="42506B"/>
                </a:solidFill>
                <a:latin typeface="Calibri" pitchFamily="34" charset="0"/>
                <a:ea typeface="Calibri" pitchFamily="34" charset="-122"/>
                <a:cs typeface="Calibri" pitchFamily="34" charset="-120"/>
              </a:rPr>
              <a:t>Since Q4 consistently outperforms other quarters, plan festive-season promotions and merchant offers to maximize this natural peak.</a:t>
            </a:r>
            <a:endParaRPr lang="en-US" sz="1050" dirty="0"/>
          </a:p>
        </p:txBody>
      </p:sp>
      <p:sp>
        <p:nvSpPr>
          <p:cNvPr id="24" name="Shape 18"/>
          <p:cNvSpPr/>
          <p:nvPr/>
        </p:nvSpPr>
        <p:spPr>
          <a:xfrm>
            <a:off x="609448" y="4754880"/>
            <a:ext cx="5349240" cy="1417320"/>
          </a:xfrm>
          <a:prstGeom prst="roundRect">
            <a:avLst>
              <a:gd name="adj" fmla="val 5161"/>
            </a:avLst>
          </a:prstGeom>
          <a:solidFill>
            <a:srgbClr val="F4F8FE"/>
          </a:solidFill>
          <a:ln/>
          <a:effectLst>
            <a:outerShdw sx="100000" sy="100000" kx="0" ky="0" algn="bl" rotWithShape="0" blurRad="88900" dist="25400" dir="5400000">
              <a:srgbClr val="1B2A4A">
                <a:alpha val="10000"/>
              </a:srgbClr>
            </a:outerShdw>
          </a:effectLst>
        </p:spPr>
      </p:sp>
      <p:sp>
        <p:nvSpPr>
          <p:cNvPr id="25" name="Shape 19"/>
          <p:cNvSpPr/>
          <p:nvPr/>
        </p:nvSpPr>
        <p:spPr>
          <a:xfrm>
            <a:off x="774040" y="5152644"/>
            <a:ext cx="621792" cy="621792"/>
          </a:xfrm>
          <a:prstGeom prst="ellipse">
            <a:avLst/>
          </a:prstGeom>
          <a:solidFill>
            <a:srgbClr val="1859C4"/>
          </a:solidFill>
          <a:ln/>
        </p:spPr>
      </p:sp>
      <p:pic>
        <p:nvPicPr>
          <p:cNvPr id="26" name="Image 4" descr="icons/map_w.png">    </p:cNvPr>
          <p:cNvPicPr>
            <a:picLocks noChangeAspect="1"/>
          </p:cNvPicPr>
          <p:nvPr/>
        </p:nvPicPr>
        <p:blipFill>
          <a:blip r:embed="rId5"/>
          <a:stretch>
            <a:fillRect/>
          </a:stretch>
        </p:blipFill>
        <p:spPr>
          <a:xfrm>
            <a:off x="923270" y="5301874"/>
            <a:ext cx="323332" cy="323332"/>
          </a:xfrm>
          <a:prstGeom prst="rect">
            <a:avLst/>
          </a:prstGeom>
        </p:spPr>
      </p:pic>
      <p:sp>
        <p:nvSpPr>
          <p:cNvPr id="27" name="Text 20"/>
          <p:cNvSpPr/>
          <p:nvPr/>
        </p:nvSpPr>
        <p:spPr>
          <a:xfrm>
            <a:off x="1523848" y="4892040"/>
            <a:ext cx="4251960" cy="320040"/>
          </a:xfrm>
          <a:prstGeom prst="rect">
            <a:avLst/>
          </a:prstGeom>
          <a:noFill/>
          <a:ln/>
        </p:spPr>
        <p:txBody>
          <a:bodyPr wrap="square" lIns="0" tIns="0" rIns="0" bIns="0" rtlCol="0" anchor="ctr"/>
          <a:lstStyle/>
          <a:p>
            <a:pPr indent="0" marL="0">
              <a:buNone/>
            </a:pPr>
            <a:r>
              <a:rPr lang="en-US" sz="1350" b="1" dirty="0">
                <a:solidFill>
                  <a:srgbClr val="0B3D91"/>
                </a:solidFill>
                <a:latin typeface="Cambria" pitchFamily="34" charset="0"/>
                <a:ea typeface="Cambria" pitchFamily="34" charset="-122"/>
                <a:cs typeface="Cambria" pitchFamily="34" charset="-120"/>
              </a:rPr>
              <a:t>Expand In The North-East</a:t>
            </a:r>
            <a:endParaRPr lang="en-US" sz="1350" dirty="0"/>
          </a:p>
        </p:txBody>
      </p:sp>
      <p:sp>
        <p:nvSpPr>
          <p:cNvPr id="28" name="Text 21"/>
          <p:cNvSpPr/>
          <p:nvPr/>
        </p:nvSpPr>
        <p:spPr>
          <a:xfrm>
            <a:off x="1523848" y="5212080"/>
            <a:ext cx="4251960" cy="868680"/>
          </a:xfrm>
          <a:prstGeom prst="rect">
            <a:avLst/>
          </a:prstGeom>
          <a:noFill/>
          <a:ln/>
        </p:spPr>
        <p:txBody>
          <a:bodyPr wrap="square" lIns="0" tIns="0" rIns="0" bIns="0" rtlCol="0" anchor="t"/>
          <a:lstStyle/>
          <a:p>
            <a:pPr indent="0" marL="0">
              <a:buNone/>
            </a:pPr>
            <a:r>
              <a:rPr lang="en-US" sz="1050" dirty="0">
                <a:solidFill>
                  <a:srgbClr val="42506B"/>
                </a:solidFill>
                <a:latin typeface="Calibri" pitchFamily="34" charset="0"/>
                <a:ea typeface="Calibri" pitchFamily="34" charset="-122"/>
                <a:cs typeface="Calibri" pitchFamily="34" charset="-120"/>
              </a:rPr>
              <a:t>The North-Eastern Region has the lowest engagement and user base — a clear whitespace opportunity for targeted expansion campaigns.</a:t>
            </a:r>
            <a:endParaRPr lang="en-US" sz="1050" dirty="0"/>
          </a:p>
        </p:txBody>
      </p:sp>
      <p:sp>
        <p:nvSpPr>
          <p:cNvPr id="29" name="Shape 22"/>
          <p:cNvSpPr/>
          <p:nvPr/>
        </p:nvSpPr>
        <p:spPr>
          <a:xfrm>
            <a:off x="6233008" y="4754880"/>
            <a:ext cx="5349240" cy="1417320"/>
          </a:xfrm>
          <a:prstGeom prst="roundRect">
            <a:avLst>
              <a:gd name="adj" fmla="val 5161"/>
            </a:avLst>
          </a:prstGeom>
          <a:solidFill>
            <a:srgbClr val="F4F8FE"/>
          </a:solidFill>
          <a:ln/>
          <a:effectLst>
            <a:outerShdw sx="100000" sy="100000" kx="0" ky="0" algn="bl" rotWithShape="0" blurRad="88900" dist="25400" dir="5400000">
              <a:srgbClr val="1B2A4A">
                <a:alpha val="10000"/>
              </a:srgbClr>
            </a:outerShdw>
          </a:effectLst>
        </p:spPr>
      </p:sp>
      <p:sp>
        <p:nvSpPr>
          <p:cNvPr id="30" name="Shape 23"/>
          <p:cNvSpPr/>
          <p:nvPr/>
        </p:nvSpPr>
        <p:spPr>
          <a:xfrm>
            <a:off x="6397600" y="5152644"/>
            <a:ext cx="621792" cy="621792"/>
          </a:xfrm>
          <a:prstGeom prst="ellipse">
            <a:avLst/>
          </a:prstGeom>
          <a:solidFill>
            <a:srgbClr val="1859C4"/>
          </a:solidFill>
          <a:ln/>
        </p:spPr>
      </p:sp>
      <p:pic>
        <p:nvPicPr>
          <p:cNvPr id="31" name="Image 5" descr="icons/users_w.png">    </p:cNvPr>
          <p:cNvPicPr>
            <a:picLocks noChangeAspect="1"/>
          </p:cNvPicPr>
          <p:nvPr/>
        </p:nvPicPr>
        <p:blipFill>
          <a:blip r:embed="rId6"/>
          <a:stretch>
            <a:fillRect/>
          </a:stretch>
        </p:blipFill>
        <p:spPr>
          <a:xfrm>
            <a:off x="6546830" y="5301874"/>
            <a:ext cx="323332" cy="323332"/>
          </a:xfrm>
          <a:prstGeom prst="rect">
            <a:avLst/>
          </a:prstGeom>
        </p:spPr>
      </p:pic>
      <p:sp>
        <p:nvSpPr>
          <p:cNvPr id="32" name="Text 24"/>
          <p:cNvSpPr/>
          <p:nvPr/>
        </p:nvSpPr>
        <p:spPr>
          <a:xfrm>
            <a:off x="7147408" y="4892040"/>
            <a:ext cx="4251960" cy="320040"/>
          </a:xfrm>
          <a:prstGeom prst="rect">
            <a:avLst/>
          </a:prstGeom>
          <a:noFill/>
          <a:ln/>
        </p:spPr>
        <p:txBody>
          <a:bodyPr wrap="square" lIns="0" tIns="0" rIns="0" bIns="0" rtlCol="0" anchor="ctr"/>
          <a:lstStyle/>
          <a:p>
            <a:pPr indent="0" marL="0">
              <a:buNone/>
            </a:pPr>
            <a:r>
              <a:rPr lang="en-US" sz="1350" b="1" dirty="0">
                <a:solidFill>
                  <a:srgbClr val="0B3D91"/>
                </a:solidFill>
                <a:latin typeface="Cambria" pitchFamily="34" charset="0"/>
                <a:ea typeface="Cambria" pitchFamily="34" charset="-122"/>
                <a:cs typeface="Cambria" pitchFamily="34" charset="-120"/>
              </a:rPr>
              <a:t>Leverage the Users–Engagement Link</a:t>
            </a:r>
            <a:endParaRPr lang="en-US" sz="1350" dirty="0"/>
          </a:p>
        </p:txBody>
      </p:sp>
      <p:sp>
        <p:nvSpPr>
          <p:cNvPr id="33" name="Text 25"/>
          <p:cNvSpPr/>
          <p:nvPr/>
        </p:nvSpPr>
        <p:spPr>
          <a:xfrm>
            <a:off x="7147408" y="5212080"/>
            <a:ext cx="4251960" cy="868680"/>
          </a:xfrm>
          <a:prstGeom prst="rect">
            <a:avLst/>
          </a:prstGeom>
          <a:noFill/>
          <a:ln/>
        </p:spPr>
        <p:txBody>
          <a:bodyPr wrap="square" lIns="0" tIns="0" rIns="0" bIns="0" rtlCol="0" anchor="t"/>
          <a:lstStyle/>
          <a:p>
            <a:pPr indent="0" marL="0">
              <a:buNone/>
            </a:pPr>
            <a:r>
              <a:rPr lang="en-US" sz="1050" dirty="0">
                <a:solidFill>
                  <a:srgbClr val="42506B"/>
                </a:solidFill>
                <a:latin typeface="Calibri" pitchFamily="34" charset="0"/>
                <a:ea typeface="Calibri" pitchFamily="34" charset="-122"/>
                <a:cs typeface="Calibri" pitchFamily="34" charset="-120"/>
              </a:rPr>
              <a:t>With a 0.80 correlation between registrations and app opens, user-acquisition campaigns will likely also lift overall engagement.</a:t>
            </a:r>
            <a:endParaRPr lang="en-US" sz="1050" dirty="0"/>
          </a:p>
        </p:txBody>
      </p:sp>
      <p:sp>
        <p:nvSpPr>
          <p:cNvPr id="34" name="Text 26"/>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35" name="Text 27"/>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3D91"/>
        </a:solidFill>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1859C4">
              <a:alpha val="25000"/>
            </a:srgbClr>
          </a:solidFill>
          <a:ln/>
        </p:spPr>
      </p:sp>
      <p:sp>
        <p:nvSpPr>
          <p:cNvPr id="3" name="Shape 1"/>
          <p:cNvSpPr/>
          <p:nvPr/>
        </p:nvSpPr>
        <p:spPr>
          <a:xfrm>
            <a:off x="9875520" y="4114800"/>
            <a:ext cx="4114800" cy="4114800"/>
          </a:xfrm>
          <a:prstGeom prst="ellipse">
            <a:avLst/>
          </a:prstGeom>
          <a:solidFill>
            <a:srgbClr val="00B4D8">
              <a:alpha val="18000"/>
            </a:srgbClr>
          </a:solidFill>
          <a:ln/>
        </p:spPr>
      </p:sp>
      <p:sp>
        <p:nvSpPr>
          <p:cNvPr id="4" name="Text 2"/>
          <p:cNvSpPr/>
          <p:nvPr/>
        </p:nvSpPr>
        <p:spPr>
          <a:xfrm>
            <a:off x="822960" y="822960"/>
            <a:ext cx="7315200" cy="365760"/>
          </a:xfrm>
          <a:prstGeom prst="rect">
            <a:avLst/>
          </a:prstGeom>
          <a:noFill/>
          <a:ln/>
        </p:spPr>
        <p:txBody>
          <a:bodyPr wrap="square" lIns="0" tIns="0" rIns="0" bIns="0" rtlCol="0" anchor="ctr"/>
          <a:lstStyle/>
          <a:p>
            <a:pPr indent="0" marL="0">
              <a:buNone/>
            </a:pPr>
            <a:r>
              <a:rPr lang="en-US" sz="1400" b="1" spc="300" kern="0" dirty="0">
                <a:solidFill>
                  <a:srgbClr val="00B4D8"/>
                </a:solidFill>
                <a:latin typeface="Calibri" pitchFamily="34" charset="0"/>
                <a:ea typeface="Calibri" pitchFamily="34" charset="-122"/>
                <a:cs typeface="Calibri" pitchFamily="34" charset="-120"/>
              </a:rPr>
              <a:t>CONCLUSION</a:t>
            </a:r>
            <a:endParaRPr lang="en-US" sz="1400" dirty="0"/>
          </a:p>
        </p:txBody>
      </p:sp>
      <p:sp>
        <p:nvSpPr>
          <p:cNvPr id="5" name="Text 3"/>
          <p:cNvSpPr/>
          <p:nvPr/>
        </p:nvSpPr>
        <p:spPr>
          <a:xfrm>
            <a:off x="777240" y="1188720"/>
            <a:ext cx="100584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From Raw Data To Strategic Insight</a:t>
            </a:r>
            <a:endParaRPr lang="en-US" sz="3200" dirty="0"/>
          </a:p>
        </p:txBody>
      </p:sp>
      <p:sp>
        <p:nvSpPr>
          <p:cNvPr id="6" name="Text 4"/>
          <p:cNvSpPr/>
          <p:nvPr/>
        </p:nvSpPr>
        <p:spPr>
          <a:xfrm>
            <a:off x="822960" y="2286000"/>
            <a:ext cx="9784080" cy="1828800"/>
          </a:xfrm>
          <a:prstGeom prst="rect">
            <a:avLst/>
          </a:prstGeom>
          <a:noFill/>
          <a:ln/>
        </p:spPr>
        <p:txBody>
          <a:bodyPr wrap="square" lIns="0" tIns="0" rIns="0" bIns="0" rtlCol="0" anchor="t"/>
          <a:lstStyle/>
          <a:p>
            <a:pPr indent="0" marL="0">
              <a:lnSpc>
                <a:spcPct val="130000"/>
              </a:lnSpc>
              <a:buNone/>
            </a:pPr>
            <a:r>
              <a:rPr lang="en-US" sz="1600" dirty="0">
                <a:solidFill>
                  <a:srgbClr val="D7E4F7"/>
                </a:solidFill>
                <a:latin typeface="Calibri" pitchFamily="34" charset="0"/>
                <a:ea typeface="Calibri" pitchFamily="34" charset="-122"/>
                <a:cs typeface="Calibri" pitchFamily="34" charset="-120"/>
              </a:rPr>
              <a:t>This project successfully analyzed the PhonePe Pulse dataset using Python, demonstrating significant growth in digital payments across India and identifying the states, districts, and pincodes contributing the highest transaction volumes. By applying data cleaning, preprocessing, exploratory data analysis, and visualization techniques, meaningful business insights were generated that can support strategic decision-making.</a:t>
            </a:r>
            <a:endParaRPr lang="en-US" sz="1600" dirty="0"/>
          </a:p>
        </p:txBody>
      </p:sp>
      <p:sp>
        <p:nvSpPr>
          <p:cNvPr id="7" name="Text 5"/>
          <p:cNvSpPr/>
          <p:nvPr/>
        </p:nvSpPr>
        <p:spPr>
          <a:xfrm>
            <a:off x="822960" y="4480560"/>
            <a:ext cx="9784080" cy="914400"/>
          </a:xfrm>
          <a:prstGeom prst="rect">
            <a:avLst/>
          </a:prstGeom>
          <a:noFill/>
          <a:ln/>
        </p:spPr>
        <p:txBody>
          <a:bodyPr wrap="square" lIns="0" tIns="0" rIns="0" bIns="0" rtlCol="0" anchor="t"/>
          <a:lstStyle/>
          <a:p>
            <a:pPr indent="0" marL="0">
              <a:buNone/>
            </a:pPr>
            <a:r>
              <a:rPr lang="en-US" sz="1600" i="1" dirty="0">
                <a:solidFill>
                  <a:srgbClr val="00B4D8"/>
                </a:solidFill>
                <a:latin typeface="Calibri" pitchFamily="34" charset="0"/>
                <a:ea typeface="Calibri" pitchFamily="34" charset="-122"/>
                <a:cs typeface="Calibri" pitchFamily="34" charset="-120"/>
              </a:rPr>
              <a:t>This project also demonstrates practical skills in Python, Pandas, NumPy, and data visualization — making it a strong addition to a data analytics portfolio.</a:t>
            </a:r>
            <a:endParaRPr lang="en-US" sz="1600" dirty="0"/>
          </a:p>
        </p:txBody>
      </p:sp>
      <p:sp>
        <p:nvSpPr>
          <p:cNvPr id="8" name="Text 6"/>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9" name="Text 7"/>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WHERE THIS PROJECT CAN GO NEXT</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Future Scope</a:t>
            </a:r>
            <a:endParaRPr lang="en-US" sz="3000" dirty="0"/>
          </a:p>
        </p:txBody>
      </p:sp>
      <p:sp>
        <p:nvSpPr>
          <p:cNvPr id="4" name="Shape 2"/>
          <p:cNvSpPr/>
          <p:nvPr/>
        </p:nvSpPr>
        <p:spPr>
          <a:xfrm>
            <a:off x="586588" y="1645920"/>
            <a:ext cx="35204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5" name="Shape 3"/>
          <p:cNvSpPr/>
          <p:nvPr/>
        </p:nvSpPr>
        <p:spPr>
          <a:xfrm>
            <a:off x="2003908" y="1901952"/>
            <a:ext cx="685800" cy="685800"/>
          </a:xfrm>
          <a:prstGeom prst="ellipse">
            <a:avLst/>
          </a:prstGeom>
          <a:solidFill>
            <a:srgbClr val="0B3D91"/>
          </a:solidFill>
          <a:ln/>
        </p:spPr>
      </p:sp>
      <p:pic>
        <p:nvPicPr>
          <p:cNvPr id="6" name="Image 0" descr="icons/dashboard_w.png">    </p:cNvPr>
          <p:cNvPicPr>
            <a:picLocks noChangeAspect="1"/>
          </p:cNvPicPr>
          <p:nvPr/>
        </p:nvPicPr>
        <p:blipFill>
          <a:blip r:embed="rId1"/>
          <a:stretch>
            <a:fillRect/>
          </a:stretch>
        </p:blipFill>
        <p:spPr>
          <a:xfrm>
            <a:off x="2168500" y="2066544"/>
            <a:ext cx="356616" cy="356616"/>
          </a:xfrm>
          <a:prstGeom prst="rect">
            <a:avLst/>
          </a:prstGeom>
        </p:spPr>
      </p:pic>
      <p:sp>
        <p:nvSpPr>
          <p:cNvPr id="7" name="Text 4"/>
          <p:cNvSpPr/>
          <p:nvPr/>
        </p:nvSpPr>
        <p:spPr>
          <a:xfrm>
            <a:off x="723748" y="2743200"/>
            <a:ext cx="3246120" cy="365760"/>
          </a:xfrm>
          <a:prstGeom prst="rect">
            <a:avLst/>
          </a:prstGeom>
          <a:noFill/>
          <a:ln/>
        </p:spPr>
        <p:txBody>
          <a:bodyPr wrap="square" lIns="0" tIns="0" rIns="0" bIns="0" rtlCol="0" anchor="ctr"/>
          <a:lstStyle/>
          <a:p>
            <a:pPr algn="ctr" indent="0" marL="0">
              <a:buNone/>
            </a:pPr>
            <a:r>
              <a:rPr lang="en-US" sz="1350" b="1" dirty="0">
                <a:solidFill>
                  <a:srgbClr val="0B3D91"/>
                </a:solidFill>
                <a:latin typeface="Cambria" pitchFamily="34" charset="0"/>
                <a:ea typeface="Cambria" pitchFamily="34" charset="-122"/>
                <a:cs typeface="Cambria" pitchFamily="34" charset="-120"/>
              </a:rPr>
              <a:t>Power BI Dashboard</a:t>
            </a:r>
            <a:endParaRPr lang="en-US" sz="1350" dirty="0"/>
          </a:p>
        </p:txBody>
      </p:sp>
      <p:sp>
        <p:nvSpPr>
          <p:cNvPr id="8" name="Text 5"/>
          <p:cNvSpPr/>
          <p:nvPr/>
        </p:nvSpPr>
        <p:spPr>
          <a:xfrm>
            <a:off x="815188" y="3127248"/>
            <a:ext cx="3063240" cy="548640"/>
          </a:xfrm>
          <a:prstGeom prst="rect">
            <a:avLst/>
          </a:prstGeom>
          <a:noFill/>
          <a:ln/>
        </p:spPr>
        <p:txBody>
          <a:bodyPr wrap="square" lIns="0" tIns="0" rIns="0" bIns="0" rtlCol="0" anchor="t"/>
          <a:lstStyle/>
          <a:p>
            <a:pPr algn="ctr" indent="0" marL="0">
              <a:buNone/>
            </a:pPr>
            <a:r>
              <a:rPr lang="en-US" sz="1000" dirty="0">
                <a:solidFill>
                  <a:srgbClr val="42506B"/>
                </a:solidFill>
                <a:latin typeface="Calibri" pitchFamily="34" charset="0"/>
                <a:ea typeface="Calibri" pitchFamily="34" charset="-122"/>
                <a:cs typeface="Calibri" pitchFamily="34" charset="-120"/>
              </a:rPr>
              <a:t>Interactive drill-down dashboard for business stakeholders.</a:t>
            </a:r>
            <a:endParaRPr lang="en-US" sz="1000" dirty="0"/>
          </a:p>
        </p:txBody>
      </p:sp>
      <p:sp>
        <p:nvSpPr>
          <p:cNvPr id="9" name="Shape 6"/>
          <p:cNvSpPr/>
          <p:nvPr/>
        </p:nvSpPr>
        <p:spPr>
          <a:xfrm>
            <a:off x="4335628" y="1645920"/>
            <a:ext cx="35204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10" name="Shape 7"/>
          <p:cNvSpPr/>
          <p:nvPr/>
        </p:nvSpPr>
        <p:spPr>
          <a:xfrm>
            <a:off x="5752948" y="1901952"/>
            <a:ext cx="685800" cy="685800"/>
          </a:xfrm>
          <a:prstGeom prst="ellipse">
            <a:avLst/>
          </a:prstGeom>
          <a:solidFill>
            <a:srgbClr val="0B3D91"/>
          </a:solidFill>
          <a:ln/>
        </p:spPr>
      </p:sp>
      <p:pic>
        <p:nvPicPr>
          <p:cNvPr id="11" name="Image 1" descr="icons/chart_w.png">    </p:cNvPr>
          <p:cNvPicPr>
            <a:picLocks noChangeAspect="1"/>
          </p:cNvPicPr>
          <p:nvPr/>
        </p:nvPicPr>
        <p:blipFill>
          <a:blip r:embed="rId2"/>
          <a:stretch>
            <a:fillRect/>
          </a:stretch>
        </p:blipFill>
        <p:spPr>
          <a:xfrm>
            <a:off x="5917540" y="2066544"/>
            <a:ext cx="356616" cy="356616"/>
          </a:xfrm>
          <a:prstGeom prst="rect">
            <a:avLst/>
          </a:prstGeom>
        </p:spPr>
      </p:pic>
      <p:sp>
        <p:nvSpPr>
          <p:cNvPr id="12" name="Text 8"/>
          <p:cNvSpPr/>
          <p:nvPr/>
        </p:nvSpPr>
        <p:spPr>
          <a:xfrm>
            <a:off x="4472788" y="2743200"/>
            <a:ext cx="3246120" cy="365760"/>
          </a:xfrm>
          <a:prstGeom prst="rect">
            <a:avLst/>
          </a:prstGeom>
          <a:noFill/>
          <a:ln/>
        </p:spPr>
        <p:txBody>
          <a:bodyPr wrap="square" lIns="0" tIns="0" rIns="0" bIns="0" rtlCol="0" anchor="ctr"/>
          <a:lstStyle/>
          <a:p>
            <a:pPr algn="ctr" indent="0" marL="0">
              <a:buNone/>
            </a:pPr>
            <a:r>
              <a:rPr lang="en-US" sz="1350" b="1" dirty="0">
                <a:solidFill>
                  <a:srgbClr val="0B3D91"/>
                </a:solidFill>
                <a:latin typeface="Cambria" pitchFamily="34" charset="0"/>
                <a:ea typeface="Cambria" pitchFamily="34" charset="-122"/>
                <a:cs typeface="Cambria" pitchFamily="34" charset="-120"/>
              </a:rPr>
              <a:t>Tableau Dashboard</a:t>
            </a:r>
            <a:endParaRPr lang="en-US" sz="1350" dirty="0"/>
          </a:p>
        </p:txBody>
      </p:sp>
      <p:sp>
        <p:nvSpPr>
          <p:cNvPr id="13" name="Text 9"/>
          <p:cNvSpPr/>
          <p:nvPr/>
        </p:nvSpPr>
        <p:spPr>
          <a:xfrm>
            <a:off x="4564228" y="3127248"/>
            <a:ext cx="3063240" cy="548640"/>
          </a:xfrm>
          <a:prstGeom prst="rect">
            <a:avLst/>
          </a:prstGeom>
          <a:noFill/>
          <a:ln/>
        </p:spPr>
        <p:txBody>
          <a:bodyPr wrap="square" lIns="0" tIns="0" rIns="0" bIns="0" rtlCol="0" anchor="t"/>
          <a:lstStyle/>
          <a:p>
            <a:pPr algn="ctr" indent="0" marL="0">
              <a:buNone/>
            </a:pPr>
            <a:r>
              <a:rPr lang="en-US" sz="1000" dirty="0">
                <a:solidFill>
                  <a:srgbClr val="42506B"/>
                </a:solidFill>
                <a:latin typeface="Calibri" pitchFamily="34" charset="0"/>
                <a:ea typeface="Calibri" pitchFamily="34" charset="-122"/>
                <a:cs typeface="Calibri" pitchFamily="34" charset="-120"/>
              </a:rPr>
              <a:t>Advanced visual analytics with geographic mapping.</a:t>
            </a:r>
            <a:endParaRPr lang="en-US" sz="1000" dirty="0"/>
          </a:p>
        </p:txBody>
      </p:sp>
      <p:sp>
        <p:nvSpPr>
          <p:cNvPr id="14" name="Shape 10"/>
          <p:cNvSpPr/>
          <p:nvPr/>
        </p:nvSpPr>
        <p:spPr>
          <a:xfrm>
            <a:off x="8084668" y="1645920"/>
            <a:ext cx="35204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15" name="Shape 11"/>
          <p:cNvSpPr/>
          <p:nvPr/>
        </p:nvSpPr>
        <p:spPr>
          <a:xfrm>
            <a:off x="9501988" y="1901952"/>
            <a:ext cx="685800" cy="685800"/>
          </a:xfrm>
          <a:prstGeom prst="ellipse">
            <a:avLst/>
          </a:prstGeom>
          <a:solidFill>
            <a:srgbClr val="0B3D91"/>
          </a:solidFill>
          <a:ln/>
        </p:spPr>
      </p:sp>
      <p:pic>
        <p:nvPicPr>
          <p:cNvPr id="16" name="Image 2" descr="icons/cloud_w.png">    </p:cNvPr>
          <p:cNvPicPr>
            <a:picLocks noChangeAspect="1"/>
          </p:cNvPicPr>
          <p:nvPr/>
        </p:nvPicPr>
        <p:blipFill>
          <a:blip r:embed="rId3"/>
          <a:stretch>
            <a:fillRect/>
          </a:stretch>
        </p:blipFill>
        <p:spPr>
          <a:xfrm>
            <a:off x="9666580" y="2066544"/>
            <a:ext cx="356616" cy="356616"/>
          </a:xfrm>
          <a:prstGeom prst="rect">
            <a:avLst/>
          </a:prstGeom>
        </p:spPr>
      </p:pic>
      <p:sp>
        <p:nvSpPr>
          <p:cNvPr id="17" name="Text 12"/>
          <p:cNvSpPr/>
          <p:nvPr/>
        </p:nvSpPr>
        <p:spPr>
          <a:xfrm>
            <a:off x="8221828" y="2743200"/>
            <a:ext cx="3246120" cy="365760"/>
          </a:xfrm>
          <a:prstGeom prst="rect">
            <a:avLst/>
          </a:prstGeom>
          <a:noFill/>
          <a:ln/>
        </p:spPr>
        <p:txBody>
          <a:bodyPr wrap="square" lIns="0" tIns="0" rIns="0" bIns="0" rtlCol="0" anchor="ctr"/>
          <a:lstStyle/>
          <a:p>
            <a:pPr algn="ctr" indent="0" marL="0">
              <a:buNone/>
            </a:pPr>
            <a:r>
              <a:rPr lang="en-US" sz="1350" b="1" dirty="0">
                <a:solidFill>
                  <a:srgbClr val="0B3D91"/>
                </a:solidFill>
                <a:latin typeface="Cambria" pitchFamily="34" charset="0"/>
                <a:ea typeface="Cambria" pitchFamily="34" charset="-122"/>
                <a:cs typeface="Cambria" pitchFamily="34" charset="-120"/>
              </a:rPr>
              <a:t>Streamlit Web App</a:t>
            </a:r>
            <a:endParaRPr lang="en-US" sz="1350" dirty="0"/>
          </a:p>
        </p:txBody>
      </p:sp>
      <p:sp>
        <p:nvSpPr>
          <p:cNvPr id="18" name="Text 13"/>
          <p:cNvSpPr/>
          <p:nvPr/>
        </p:nvSpPr>
        <p:spPr>
          <a:xfrm>
            <a:off x="8313268" y="3127248"/>
            <a:ext cx="3063240" cy="548640"/>
          </a:xfrm>
          <a:prstGeom prst="rect">
            <a:avLst/>
          </a:prstGeom>
          <a:noFill/>
          <a:ln/>
        </p:spPr>
        <p:txBody>
          <a:bodyPr wrap="square" lIns="0" tIns="0" rIns="0" bIns="0" rtlCol="0" anchor="t"/>
          <a:lstStyle/>
          <a:p>
            <a:pPr algn="ctr" indent="0" marL="0">
              <a:buNone/>
            </a:pPr>
            <a:r>
              <a:rPr lang="en-US" sz="1000" dirty="0">
                <a:solidFill>
                  <a:srgbClr val="42506B"/>
                </a:solidFill>
                <a:latin typeface="Calibri" pitchFamily="34" charset="0"/>
                <a:ea typeface="Calibri" pitchFamily="34" charset="-122"/>
                <a:cs typeface="Calibri" pitchFamily="34" charset="-120"/>
              </a:rPr>
              <a:t>A deployable, shareable interactive analytics web app.</a:t>
            </a:r>
            <a:endParaRPr lang="en-US" sz="1000" dirty="0"/>
          </a:p>
        </p:txBody>
      </p:sp>
      <p:sp>
        <p:nvSpPr>
          <p:cNvPr id="19" name="Shape 14"/>
          <p:cNvSpPr/>
          <p:nvPr/>
        </p:nvSpPr>
        <p:spPr>
          <a:xfrm>
            <a:off x="586588" y="4023360"/>
            <a:ext cx="35204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20" name="Shape 15"/>
          <p:cNvSpPr/>
          <p:nvPr/>
        </p:nvSpPr>
        <p:spPr>
          <a:xfrm>
            <a:off x="2003908" y="4279392"/>
            <a:ext cx="685800" cy="685800"/>
          </a:xfrm>
          <a:prstGeom prst="ellipse">
            <a:avLst/>
          </a:prstGeom>
          <a:solidFill>
            <a:srgbClr val="1859C4"/>
          </a:solidFill>
          <a:ln/>
        </p:spPr>
      </p:sp>
      <p:pic>
        <p:nvPicPr>
          <p:cNvPr id="21" name="Image 3" descr="icons/robot_w.png">    </p:cNvPr>
          <p:cNvPicPr>
            <a:picLocks noChangeAspect="1"/>
          </p:cNvPicPr>
          <p:nvPr/>
        </p:nvPicPr>
        <p:blipFill>
          <a:blip r:embed="rId4"/>
          <a:stretch>
            <a:fillRect/>
          </a:stretch>
        </p:blipFill>
        <p:spPr>
          <a:xfrm>
            <a:off x="2168500" y="4443984"/>
            <a:ext cx="356616" cy="356616"/>
          </a:xfrm>
          <a:prstGeom prst="rect">
            <a:avLst/>
          </a:prstGeom>
        </p:spPr>
      </p:pic>
      <p:sp>
        <p:nvSpPr>
          <p:cNvPr id="22" name="Text 16"/>
          <p:cNvSpPr/>
          <p:nvPr/>
        </p:nvSpPr>
        <p:spPr>
          <a:xfrm>
            <a:off x="723748" y="5120640"/>
            <a:ext cx="3246120" cy="365760"/>
          </a:xfrm>
          <a:prstGeom prst="rect">
            <a:avLst/>
          </a:prstGeom>
          <a:noFill/>
          <a:ln/>
        </p:spPr>
        <p:txBody>
          <a:bodyPr wrap="square" lIns="0" tIns="0" rIns="0" bIns="0" rtlCol="0" anchor="ctr"/>
          <a:lstStyle/>
          <a:p>
            <a:pPr algn="ctr" indent="0" marL="0">
              <a:buNone/>
            </a:pPr>
            <a:r>
              <a:rPr lang="en-US" sz="1350" b="1" dirty="0">
                <a:solidFill>
                  <a:srgbClr val="0B3D91"/>
                </a:solidFill>
                <a:latin typeface="Cambria" pitchFamily="34" charset="0"/>
                <a:ea typeface="Cambria" pitchFamily="34" charset="-122"/>
                <a:cs typeface="Cambria" pitchFamily="34" charset="-120"/>
              </a:rPr>
              <a:t>ML Prediction</a:t>
            </a:r>
            <a:endParaRPr lang="en-US" sz="1350" dirty="0"/>
          </a:p>
        </p:txBody>
      </p:sp>
      <p:sp>
        <p:nvSpPr>
          <p:cNvPr id="23" name="Text 17"/>
          <p:cNvSpPr/>
          <p:nvPr/>
        </p:nvSpPr>
        <p:spPr>
          <a:xfrm>
            <a:off x="815188" y="5504688"/>
            <a:ext cx="3063240" cy="548640"/>
          </a:xfrm>
          <a:prstGeom prst="rect">
            <a:avLst/>
          </a:prstGeom>
          <a:noFill/>
          <a:ln/>
        </p:spPr>
        <p:txBody>
          <a:bodyPr wrap="square" lIns="0" tIns="0" rIns="0" bIns="0" rtlCol="0" anchor="t"/>
          <a:lstStyle/>
          <a:p>
            <a:pPr algn="ctr" indent="0" marL="0">
              <a:buNone/>
            </a:pPr>
            <a:r>
              <a:rPr lang="en-US" sz="1000" dirty="0">
                <a:solidFill>
                  <a:srgbClr val="42506B"/>
                </a:solidFill>
                <a:latin typeface="Calibri" pitchFamily="34" charset="0"/>
                <a:ea typeface="Calibri" pitchFamily="34" charset="-122"/>
                <a:cs typeface="Calibri" pitchFamily="34" charset="-120"/>
              </a:rPr>
              <a:t>Machine learning models to forecast future transaction trends.</a:t>
            </a:r>
            <a:endParaRPr lang="en-US" sz="1000" dirty="0"/>
          </a:p>
        </p:txBody>
      </p:sp>
      <p:sp>
        <p:nvSpPr>
          <p:cNvPr id="24" name="Shape 18"/>
          <p:cNvSpPr/>
          <p:nvPr/>
        </p:nvSpPr>
        <p:spPr>
          <a:xfrm>
            <a:off x="4335628" y="4023360"/>
            <a:ext cx="35204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25" name="Shape 19"/>
          <p:cNvSpPr/>
          <p:nvPr/>
        </p:nvSpPr>
        <p:spPr>
          <a:xfrm>
            <a:off x="5752948" y="4279392"/>
            <a:ext cx="685800" cy="685800"/>
          </a:xfrm>
          <a:prstGeom prst="ellipse">
            <a:avLst/>
          </a:prstGeom>
          <a:solidFill>
            <a:srgbClr val="1859C4"/>
          </a:solidFill>
          <a:ln/>
        </p:spPr>
      </p:sp>
      <p:pic>
        <p:nvPicPr>
          <p:cNvPr id="26" name="Image 4" descr="icons/database_w.png">    </p:cNvPr>
          <p:cNvPicPr>
            <a:picLocks noChangeAspect="1"/>
          </p:cNvPicPr>
          <p:nvPr/>
        </p:nvPicPr>
        <p:blipFill>
          <a:blip r:embed="rId5"/>
          <a:stretch>
            <a:fillRect/>
          </a:stretch>
        </p:blipFill>
        <p:spPr>
          <a:xfrm>
            <a:off x="5917540" y="4443984"/>
            <a:ext cx="356616" cy="356616"/>
          </a:xfrm>
          <a:prstGeom prst="rect">
            <a:avLst/>
          </a:prstGeom>
        </p:spPr>
      </p:pic>
      <p:sp>
        <p:nvSpPr>
          <p:cNvPr id="27" name="Text 20"/>
          <p:cNvSpPr/>
          <p:nvPr/>
        </p:nvSpPr>
        <p:spPr>
          <a:xfrm>
            <a:off x="4472788" y="5120640"/>
            <a:ext cx="3246120" cy="365760"/>
          </a:xfrm>
          <a:prstGeom prst="rect">
            <a:avLst/>
          </a:prstGeom>
          <a:noFill/>
          <a:ln/>
        </p:spPr>
        <p:txBody>
          <a:bodyPr wrap="square" lIns="0" tIns="0" rIns="0" bIns="0" rtlCol="0" anchor="ctr"/>
          <a:lstStyle/>
          <a:p>
            <a:pPr algn="ctr" indent="0" marL="0">
              <a:buNone/>
            </a:pPr>
            <a:r>
              <a:rPr lang="en-US" sz="1350" b="1" dirty="0">
                <a:solidFill>
                  <a:srgbClr val="0B3D91"/>
                </a:solidFill>
                <a:latin typeface="Cambria" pitchFamily="34" charset="0"/>
                <a:ea typeface="Cambria" pitchFamily="34" charset="-122"/>
                <a:cs typeface="Cambria" pitchFamily="34" charset="-120"/>
              </a:rPr>
              <a:t>Real-Time Dashboard</a:t>
            </a:r>
            <a:endParaRPr lang="en-US" sz="1350" dirty="0"/>
          </a:p>
        </p:txBody>
      </p:sp>
      <p:sp>
        <p:nvSpPr>
          <p:cNvPr id="28" name="Text 21"/>
          <p:cNvSpPr/>
          <p:nvPr/>
        </p:nvSpPr>
        <p:spPr>
          <a:xfrm>
            <a:off x="4564228" y="5504688"/>
            <a:ext cx="3063240" cy="548640"/>
          </a:xfrm>
          <a:prstGeom prst="rect">
            <a:avLst/>
          </a:prstGeom>
          <a:noFill/>
          <a:ln/>
        </p:spPr>
        <p:txBody>
          <a:bodyPr wrap="square" lIns="0" tIns="0" rIns="0" bIns="0" rtlCol="0" anchor="t"/>
          <a:lstStyle/>
          <a:p>
            <a:pPr algn="ctr" indent="0" marL="0">
              <a:buNone/>
            </a:pPr>
            <a:r>
              <a:rPr lang="en-US" sz="1000" dirty="0">
                <a:solidFill>
                  <a:srgbClr val="42506B"/>
                </a:solidFill>
                <a:latin typeface="Calibri" pitchFamily="34" charset="0"/>
                <a:ea typeface="Calibri" pitchFamily="34" charset="-122"/>
                <a:cs typeface="Calibri" pitchFamily="34" charset="-120"/>
              </a:rPr>
              <a:t>Live data pipeline integrating real-time APIs.</a:t>
            </a:r>
            <a:endParaRPr lang="en-US" sz="1000" dirty="0"/>
          </a:p>
        </p:txBody>
      </p:sp>
      <p:sp>
        <p:nvSpPr>
          <p:cNvPr id="29" name="Shape 22"/>
          <p:cNvSpPr/>
          <p:nvPr/>
        </p:nvSpPr>
        <p:spPr>
          <a:xfrm>
            <a:off x="8084668" y="4023360"/>
            <a:ext cx="3520440" cy="2103120"/>
          </a:xfrm>
          <a:prstGeom prst="roundRect">
            <a:avLst>
              <a:gd name="adj" fmla="val 3478"/>
            </a:avLst>
          </a:prstGeom>
          <a:solidFill>
            <a:srgbClr val="F4F8FE"/>
          </a:solidFill>
          <a:ln/>
          <a:effectLst>
            <a:outerShdw sx="100000" sy="100000" kx="0" ky="0" algn="bl" rotWithShape="0" blurRad="88900" dist="25400" dir="5400000">
              <a:srgbClr val="1B2A4A">
                <a:alpha val="10000"/>
              </a:srgbClr>
            </a:outerShdw>
          </a:effectLst>
        </p:spPr>
      </p:sp>
      <p:sp>
        <p:nvSpPr>
          <p:cNvPr id="30" name="Shape 23"/>
          <p:cNvSpPr/>
          <p:nvPr/>
        </p:nvSpPr>
        <p:spPr>
          <a:xfrm>
            <a:off x="9501988" y="4279392"/>
            <a:ext cx="685800" cy="685800"/>
          </a:xfrm>
          <a:prstGeom prst="ellipse">
            <a:avLst/>
          </a:prstGeom>
          <a:solidFill>
            <a:srgbClr val="1859C4"/>
          </a:solidFill>
          <a:ln/>
        </p:spPr>
      </p:sp>
      <p:pic>
        <p:nvPicPr>
          <p:cNvPr id="31" name="Image 5" descr="icons/clipboard_w.png">    </p:cNvPr>
          <p:cNvPicPr>
            <a:picLocks noChangeAspect="1"/>
          </p:cNvPicPr>
          <p:nvPr/>
        </p:nvPicPr>
        <p:blipFill>
          <a:blip r:embed="rId6"/>
          <a:stretch>
            <a:fillRect/>
          </a:stretch>
        </p:blipFill>
        <p:spPr>
          <a:xfrm>
            <a:off x="9666580" y="4443984"/>
            <a:ext cx="356616" cy="356616"/>
          </a:xfrm>
          <a:prstGeom prst="rect">
            <a:avLst/>
          </a:prstGeom>
        </p:spPr>
      </p:pic>
      <p:sp>
        <p:nvSpPr>
          <p:cNvPr id="32" name="Text 24"/>
          <p:cNvSpPr/>
          <p:nvPr/>
        </p:nvSpPr>
        <p:spPr>
          <a:xfrm>
            <a:off x="8221828" y="5120640"/>
            <a:ext cx="3246120" cy="365760"/>
          </a:xfrm>
          <a:prstGeom prst="rect">
            <a:avLst/>
          </a:prstGeom>
          <a:noFill/>
          <a:ln/>
        </p:spPr>
        <p:txBody>
          <a:bodyPr wrap="square" lIns="0" tIns="0" rIns="0" bIns="0" rtlCol="0" anchor="ctr"/>
          <a:lstStyle/>
          <a:p>
            <a:pPr algn="ctr" indent="0" marL="0">
              <a:buNone/>
            </a:pPr>
            <a:r>
              <a:rPr lang="en-US" sz="1350" b="1" dirty="0">
                <a:solidFill>
                  <a:srgbClr val="0B3D91"/>
                </a:solidFill>
                <a:latin typeface="Cambria" pitchFamily="34" charset="0"/>
                <a:ea typeface="Cambria" pitchFamily="34" charset="-122"/>
                <a:cs typeface="Cambria" pitchFamily="34" charset="-120"/>
              </a:rPr>
              <a:t>Automated Reporting</a:t>
            </a:r>
            <a:endParaRPr lang="en-US" sz="1350" dirty="0"/>
          </a:p>
        </p:txBody>
      </p:sp>
      <p:sp>
        <p:nvSpPr>
          <p:cNvPr id="33" name="Text 25"/>
          <p:cNvSpPr/>
          <p:nvPr/>
        </p:nvSpPr>
        <p:spPr>
          <a:xfrm>
            <a:off x="8313268" y="5504688"/>
            <a:ext cx="3063240" cy="548640"/>
          </a:xfrm>
          <a:prstGeom prst="rect">
            <a:avLst/>
          </a:prstGeom>
          <a:noFill/>
          <a:ln/>
        </p:spPr>
        <p:txBody>
          <a:bodyPr wrap="square" lIns="0" tIns="0" rIns="0" bIns="0" rtlCol="0" anchor="t"/>
          <a:lstStyle/>
          <a:p>
            <a:pPr algn="ctr" indent="0" marL="0">
              <a:buNone/>
            </a:pPr>
            <a:r>
              <a:rPr lang="en-US" sz="1000" dirty="0">
                <a:solidFill>
                  <a:srgbClr val="42506B"/>
                </a:solidFill>
                <a:latin typeface="Calibri" pitchFamily="34" charset="0"/>
                <a:ea typeface="Calibri" pitchFamily="34" charset="-122"/>
                <a:cs typeface="Calibri" pitchFamily="34" charset="-120"/>
              </a:rPr>
              <a:t>Scheduled, automated report generation for stakeholders.</a:t>
            </a:r>
            <a:endParaRPr lang="en-US" sz="1000" dirty="0"/>
          </a:p>
        </p:txBody>
      </p:sp>
      <p:sp>
        <p:nvSpPr>
          <p:cNvPr id="34" name="Text 26"/>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35" name="Text 27"/>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WHAT THIS PROJECT SHOWCASES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0B3D91"/>
                </a:solidFill>
                <a:latin typeface="Cambria" pitchFamily="34" charset="0"/>
                <a:ea typeface="Cambria" pitchFamily="34" charset="-122"/>
                <a:cs typeface="Cambria" pitchFamily="34" charset="-120"/>
              </a:rPr>
              <a:t>Skills Demonstrated</a:t>
            </a:r>
            <a:endParaRPr lang="en-US" sz="3000" dirty="0"/>
          </a:p>
        </p:txBody>
      </p:sp>
      <p:sp>
        <p:nvSpPr>
          <p:cNvPr id="4" name="Shape 2"/>
          <p:cNvSpPr/>
          <p:nvPr/>
        </p:nvSpPr>
        <p:spPr>
          <a:xfrm>
            <a:off x="609448" y="1691640"/>
            <a:ext cx="2606040" cy="2011680"/>
          </a:xfrm>
          <a:prstGeom prst="roundRect">
            <a:avLst>
              <a:gd name="adj" fmla="val 3636"/>
            </a:avLst>
          </a:prstGeom>
          <a:solidFill>
            <a:srgbClr val="F4F8FE"/>
          </a:solidFill>
          <a:ln/>
          <a:effectLst>
            <a:outerShdw sx="100000" sy="100000" kx="0" ky="0" algn="bl" rotWithShape="0" blurRad="88900" dist="25400" dir="5400000">
              <a:srgbClr val="1B2A4A">
                <a:alpha val="10000"/>
              </a:srgbClr>
            </a:outerShdw>
          </a:effectLst>
        </p:spPr>
      </p:sp>
      <p:sp>
        <p:nvSpPr>
          <p:cNvPr id="5" name="Shape 3"/>
          <p:cNvSpPr/>
          <p:nvPr/>
        </p:nvSpPr>
        <p:spPr>
          <a:xfrm>
            <a:off x="1546708" y="2011680"/>
            <a:ext cx="731520" cy="731520"/>
          </a:xfrm>
          <a:prstGeom prst="ellipse">
            <a:avLst/>
          </a:prstGeom>
          <a:solidFill>
            <a:srgbClr val="0B3D91"/>
          </a:solidFill>
          <a:ln/>
        </p:spPr>
      </p:sp>
      <p:pic>
        <p:nvPicPr>
          <p:cNvPr id="6" name="Image 0" descr="icons/python.png">    </p:cNvPr>
          <p:cNvPicPr>
            <a:picLocks noChangeAspect="1"/>
          </p:cNvPicPr>
          <p:nvPr/>
        </p:nvPicPr>
        <p:blipFill>
          <a:blip r:embed="rId1"/>
          <a:stretch>
            <a:fillRect/>
          </a:stretch>
        </p:blipFill>
        <p:spPr>
          <a:xfrm>
            <a:off x="1722272" y="2187245"/>
            <a:ext cx="380390" cy="380390"/>
          </a:xfrm>
          <a:prstGeom prst="rect">
            <a:avLst/>
          </a:prstGeom>
        </p:spPr>
      </p:pic>
      <p:sp>
        <p:nvSpPr>
          <p:cNvPr id="7" name="Text 4"/>
          <p:cNvSpPr/>
          <p:nvPr/>
        </p:nvSpPr>
        <p:spPr>
          <a:xfrm>
            <a:off x="700888" y="2926080"/>
            <a:ext cx="2423160" cy="640080"/>
          </a:xfrm>
          <a:prstGeom prst="rect">
            <a:avLst/>
          </a:prstGeom>
          <a:noFill/>
          <a:ln/>
        </p:spPr>
        <p:txBody>
          <a:bodyPr wrap="square" lIns="0" tIns="0" rIns="0" bIns="0" rtlCol="0" anchor="t"/>
          <a:lstStyle/>
          <a:p>
            <a:pPr algn="ctr" indent="0" marL="0">
              <a:buNone/>
            </a:pPr>
            <a:r>
              <a:rPr lang="en-US" sz="1300" b="1" dirty="0">
                <a:solidFill>
                  <a:srgbClr val="0B3D91"/>
                </a:solidFill>
                <a:latin typeface="Cambria" pitchFamily="34" charset="0"/>
                <a:ea typeface="Cambria" pitchFamily="34" charset="-122"/>
                <a:cs typeface="Cambria" pitchFamily="34" charset="-120"/>
              </a:rPr>
              <a:t>Python Programming</a:t>
            </a:r>
            <a:endParaRPr lang="en-US" sz="1300" dirty="0"/>
          </a:p>
        </p:txBody>
      </p:sp>
      <p:sp>
        <p:nvSpPr>
          <p:cNvPr id="8" name="Shape 5"/>
          <p:cNvSpPr/>
          <p:nvPr/>
        </p:nvSpPr>
        <p:spPr>
          <a:xfrm>
            <a:off x="3398368" y="1691640"/>
            <a:ext cx="2606040" cy="2011680"/>
          </a:xfrm>
          <a:prstGeom prst="roundRect">
            <a:avLst>
              <a:gd name="adj" fmla="val 3636"/>
            </a:avLst>
          </a:prstGeom>
          <a:solidFill>
            <a:srgbClr val="F4F8FE"/>
          </a:solidFill>
          <a:ln/>
          <a:effectLst>
            <a:outerShdw sx="100000" sy="100000" kx="0" ky="0" algn="bl" rotWithShape="0" blurRad="88900" dist="25400" dir="5400000">
              <a:srgbClr val="1B2A4A">
                <a:alpha val="10000"/>
              </a:srgbClr>
            </a:outerShdw>
          </a:effectLst>
        </p:spPr>
      </p:sp>
      <p:sp>
        <p:nvSpPr>
          <p:cNvPr id="9" name="Shape 6"/>
          <p:cNvSpPr/>
          <p:nvPr/>
        </p:nvSpPr>
        <p:spPr>
          <a:xfrm>
            <a:off x="4335628" y="2011680"/>
            <a:ext cx="731520" cy="731520"/>
          </a:xfrm>
          <a:prstGeom prst="ellipse">
            <a:avLst/>
          </a:prstGeom>
          <a:solidFill>
            <a:srgbClr val="0B3D91"/>
          </a:solidFill>
          <a:ln/>
        </p:spPr>
      </p:sp>
      <p:pic>
        <p:nvPicPr>
          <p:cNvPr id="10" name="Image 1" descr="icons/pandas.png">    </p:cNvPr>
          <p:cNvPicPr>
            <a:picLocks noChangeAspect="1"/>
          </p:cNvPicPr>
          <p:nvPr/>
        </p:nvPicPr>
        <p:blipFill>
          <a:blip r:embed="rId2"/>
          <a:stretch>
            <a:fillRect/>
          </a:stretch>
        </p:blipFill>
        <p:spPr>
          <a:xfrm>
            <a:off x="4511192" y="2187245"/>
            <a:ext cx="380390" cy="380390"/>
          </a:xfrm>
          <a:prstGeom prst="rect">
            <a:avLst/>
          </a:prstGeom>
        </p:spPr>
      </p:pic>
      <p:sp>
        <p:nvSpPr>
          <p:cNvPr id="11" name="Text 7"/>
          <p:cNvSpPr/>
          <p:nvPr/>
        </p:nvSpPr>
        <p:spPr>
          <a:xfrm>
            <a:off x="3489808" y="2926080"/>
            <a:ext cx="2423160" cy="640080"/>
          </a:xfrm>
          <a:prstGeom prst="rect">
            <a:avLst/>
          </a:prstGeom>
          <a:noFill/>
          <a:ln/>
        </p:spPr>
        <p:txBody>
          <a:bodyPr wrap="square" lIns="0" tIns="0" rIns="0" bIns="0" rtlCol="0" anchor="t"/>
          <a:lstStyle/>
          <a:p>
            <a:pPr algn="ctr" indent="0" marL="0">
              <a:buNone/>
            </a:pPr>
            <a:r>
              <a:rPr lang="en-US" sz="1300" b="1" dirty="0">
                <a:solidFill>
                  <a:srgbClr val="0B3D91"/>
                </a:solidFill>
                <a:latin typeface="Cambria" pitchFamily="34" charset="0"/>
                <a:ea typeface="Cambria" pitchFamily="34" charset="-122"/>
                <a:cs typeface="Cambria" pitchFamily="34" charset="-120"/>
              </a:rPr>
              <a:t>Pandas</a:t>
            </a:r>
            <a:endParaRPr lang="en-US" sz="1300" dirty="0"/>
          </a:p>
        </p:txBody>
      </p:sp>
      <p:sp>
        <p:nvSpPr>
          <p:cNvPr id="12" name="Shape 8"/>
          <p:cNvSpPr/>
          <p:nvPr/>
        </p:nvSpPr>
        <p:spPr>
          <a:xfrm>
            <a:off x="6187288" y="1691640"/>
            <a:ext cx="2606040" cy="2011680"/>
          </a:xfrm>
          <a:prstGeom prst="roundRect">
            <a:avLst>
              <a:gd name="adj" fmla="val 3636"/>
            </a:avLst>
          </a:prstGeom>
          <a:solidFill>
            <a:srgbClr val="F4F8FE"/>
          </a:solidFill>
          <a:ln/>
          <a:effectLst>
            <a:outerShdw sx="100000" sy="100000" kx="0" ky="0" algn="bl" rotWithShape="0" blurRad="88900" dist="25400" dir="5400000">
              <a:srgbClr val="1B2A4A">
                <a:alpha val="10000"/>
              </a:srgbClr>
            </a:outerShdw>
          </a:effectLst>
        </p:spPr>
      </p:sp>
      <p:sp>
        <p:nvSpPr>
          <p:cNvPr id="13" name="Shape 9"/>
          <p:cNvSpPr/>
          <p:nvPr/>
        </p:nvSpPr>
        <p:spPr>
          <a:xfrm>
            <a:off x="7124548" y="2011680"/>
            <a:ext cx="731520" cy="731520"/>
          </a:xfrm>
          <a:prstGeom prst="ellipse">
            <a:avLst/>
          </a:prstGeom>
          <a:solidFill>
            <a:srgbClr val="0B3D91"/>
          </a:solidFill>
          <a:ln/>
        </p:spPr>
      </p:sp>
      <p:pic>
        <p:nvPicPr>
          <p:cNvPr id="14" name="Image 2" descr="icons/numpy.png">    </p:cNvPr>
          <p:cNvPicPr>
            <a:picLocks noChangeAspect="1"/>
          </p:cNvPicPr>
          <p:nvPr/>
        </p:nvPicPr>
        <p:blipFill>
          <a:blip r:embed="rId3"/>
          <a:stretch>
            <a:fillRect/>
          </a:stretch>
        </p:blipFill>
        <p:spPr>
          <a:xfrm>
            <a:off x="7300112" y="2187245"/>
            <a:ext cx="380390" cy="380390"/>
          </a:xfrm>
          <a:prstGeom prst="rect">
            <a:avLst/>
          </a:prstGeom>
        </p:spPr>
      </p:pic>
      <p:sp>
        <p:nvSpPr>
          <p:cNvPr id="15" name="Text 10"/>
          <p:cNvSpPr/>
          <p:nvPr/>
        </p:nvSpPr>
        <p:spPr>
          <a:xfrm>
            <a:off x="6278728" y="2926080"/>
            <a:ext cx="2423160" cy="640080"/>
          </a:xfrm>
          <a:prstGeom prst="rect">
            <a:avLst/>
          </a:prstGeom>
          <a:noFill/>
          <a:ln/>
        </p:spPr>
        <p:txBody>
          <a:bodyPr wrap="square" lIns="0" tIns="0" rIns="0" bIns="0" rtlCol="0" anchor="t"/>
          <a:lstStyle/>
          <a:p>
            <a:pPr algn="ctr" indent="0" marL="0">
              <a:buNone/>
            </a:pPr>
            <a:r>
              <a:rPr lang="en-US" sz="1300" b="1" dirty="0">
                <a:solidFill>
                  <a:srgbClr val="0B3D91"/>
                </a:solidFill>
                <a:latin typeface="Cambria" pitchFamily="34" charset="0"/>
                <a:ea typeface="Cambria" pitchFamily="34" charset="-122"/>
                <a:cs typeface="Cambria" pitchFamily="34" charset="-120"/>
              </a:rPr>
              <a:t>NumPy</a:t>
            </a:r>
            <a:endParaRPr lang="en-US" sz="1300" dirty="0"/>
          </a:p>
        </p:txBody>
      </p:sp>
      <p:sp>
        <p:nvSpPr>
          <p:cNvPr id="16" name="Shape 11"/>
          <p:cNvSpPr/>
          <p:nvPr/>
        </p:nvSpPr>
        <p:spPr>
          <a:xfrm>
            <a:off x="8976208" y="1691640"/>
            <a:ext cx="2606040" cy="2011680"/>
          </a:xfrm>
          <a:prstGeom prst="roundRect">
            <a:avLst>
              <a:gd name="adj" fmla="val 3636"/>
            </a:avLst>
          </a:prstGeom>
          <a:solidFill>
            <a:srgbClr val="F4F8FE"/>
          </a:solidFill>
          <a:ln/>
          <a:effectLst>
            <a:outerShdw sx="100000" sy="100000" kx="0" ky="0" algn="bl" rotWithShape="0" blurRad="88900" dist="25400" dir="5400000">
              <a:srgbClr val="1B2A4A">
                <a:alpha val="10000"/>
              </a:srgbClr>
            </a:outerShdw>
          </a:effectLst>
        </p:spPr>
      </p:sp>
      <p:sp>
        <p:nvSpPr>
          <p:cNvPr id="17" name="Shape 12"/>
          <p:cNvSpPr/>
          <p:nvPr/>
        </p:nvSpPr>
        <p:spPr>
          <a:xfrm>
            <a:off x="9913468" y="2011680"/>
            <a:ext cx="731520" cy="731520"/>
          </a:xfrm>
          <a:prstGeom prst="ellipse">
            <a:avLst/>
          </a:prstGeom>
          <a:solidFill>
            <a:srgbClr val="0B3D91"/>
          </a:solidFill>
          <a:ln/>
        </p:spPr>
      </p:sp>
      <p:pic>
        <p:nvPicPr>
          <p:cNvPr id="18" name="Image 3" descr="icons/broom_w.png">    </p:cNvPr>
          <p:cNvPicPr>
            <a:picLocks noChangeAspect="1"/>
          </p:cNvPicPr>
          <p:nvPr/>
        </p:nvPicPr>
        <p:blipFill>
          <a:blip r:embed="rId4"/>
          <a:stretch>
            <a:fillRect/>
          </a:stretch>
        </p:blipFill>
        <p:spPr>
          <a:xfrm>
            <a:off x="10089032" y="2187245"/>
            <a:ext cx="380390" cy="380390"/>
          </a:xfrm>
          <a:prstGeom prst="rect">
            <a:avLst/>
          </a:prstGeom>
        </p:spPr>
      </p:pic>
      <p:sp>
        <p:nvSpPr>
          <p:cNvPr id="19" name="Text 13"/>
          <p:cNvSpPr/>
          <p:nvPr/>
        </p:nvSpPr>
        <p:spPr>
          <a:xfrm>
            <a:off x="9067648" y="2926080"/>
            <a:ext cx="2423160" cy="640080"/>
          </a:xfrm>
          <a:prstGeom prst="rect">
            <a:avLst/>
          </a:prstGeom>
          <a:noFill/>
          <a:ln/>
        </p:spPr>
        <p:txBody>
          <a:bodyPr wrap="square" lIns="0" tIns="0" rIns="0" bIns="0" rtlCol="0" anchor="t"/>
          <a:lstStyle/>
          <a:p>
            <a:pPr algn="ctr" indent="0" marL="0">
              <a:buNone/>
            </a:pPr>
            <a:r>
              <a:rPr lang="en-US" sz="1300" b="1" dirty="0">
                <a:solidFill>
                  <a:srgbClr val="0B3D91"/>
                </a:solidFill>
                <a:latin typeface="Cambria" pitchFamily="34" charset="0"/>
                <a:ea typeface="Cambria" pitchFamily="34" charset="-122"/>
                <a:cs typeface="Cambria" pitchFamily="34" charset="-120"/>
              </a:rPr>
              <a:t>Data Cleaning</a:t>
            </a:r>
            <a:endParaRPr lang="en-US" sz="1300" dirty="0"/>
          </a:p>
        </p:txBody>
      </p:sp>
      <p:sp>
        <p:nvSpPr>
          <p:cNvPr id="20" name="Shape 14"/>
          <p:cNvSpPr/>
          <p:nvPr/>
        </p:nvSpPr>
        <p:spPr>
          <a:xfrm>
            <a:off x="609448" y="3959352"/>
            <a:ext cx="2606040" cy="2011680"/>
          </a:xfrm>
          <a:prstGeom prst="roundRect">
            <a:avLst>
              <a:gd name="adj" fmla="val 3636"/>
            </a:avLst>
          </a:prstGeom>
          <a:solidFill>
            <a:srgbClr val="F4F8FE"/>
          </a:solidFill>
          <a:ln/>
          <a:effectLst>
            <a:outerShdw sx="100000" sy="100000" kx="0" ky="0" algn="bl" rotWithShape="0" blurRad="88900" dist="25400" dir="5400000">
              <a:srgbClr val="1B2A4A">
                <a:alpha val="10000"/>
              </a:srgbClr>
            </a:outerShdw>
          </a:effectLst>
        </p:spPr>
      </p:sp>
      <p:sp>
        <p:nvSpPr>
          <p:cNvPr id="21" name="Shape 15"/>
          <p:cNvSpPr/>
          <p:nvPr/>
        </p:nvSpPr>
        <p:spPr>
          <a:xfrm>
            <a:off x="1546708" y="4279392"/>
            <a:ext cx="731520" cy="731520"/>
          </a:xfrm>
          <a:prstGeom prst="ellipse">
            <a:avLst/>
          </a:prstGeom>
          <a:solidFill>
            <a:srgbClr val="1859C4"/>
          </a:solidFill>
          <a:ln/>
        </p:spPr>
      </p:sp>
      <p:pic>
        <p:nvPicPr>
          <p:cNvPr id="22" name="Image 4" descr="icons/chart_w.png">    </p:cNvPr>
          <p:cNvPicPr>
            <a:picLocks noChangeAspect="1"/>
          </p:cNvPicPr>
          <p:nvPr/>
        </p:nvPicPr>
        <p:blipFill>
          <a:blip r:embed="rId5"/>
          <a:stretch>
            <a:fillRect/>
          </a:stretch>
        </p:blipFill>
        <p:spPr>
          <a:xfrm>
            <a:off x="1722272" y="4454957"/>
            <a:ext cx="380390" cy="380390"/>
          </a:xfrm>
          <a:prstGeom prst="rect">
            <a:avLst/>
          </a:prstGeom>
        </p:spPr>
      </p:pic>
      <p:sp>
        <p:nvSpPr>
          <p:cNvPr id="23" name="Text 16"/>
          <p:cNvSpPr/>
          <p:nvPr/>
        </p:nvSpPr>
        <p:spPr>
          <a:xfrm>
            <a:off x="700888" y="5193792"/>
            <a:ext cx="2423160" cy="640080"/>
          </a:xfrm>
          <a:prstGeom prst="rect">
            <a:avLst/>
          </a:prstGeom>
          <a:noFill/>
          <a:ln/>
        </p:spPr>
        <p:txBody>
          <a:bodyPr wrap="square" lIns="0" tIns="0" rIns="0" bIns="0" rtlCol="0" anchor="t"/>
          <a:lstStyle/>
          <a:p>
            <a:pPr algn="ctr" indent="0" marL="0">
              <a:buNone/>
            </a:pPr>
            <a:r>
              <a:rPr lang="en-US" sz="1300" b="1" dirty="0">
                <a:solidFill>
                  <a:srgbClr val="0B3D91"/>
                </a:solidFill>
                <a:latin typeface="Cambria" pitchFamily="34" charset="0"/>
                <a:ea typeface="Cambria" pitchFamily="34" charset="-122"/>
                <a:cs typeface="Cambria" pitchFamily="34" charset="-120"/>
              </a:rPr>
              <a:t>Data Visualization</a:t>
            </a:r>
            <a:endParaRPr lang="en-US" sz="1300" dirty="0"/>
          </a:p>
        </p:txBody>
      </p:sp>
      <p:sp>
        <p:nvSpPr>
          <p:cNvPr id="24" name="Shape 17"/>
          <p:cNvSpPr/>
          <p:nvPr/>
        </p:nvSpPr>
        <p:spPr>
          <a:xfrm>
            <a:off x="3398368" y="3959352"/>
            <a:ext cx="2606040" cy="2011680"/>
          </a:xfrm>
          <a:prstGeom prst="roundRect">
            <a:avLst>
              <a:gd name="adj" fmla="val 3636"/>
            </a:avLst>
          </a:prstGeom>
          <a:solidFill>
            <a:srgbClr val="F4F8FE"/>
          </a:solidFill>
          <a:ln/>
          <a:effectLst>
            <a:outerShdw sx="100000" sy="100000" kx="0" ky="0" algn="bl" rotWithShape="0" blurRad="88900" dist="25400" dir="5400000">
              <a:srgbClr val="1B2A4A">
                <a:alpha val="10000"/>
              </a:srgbClr>
            </a:outerShdw>
          </a:effectLst>
        </p:spPr>
      </p:sp>
      <p:sp>
        <p:nvSpPr>
          <p:cNvPr id="25" name="Shape 18"/>
          <p:cNvSpPr/>
          <p:nvPr/>
        </p:nvSpPr>
        <p:spPr>
          <a:xfrm>
            <a:off x="4335628" y="4279392"/>
            <a:ext cx="731520" cy="731520"/>
          </a:xfrm>
          <a:prstGeom prst="ellipse">
            <a:avLst/>
          </a:prstGeom>
          <a:solidFill>
            <a:srgbClr val="1859C4"/>
          </a:solidFill>
          <a:ln/>
        </p:spPr>
      </p:sp>
      <p:pic>
        <p:nvPicPr>
          <p:cNvPr id="26" name="Image 5" descr="icons/search_w.png">    </p:cNvPr>
          <p:cNvPicPr>
            <a:picLocks noChangeAspect="1"/>
          </p:cNvPicPr>
          <p:nvPr/>
        </p:nvPicPr>
        <p:blipFill>
          <a:blip r:embed="rId6"/>
          <a:stretch>
            <a:fillRect/>
          </a:stretch>
        </p:blipFill>
        <p:spPr>
          <a:xfrm>
            <a:off x="4511192" y="4454957"/>
            <a:ext cx="380390" cy="380390"/>
          </a:xfrm>
          <a:prstGeom prst="rect">
            <a:avLst/>
          </a:prstGeom>
        </p:spPr>
      </p:pic>
      <p:sp>
        <p:nvSpPr>
          <p:cNvPr id="27" name="Text 19"/>
          <p:cNvSpPr/>
          <p:nvPr/>
        </p:nvSpPr>
        <p:spPr>
          <a:xfrm>
            <a:off x="3489808" y="5193792"/>
            <a:ext cx="2423160" cy="640080"/>
          </a:xfrm>
          <a:prstGeom prst="rect">
            <a:avLst/>
          </a:prstGeom>
          <a:noFill/>
          <a:ln/>
        </p:spPr>
        <p:txBody>
          <a:bodyPr wrap="square" lIns="0" tIns="0" rIns="0" bIns="0" rtlCol="0" anchor="t"/>
          <a:lstStyle/>
          <a:p>
            <a:pPr algn="ctr" indent="0" marL="0">
              <a:buNone/>
            </a:pPr>
            <a:r>
              <a:rPr lang="en-US" sz="1300" b="1" dirty="0">
                <a:solidFill>
                  <a:srgbClr val="0B3D91"/>
                </a:solidFill>
                <a:latin typeface="Cambria" pitchFamily="34" charset="0"/>
                <a:ea typeface="Cambria" pitchFamily="34" charset="-122"/>
                <a:cs typeface="Cambria" pitchFamily="34" charset="-120"/>
              </a:rPr>
              <a:t>Exploratory Data Analysis</a:t>
            </a:r>
            <a:endParaRPr lang="en-US" sz="1300" dirty="0"/>
          </a:p>
        </p:txBody>
      </p:sp>
      <p:sp>
        <p:nvSpPr>
          <p:cNvPr id="28" name="Shape 20"/>
          <p:cNvSpPr/>
          <p:nvPr/>
        </p:nvSpPr>
        <p:spPr>
          <a:xfrm>
            <a:off x="6187288" y="3959352"/>
            <a:ext cx="2606040" cy="2011680"/>
          </a:xfrm>
          <a:prstGeom prst="roundRect">
            <a:avLst>
              <a:gd name="adj" fmla="val 3636"/>
            </a:avLst>
          </a:prstGeom>
          <a:solidFill>
            <a:srgbClr val="F4F8FE"/>
          </a:solidFill>
          <a:ln/>
          <a:effectLst>
            <a:outerShdw sx="100000" sy="100000" kx="0" ky="0" algn="bl" rotWithShape="0" blurRad="88900" dist="25400" dir="5400000">
              <a:srgbClr val="1B2A4A">
                <a:alpha val="10000"/>
              </a:srgbClr>
            </a:outerShdw>
          </a:effectLst>
        </p:spPr>
      </p:sp>
      <p:sp>
        <p:nvSpPr>
          <p:cNvPr id="29" name="Shape 21"/>
          <p:cNvSpPr/>
          <p:nvPr/>
        </p:nvSpPr>
        <p:spPr>
          <a:xfrm>
            <a:off x="7124548" y="4279392"/>
            <a:ext cx="731520" cy="731520"/>
          </a:xfrm>
          <a:prstGeom prst="ellipse">
            <a:avLst/>
          </a:prstGeom>
          <a:solidFill>
            <a:srgbClr val="1859C4"/>
          </a:solidFill>
          <a:ln/>
        </p:spPr>
      </p:sp>
      <p:pic>
        <p:nvPicPr>
          <p:cNvPr id="30" name="Image 6" descr="icons/handshake_w.png">    </p:cNvPr>
          <p:cNvPicPr>
            <a:picLocks noChangeAspect="1"/>
          </p:cNvPicPr>
          <p:nvPr/>
        </p:nvPicPr>
        <p:blipFill>
          <a:blip r:embed="rId7"/>
          <a:stretch>
            <a:fillRect/>
          </a:stretch>
        </p:blipFill>
        <p:spPr>
          <a:xfrm>
            <a:off x="7300112" y="4454957"/>
            <a:ext cx="380390" cy="380390"/>
          </a:xfrm>
          <a:prstGeom prst="rect">
            <a:avLst/>
          </a:prstGeom>
        </p:spPr>
      </p:pic>
      <p:sp>
        <p:nvSpPr>
          <p:cNvPr id="31" name="Text 22"/>
          <p:cNvSpPr/>
          <p:nvPr/>
        </p:nvSpPr>
        <p:spPr>
          <a:xfrm>
            <a:off x="6278728" y="5193792"/>
            <a:ext cx="2423160" cy="640080"/>
          </a:xfrm>
          <a:prstGeom prst="rect">
            <a:avLst/>
          </a:prstGeom>
          <a:noFill/>
          <a:ln/>
        </p:spPr>
        <p:txBody>
          <a:bodyPr wrap="square" lIns="0" tIns="0" rIns="0" bIns="0" rtlCol="0" anchor="t"/>
          <a:lstStyle/>
          <a:p>
            <a:pPr algn="ctr" indent="0" marL="0">
              <a:buNone/>
            </a:pPr>
            <a:r>
              <a:rPr lang="en-US" sz="1300" b="1" dirty="0">
                <a:solidFill>
                  <a:srgbClr val="0B3D91"/>
                </a:solidFill>
                <a:latin typeface="Cambria" pitchFamily="34" charset="0"/>
                <a:ea typeface="Cambria" pitchFamily="34" charset="-122"/>
                <a:cs typeface="Cambria" pitchFamily="34" charset="-120"/>
              </a:rPr>
              <a:t>Business Analytics</a:t>
            </a:r>
            <a:endParaRPr lang="en-US" sz="1300" dirty="0"/>
          </a:p>
        </p:txBody>
      </p:sp>
      <p:sp>
        <p:nvSpPr>
          <p:cNvPr id="32" name="Shape 23"/>
          <p:cNvSpPr/>
          <p:nvPr/>
        </p:nvSpPr>
        <p:spPr>
          <a:xfrm>
            <a:off x="8976208" y="3959352"/>
            <a:ext cx="2606040" cy="2011680"/>
          </a:xfrm>
          <a:prstGeom prst="roundRect">
            <a:avLst>
              <a:gd name="adj" fmla="val 3636"/>
            </a:avLst>
          </a:prstGeom>
          <a:solidFill>
            <a:srgbClr val="F4F8FE"/>
          </a:solidFill>
          <a:ln/>
          <a:effectLst>
            <a:outerShdw sx="100000" sy="100000" kx="0" ky="0" algn="bl" rotWithShape="0" blurRad="88900" dist="25400" dir="5400000">
              <a:srgbClr val="1B2A4A">
                <a:alpha val="10000"/>
              </a:srgbClr>
            </a:outerShdw>
          </a:effectLst>
        </p:spPr>
      </p:sp>
      <p:sp>
        <p:nvSpPr>
          <p:cNvPr id="33" name="Shape 24"/>
          <p:cNvSpPr/>
          <p:nvPr/>
        </p:nvSpPr>
        <p:spPr>
          <a:xfrm>
            <a:off x="9913468" y="4279392"/>
            <a:ext cx="731520" cy="731520"/>
          </a:xfrm>
          <a:prstGeom prst="ellipse">
            <a:avLst/>
          </a:prstGeom>
          <a:solidFill>
            <a:srgbClr val="1859C4"/>
          </a:solidFill>
          <a:ln/>
        </p:spPr>
      </p:sp>
      <p:pic>
        <p:nvPicPr>
          <p:cNvPr id="34" name="Image 7" descr="icons/puzzle_w.png">    </p:cNvPr>
          <p:cNvPicPr>
            <a:picLocks noChangeAspect="1"/>
          </p:cNvPicPr>
          <p:nvPr/>
        </p:nvPicPr>
        <p:blipFill>
          <a:blip r:embed="rId8"/>
          <a:stretch>
            <a:fillRect/>
          </a:stretch>
        </p:blipFill>
        <p:spPr>
          <a:xfrm>
            <a:off x="10089032" y="4454957"/>
            <a:ext cx="380390" cy="380390"/>
          </a:xfrm>
          <a:prstGeom prst="rect">
            <a:avLst/>
          </a:prstGeom>
        </p:spPr>
      </p:pic>
      <p:sp>
        <p:nvSpPr>
          <p:cNvPr id="35" name="Text 25"/>
          <p:cNvSpPr/>
          <p:nvPr/>
        </p:nvSpPr>
        <p:spPr>
          <a:xfrm>
            <a:off x="9067648" y="5193792"/>
            <a:ext cx="2423160" cy="640080"/>
          </a:xfrm>
          <a:prstGeom prst="rect">
            <a:avLst/>
          </a:prstGeom>
          <a:noFill/>
          <a:ln/>
        </p:spPr>
        <p:txBody>
          <a:bodyPr wrap="square" lIns="0" tIns="0" rIns="0" bIns="0" rtlCol="0" anchor="t"/>
          <a:lstStyle/>
          <a:p>
            <a:pPr algn="ctr" indent="0" marL="0">
              <a:buNone/>
            </a:pPr>
            <a:r>
              <a:rPr lang="en-US" sz="1300" b="1" dirty="0">
                <a:solidFill>
                  <a:srgbClr val="0B3D91"/>
                </a:solidFill>
                <a:latin typeface="Cambria" pitchFamily="34" charset="0"/>
                <a:ea typeface="Cambria" pitchFamily="34" charset="-122"/>
                <a:cs typeface="Cambria" pitchFamily="34" charset="-120"/>
              </a:rPr>
              <a:t>Problem Solving</a:t>
            </a:r>
            <a:endParaRPr lang="en-US" sz="1300" dirty="0"/>
          </a:p>
        </p:txBody>
      </p:sp>
      <p:sp>
        <p:nvSpPr>
          <p:cNvPr id="36" name="Text 26"/>
          <p:cNvSpPr/>
          <p:nvPr/>
        </p:nvSpPr>
        <p:spPr>
          <a:xfrm>
            <a:off x="457200" y="6510528"/>
            <a:ext cx="5486400" cy="274320"/>
          </a:xfrm>
          <a:prstGeom prst="rect">
            <a:avLst/>
          </a:prstGeom>
          <a:noFill/>
          <a:ln/>
        </p:spPr>
        <p:txBody>
          <a:bodyPr wrap="square" lIns="0" tIns="0" rIns="0" bIns="0" rtlCol="0" anchor="ctr"/>
          <a:lstStyle/>
          <a:p>
            <a:pPr algn="l" indent="0" marL="0">
              <a:buNone/>
            </a:pPr>
            <a:r>
              <a:rPr lang="en-US" sz="900" dirty="0">
                <a:solidFill>
                  <a:srgbClr val="6B7A99"/>
                </a:solidFill>
                <a:latin typeface="Calibri" pitchFamily="34" charset="0"/>
                <a:ea typeface="Calibri" pitchFamily="34" charset="-122"/>
                <a:cs typeface="Calibri" pitchFamily="34" charset="-120"/>
              </a:rPr>
              <a:t>PhonePe Pulse Data Analysis</a:t>
            </a:r>
            <a:endParaRPr lang="en-US" sz="900" dirty="0"/>
          </a:p>
        </p:txBody>
      </p:sp>
      <p:sp>
        <p:nvSpPr>
          <p:cNvPr id="37" name="Text 27"/>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3D91"/>
        </a:solidFill>
      </p:bgPr>
    </p:bg>
    <p:spTree>
      <p:nvGrpSpPr>
        <p:cNvPr id="1" name=""/>
        <p:cNvGrpSpPr/>
        <p:nvPr/>
      </p:nvGrpSpPr>
      <p:grpSpPr>
        <a:xfrm>
          <a:off x="0" y="0"/>
          <a:ext cx="0" cy="0"/>
          <a:chOff x="0" y="0"/>
          <a:chExt cx="0" cy="0"/>
        </a:xfrm>
      </p:grpSpPr>
      <p:sp>
        <p:nvSpPr>
          <p:cNvPr id="2" name="Shape 0"/>
          <p:cNvSpPr/>
          <p:nvPr/>
        </p:nvSpPr>
        <p:spPr>
          <a:xfrm>
            <a:off x="8961120" y="-2011680"/>
            <a:ext cx="5029200" cy="5029200"/>
          </a:xfrm>
          <a:prstGeom prst="ellipse">
            <a:avLst/>
          </a:prstGeom>
          <a:solidFill>
            <a:srgbClr val="1859C4">
              <a:alpha val="28000"/>
            </a:srgbClr>
          </a:solidFill>
          <a:ln/>
        </p:spPr>
      </p:sp>
      <p:sp>
        <p:nvSpPr>
          <p:cNvPr id="3" name="Shape 1"/>
          <p:cNvSpPr/>
          <p:nvPr/>
        </p:nvSpPr>
        <p:spPr>
          <a:xfrm>
            <a:off x="-1828800" y="3840480"/>
            <a:ext cx="4572000" cy="4572000"/>
          </a:xfrm>
          <a:prstGeom prst="ellipse">
            <a:avLst/>
          </a:prstGeom>
          <a:solidFill>
            <a:srgbClr val="00B4D8">
              <a:alpha val="16000"/>
            </a:srgbClr>
          </a:solidFill>
          <a:ln/>
        </p:spPr>
      </p:sp>
      <p:sp>
        <p:nvSpPr>
          <p:cNvPr id="4" name="Shape 2"/>
          <p:cNvSpPr/>
          <p:nvPr/>
        </p:nvSpPr>
        <p:spPr>
          <a:xfrm>
            <a:off x="5592928" y="1371600"/>
            <a:ext cx="1005840" cy="1005840"/>
          </a:xfrm>
          <a:prstGeom prst="ellipse">
            <a:avLst/>
          </a:prstGeom>
          <a:solidFill>
            <a:srgbClr val="1859C4"/>
          </a:solidFill>
          <a:ln/>
        </p:spPr>
      </p:sp>
      <p:pic>
        <p:nvPicPr>
          <p:cNvPr id="5" name="Image 0" descr="icons/handshake_w.png">    </p:cNvPr>
          <p:cNvPicPr>
            <a:picLocks noChangeAspect="1"/>
          </p:cNvPicPr>
          <p:nvPr/>
        </p:nvPicPr>
        <p:blipFill>
          <a:blip r:embed="rId1"/>
          <a:stretch>
            <a:fillRect/>
          </a:stretch>
        </p:blipFill>
        <p:spPr>
          <a:xfrm>
            <a:off x="5834329" y="1613002"/>
            <a:ext cx="523037" cy="523037"/>
          </a:xfrm>
          <a:prstGeom prst="rect">
            <a:avLst/>
          </a:prstGeom>
        </p:spPr>
      </p:pic>
      <p:sp>
        <p:nvSpPr>
          <p:cNvPr id="6" name="Text 3"/>
          <p:cNvSpPr/>
          <p:nvPr/>
        </p:nvSpPr>
        <p:spPr>
          <a:xfrm>
            <a:off x="0" y="2651760"/>
            <a:ext cx="12191695"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7" name="Text 4"/>
          <p:cNvSpPr/>
          <p:nvPr/>
        </p:nvSpPr>
        <p:spPr>
          <a:xfrm>
            <a:off x="1645920" y="3611880"/>
            <a:ext cx="8869680" cy="731520"/>
          </a:xfrm>
          <a:prstGeom prst="rect">
            <a:avLst/>
          </a:prstGeom>
          <a:noFill/>
          <a:ln/>
        </p:spPr>
        <p:txBody>
          <a:bodyPr wrap="square" lIns="0" tIns="0" rIns="0" bIns="0" rtlCol="0" anchor="ctr"/>
          <a:lstStyle/>
          <a:p>
            <a:pPr algn="ctr" indent="0" marL="0">
              <a:buNone/>
            </a:pPr>
            <a:r>
              <a:rPr lang="en-US" sz="1350" i="1" dirty="0">
                <a:solidFill>
                  <a:srgbClr val="CBDCF5"/>
                </a:solidFill>
                <a:latin typeface="Calibri" pitchFamily="34" charset="0"/>
                <a:ea typeface="Calibri" pitchFamily="34" charset="-122"/>
                <a:cs typeface="Calibri" pitchFamily="34" charset="-120"/>
              </a:rPr>
              <a:t>This project demonstrates practical applications of Python in data analytics, including data preprocessing, exploratory data analysis, and business insight generation using the PhonePe Pulse dataset.</a:t>
            </a:r>
            <a:endParaRPr lang="en-US" sz="1350" dirty="0"/>
          </a:p>
        </p:txBody>
      </p:sp>
      <p:sp>
        <p:nvSpPr>
          <p:cNvPr id="8" name="Text 5"/>
          <p:cNvSpPr/>
          <p:nvPr/>
        </p:nvSpPr>
        <p:spPr>
          <a:xfrm>
            <a:off x="0" y="4709160"/>
            <a:ext cx="12191695" cy="365760"/>
          </a:xfrm>
          <a:prstGeom prst="rect">
            <a:avLst/>
          </a:prstGeom>
          <a:noFill/>
          <a:ln/>
        </p:spPr>
        <p:txBody>
          <a:bodyPr wrap="square" lIns="0" tIns="0" rIns="0" bIns="0" rtlCol="0" anchor="ctr"/>
          <a:lstStyle/>
          <a:p>
            <a:pPr algn="ctr" indent="0" marL="0">
              <a:buNone/>
            </a:pPr>
            <a:r>
              <a:rPr lang="en-US" sz="1400" dirty="0">
                <a:solidFill>
                  <a:srgbClr val="8FA3C7"/>
                </a:solidFill>
                <a:latin typeface="Calibri" pitchFamily="34" charset="0"/>
                <a:ea typeface="Calibri" pitchFamily="34" charset="-122"/>
                <a:cs typeface="Calibri" pitchFamily="34" charset="-120"/>
              </a:rPr>
              <a:t>Developed By  </a:t>
            </a:r>
            <a:pPr algn="ctr" indent="0" marL="0">
              <a:buNone/>
            </a:pPr>
            <a:r>
              <a:rPr lang="en-US" sz="1600" b="1" dirty="0">
                <a:solidFill>
                  <a:srgbClr val="FFFFFF"/>
                </a:solidFill>
                <a:latin typeface="Calibri" pitchFamily="34" charset="0"/>
                <a:ea typeface="Calibri" pitchFamily="34" charset="-122"/>
                <a:cs typeface="Calibri" pitchFamily="34" charset="-120"/>
              </a:rPr>
              <a:t>Suraj Sahu</a:t>
            </a:r>
            <a:endParaRPr lang="en-US" sz="1400" dirty="0"/>
          </a:p>
        </p:txBody>
      </p:sp>
      <p:sp>
        <p:nvSpPr>
          <p:cNvPr id="9" name="Text 6"/>
          <p:cNvSpPr/>
          <p:nvPr/>
        </p:nvSpPr>
        <p:spPr>
          <a:xfrm>
            <a:off x="0" y="5120640"/>
            <a:ext cx="12191695" cy="320040"/>
          </a:xfrm>
          <a:prstGeom prst="rect">
            <a:avLst/>
          </a:prstGeom>
          <a:noFill/>
          <a:ln/>
        </p:spPr>
        <p:txBody>
          <a:bodyPr wrap="square" lIns="0" tIns="0" rIns="0" bIns="0" rtlCol="0" anchor="ctr"/>
          <a:lstStyle/>
          <a:p>
            <a:pPr algn="ctr" indent="0" marL="0">
              <a:buNone/>
            </a:pPr>
            <a:r>
              <a:rPr lang="en-US" sz="1100" dirty="0">
                <a:solidFill>
                  <a:srgbClr val="6E85B0"/>
                </a:solidFill>
                <a:latin typeface="Calibri" pitchFamily="34" charset="0"/>
                <a:ea typeface="Calibri" pitchFamily="34" charset="-122"/>
                <a:cs typeface="Calibri" pitchFamily="34" charset="-120"/>
              </a:rPr>
              <a:t>Python Data Analytics Project  •  PhonePe Pulse Data Analysis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PhonePe Pulse Data Analysis</dc:title>
  <dc:subject>PptxGenJS Presentation</dc:subject>
  <dc:creator>Suraj Sahu</dc:creator>
  <cp:lastModifiedBy>Suraj Sahu</cp:lastModifiedBy>
  <cp:revision>1</cp:revision>
  <dcterms:created xsi:type="dcterms:W3CDTF">2026-07-06T06:52:33Z</dcterms:created>
  <dcterms:modified xsi:type="dcterms:W3CDTF">2026-07-06T06:52:33Z</dcterms:modified>
</cp:coreProperties>
</file>